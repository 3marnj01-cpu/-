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embeddedFontLst>
    <p:embeddedFont>
      <p:font typeface="Merriweather" panose="020B0604020202020204" charset="0"/>
      <p:regular r:id="rId19"/>
      <p:bold r:id="rId20"/>
      <p:italic r:id="rId21"/>
      <p:boldItalic r:id="rId22"/>
    </p:embeddedFont>
    <p:embeddedFont>
      <p:font typeface="DM Sans" panose="020B060402020202020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</p:embeddedFont>
    <p:embeddedFont>
      <p:font typeface="Arabic Typesetting" panose="03020402040406030203" pitchFamily="66" charset="-78"/>
      <p:regular r:id="rId29"/>
    </p:embeddedFont>
    <p:embeddedFont>
      <p:font typeface="Cairo" panose="020B0604020202020204" charset="-78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emf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7374" y="5600402"/>
            <a:ext cx="2359026" cy="106455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571500"/>
            <a:ext cx="8382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Syrian Private University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" y="1285875"/>
            <a:ext cx="8382000" cy="19050"/>
          </a:xfrm>
          <a:prstGeom prst="rect">
            <a:avLst/>
          </a:prstGeom>
          <a:solidFill>
            <a:srgbClr val="A01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727120" y="1400175"/>
            <a:ext cx="422637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Cairo"/>
                <a:ea typeface="Cairo"/>
                <a:cs typeface="Cairo"/>
                <a:sym typeface="Cairo"/>
              </a:rPr>
              <a:t>faculty of Information Engineering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333333"/>
                </a:solidFill>
                <a:latin typeface="Cairo"/>
                <a:ea typeface="Cairo"/>
                <a:cs typeface="Cairo"/>
                <a:sym typeface="Cairo"/>
              </a:rPr>
              <a:t> Telecommunication Engineering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77375" y="5715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816700" y="3390943"/>
            <a:ext cx="921747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Smart Satellite Transponder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0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 جهاز إعادة البث الفضائي الذكي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2316480" y="4720538"/>
            <a:ext cx="224036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Prepared by: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MHD.Nour</a:t>
            </a:r>
            <a:r>
              <a:rPr lang="en-US" sz="16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Njeeb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LaithAbdAlrazek</a:t>
            </a:r>
            <a:endParaRPr sz="180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6840309" y="4817570"/>
            <a:ext cx="249673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Supervisors: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Dr.Nawaf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Altawel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Dr.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Rawad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Melhem</a:t>
            </a:r>
            <a:endParaRPr sz="2000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155555" y="5924932"/>
            <a:ext cx="122682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Date: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 b="0" i="0" u="none" strike="noStrike" cap="none" dirty="0" smtClean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16/11/202</a:t>
            </a:r>
            <a:r>
              <a:rPr lang="ar-SA" sz="1350" b="0" i="0" u="none" strike="noStrike" cap="none" dirty="0" smtClean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487260" y="2264754"/>
            <a:ext cx="75568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tx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First presentation of the semester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2190750" y="2189112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Project objective 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2190750" y="2745283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Problem statement &amp; importance.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190750" y="3301454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Implementation steps.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2190750" y="3857625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Theoretical background.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2190750" y="4413795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Implementation Smart Transponder Architecture.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2190750" y="4969966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- References.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2367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79290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34907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9052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46142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09750" y="5017591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OUTLINE: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/>
      <p:bldP spid="101" grpId="0"/>
      <p:bldP spid="102" grpId="0"/>
      <p:bldP spid="103" grpId="0"/>
      <p:bldP spid="104" grpId="0"/>
      <p:bldP spid="1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3775710" y="2128837"/>
            <a:ext cx="464058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1- Project objective:</a:t>
            </a:r>
            <a:endParaRPr dirty="0"/>
          </a:p>
        </p:txBody>
      </p:sp>
      <p:sp>
        <p:nvSpPr>
          <p:cNvPr id="118" name="Google Shape;118;p15"/>
          <p:cNvSpPr/>
          <p:nvPr/>
        </p:nvSpPr>
        <p:spPr>
          <a:xfrm>
            <a:off x="5619750" y="3176587"/>
            <a:ext cx="952500" cy="47625"/>
          </a:xfrm>
          <a:prstGeom prst="rect">
            <a:avLst/>
          </a:prstGeom>
          <a:solidFill>
            <a:srgbClr val="A01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286000" y="3509962"/>
            <a:ext cx="7620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DM Sans"/>
                <a:ea typeface="DM Sans"/>
                <a:cs typeface="DM Sans"/>
                <a:sym typeface="DM Sans"/>
              </a:rPr>
              <a:t>Study and design of smart satellite transponder.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50206"/>
            <a:ext cx="5286375" cy="441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650206"/>
            <a:ext cx="5286375" cy="4414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62025" y="2040731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2.1_The Problem: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6724650" y="2040731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2.2_The Importance: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1152525" y="2564606"/>
            <a:ext cx="4314825" cy="2942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Traditional transponders have fixed functionality and cannot adapt to changes in data demand</a:t>
            </a:r>
            <a:r>
              <a:rPr lang="en-US" sz="1650" b="0" i="0" u="none" strike="noStrike" cap="none" dirty="0" smtClean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Inefficient use of bandwidth and transmission power</a:t>
            </a:r>
            <a:r>
              <a:rPr lang="en-GB" dirty="0" smtClean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Lack of flexibility in dealing with interference or unexpected conditions.</a:t>
            </a:r>
            <a:endParaRPr lang="en-GB" dirty="0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6915150" y="2564606"/>
            <a:ext cx="4314825" cy="334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5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Meeting the growing demand for high-speed communication services (e.g., in-flight internet, maritime communications, remote areas</a:t>
            </a:r>
            <a:r>
              <a:rPr lang="en-US" sz="1650" b="0" i="0" u="none" strike="noStrike" cap="none" dirty="0" smtClean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Maximizing the return on the high cost of satellite launch and operation</a:t>
            </a:r>
            <a:r>
              <a:rPr lang="en-GB" dirty="0" smtClean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More flexible and efficient satellite communication networks</a:t>
            </a:r>
            <a:r>
              <a:rPr lang="en-US" dirty="0" smtClean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GB" dirty="0"/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2_Problem statement &amp; importance: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/>
      <p:bldP spid="130" grpId="0"/>
      <p:bldP spid="136" grpId="0"/>
      <p:bldP spid="1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571500" y="3838575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21780" y="4095750"/>
            <a:ext cx="2088229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Study the fundamentals.</a:t>
            </a:r>
            <a:endParaRPr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2786795" y="2590800"/>
            <a:ext cx="2088229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Simulation of transponder model.</a:t>
            </a:r>
            <a:endParaRPr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5051810" y="4095750"/>
            <a:ext cx="2088229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Practical design for the model.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7316825" y="2886075"/>
            <a:ext cx="2088229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Development the model.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9581841" y="4095750"/>
            <a:ext cx="2088229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Testing &amp; development the model.</a:t>
            </a:r>
            <a:endParaRPr dirty="0"/>
          </a:p>
        </p:txBody>
      </p:sp>
      <p:sp>
        <p:nvSpPr>
          <p:cNvPr id="153" name="Google Shape;153;p17"/>
          <p:cNvSpPr/>
          <p:nvPr/>
        </p:nvSpPr>
        <p:spPr>
          <a:xfrm>
            <a:off x="1470645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38100" cap="flat" cmpd="sng">
            <a:solidFill>
              <a:srgbClr val="0D3B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735660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38100" cap="flat" cmpd="sng">
            <a:solidFill>
              <a:srgbClr val="0D3B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000675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38100" cap="flat" cmpd="sng">
            <a:solidFill>
              <a:srgbClr val="0D3B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8265690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38100" cap="flat" cmpd="sng">
            <a:solidFill>
              <a:srgbClr val="0D3B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10530706" y="37623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DFDFD"/>
          </a:solidFill>
          <a:ln w="38100" cap="flat" cmpd="sng">
            <a:solidFill>
              <a:srgbClr val="0D3B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3_Implementation steps :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  <p:bldP spid="148" grpId="0"/>
      <p:bldP spid="149" grpId="0"/>
      <p:bldP spid="150" grpId="0"/>
      <p:bldP spid="151" grpId="0"/>
      <p:bldP spid="152" grpId="0"/>
      <p:bldP spid="1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2190750" y="2745283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Communication segments: Space &amp; Ground.</a:t>
            </a:r>
            <a:endParaRPr dirty="0"/>
          </a:p>
        </p:txBody>
      </p:sp>
      <p:sp>
        <p:nvSpPr>
          <p:cNvPr id="165" name="Google Shape;165;p18"/>
          <p:cNvSpPr txBox="1"/>
          <p:nvPr/>
        </p:nvSpPr>
        <p:spPr>
          <a:xfrm>
            <a:off x="2190750" y="3301454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Satellite orbits: GEO, MEO, LEO, HEO.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2190750" y="3857625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Transponder types: Bent Pipe vs Smart (On-board Processing).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2190750" y="4413795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Polarization Diversity.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79290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34907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9052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46142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4_Theoretical Fundamentals :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165" grpId="0"/>
      <p:bldP spid="166" grpId="0"/>
      <p:bldP spid="167" grpId="0"/>
      <p:bldP spid="1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571500" y="571500"/>
            <a:ext cx="52768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4.1.1_Ground Segment</a:t>
            </a:r>
            <a:endParaRPr/>
          </a:p>
        </p:txBody>
      </p:sp>
      <p:sp>
        <p:nvSpPr>
          <p:cNvPr id="8" name="Google Shape;209;p20"/>
          <p:cNvSpPr txBox="1"/>
          <p:nvPr/>
        </p:nvSpPr>
        <p:spPr>
          <a:xfrm>
            <a:off x="5857875" y="571500"/>
            <a:ext cx="545374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4.1.2_Payload Components</a:t>
            </a:r>
            <a:endParaRPr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34666" t="54296" r="34667" b="2741"/>
          <a:stretch/>
        </p:blipFill>
        <p:spPr>
          <a:xfrm>
            <a:off x="1086333" y="1619250"/>
            <a:ext cx="3936942" cy="282472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790" y="1521914"/>
            <a:ext cx="3970281" cy="15088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4099" y="3049288"/>
            <a:ext cx="3965662" cy="1376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80565" y="4443973"/>
            <a:ext cx="1560946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Form</a:t>
            </a:r>
            <a:r>
              <a:rPr lang="ar-SA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b_4.1.2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8458" y="4443973"/>
            <a:ext cx="1560946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Form a_4.1.1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272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71500" y="571500"/>
            <a:ext cx="609346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4.1.3_Satellite Link Parameters</a:t>
            </a:r>
            <a:endParaRPr dirty="0"/>
          </a:p>
        </p:txBody>
      </p:sp>
      <p:pic>
        <p:nvPicPr>
          <p:cNvPr id="15" name="Content Placeholder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05" t="44161" r="31302" b="26577"/>
          <a:stretch/>
        </p:blipFill>
        <p:spPr>
          <a:xfrm>
            <a:off x="1178865" y="1474527"/>
            <a:ext cx="4713935" cy="43254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41782" y="5799939"/>
            <a:ext cx="1560946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Form</a:t>
            </a:r>
            <a:r>
              <a:rPr lang="ar-SA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c_4.1.3</a:t>
            </a:r>
          </a:p>
        </p:txBody>
      </p:sp>
      <p:pic>
        <p:nvPicPr>
          <p:cNvPr id="17" name="Content Placeholder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665" y="1474527"/>
            <a:ext cx="4694883" cy="4325412"/>
          </a:xfrm>
          <a:prstGeom prst="rect">
            <a:avLst/>
          </a:prstGeom>
        </p:spPr>
      </p:pic>
      <p:sp>
        <p:nvSpPr>
          <p:cNvPr id="18" name="Text Placeholder 4"/>
          <p:cNvSpPr txBox="1">
            <a:spLocks/>
          </p:cNvSpPr>
          <p:nvPr/>
        </p:nvSpPr>
        <p:spPr>
          <a:xfrm>
            <a:off x="7236460" y="571500"/>
            <a:ext cx="4640579" cy="63976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200" b="1" dirty="0" smtClean="0">
                <a:solidFill>
                  <a:srgbClr val="002060"/>
                </a:solidFill>
                <a:latin typeface="Merriweather" panose="020B0604020202020204" charset="0"/>
                <a:ea typeface="Merriweather" panose="020B0604020202020204" charset="0"/>
                <a:cs typeface="Merriweather" panose="020B0604020202020204" charset="0"/>
              </a:rPr>
              <a:t>4.1.4Frequency Band</a:t>
            </a:r>
            <a:endParaRPr lang="en-GB" sz="3200" b="1" dirty="0">
              <a:solidFill>
                <a:srgbClr val="002060"/>
              </a:solidFill>
              <a:latin typeface="Merriweather" panose="020B0604020202020204" charset="0"/>
              <a:ea typeface="Merriweather" panose="020B0604020202020204" charset="0"/>
              <a:cs typeface="Merriweather" panose="020B06040202020202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38633" y="5799939"/>
            <a:ext cx="1560946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Form</a:t>
            </a:r>
            <a:r>
              <a:rPr lang="ar-SA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d_4.1.4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4.2_Satellite Orbits :</a:t>
            </a:r>
            <a:endParaRPr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5" t="31980" r="28096" b="6602"/>
          <a:stretch/>
        </p:blipFill>
        <p:spPr>
          <a:xfrm>
            <a:off x="2583757" y="1619250"/>
            <a:ext cx="5880941" cy="4171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3983702" y="5889236"/>
            <a:ext cx="2537460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Form</a:t>
            </a:r>
            <a:r>
              <a:rPr lang="ar-SA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a_4.2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4.3_On-board Processing :</a:t>
            </a:r>
            <a:endParaRPr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30584" t="47185" r="31000" b="32815"/>
          <a:stretch/>
        </p:blipFill>
        <p:spPr>
          <a:xfrm>
            <a:off x="2103441" y="1619250"/>
            <a:ext cx="7750071" cy="35318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66549" y="5397500"/>
            <a:ext cx="1611352" cy="461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Form</a:t>
            </a:r>
            <a:r>
              <a:rPr lang="ar-SA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a_4.3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499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4.4_Polarization Diversity :</a:t>
            </a:r>
            <a:endParaRPr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57202" y="1276162"/>
            <a:ext cx="9550398" cy="120287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DM Sans" panose="020B0604020202020204" charset="0"/>
                <a:cs typeface="Arabic Typesetting" panose="03020402040406030203" pitchFamily="66" charset="-78"/>
              </a:rPr>
              <a:t> Uses RHC and LHC polarizations to double channel capacity.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DM Sans" panose="020B0604020202020204" charset="0"/>
                <a:cs typeface="Arabic Typesetting" panose="03020402040406030203" pitchFamily="66" charset="-78"/>
              </a:rPr>
              <a:t> Shared antenna with dual polarization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smtClean="0">
                <a:latin typeface="DM Sans" panose="020B0604020202020204" charset="0"/>
                <a:cs typeface="Arabic Typesetting" panose="03020402040406030203" pitchFamily="66" charset="-78"/>
              </a:rPr>
              <a:t> Separate transmit/receive paths maintain isolation. </a:t>
            </a:r>
            <a:endParaRPr lang="en-GB" sz="2000" dirty="0">
              <a:latin typeface="DM Sans" panose="020B0604020202020204" charset="0"/>
              <a:cs typeface="Arabic Typesetting" panose="03020402040406030203" pitchFamily="66" charset="-78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691" y="2610527"/>
            <a:ext cx="5562835" cy="27000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903" y="2610527"/>
            <a:ext cx="5786577" cy="265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96790" y="5233623"/>
            <a:ext cx="1560946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Form</a:t>
            </a:r>
            <a:r>
              <a:rPr lang="ar-SA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b_4.4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2864" y="5233624"/>
            <a:ext cx="1560946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Form</a:t>
            </a:r>
            <a:r>
              <a:rPr lang="ar-SA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a_4.4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295275" y="220890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A01D2E"/>
                </a:solidFill>
                <a:latin typeface="Merriweather"/>
                <a:ea typeface="Merriweather"/>
                <a:cs typeface="Merriweather"/>
                <a:sym typeface="Merriweather"/>
              </a:rPr>
              <a:t>5_Implementation Smart Transponder Architecture :</a:t>
            </a:r>
            <a:endParaRPr dirty="0"/>
          </a:p>
        </p:txBody>
      </p:sp>
      <p:sp>
        <p:nvSpPr>
          <p:cNvPr id="281" name="Google Shape;281;p25"/>
          <p:cNvSpPr/>
          <p:nvPr/>
        </p:nvSpPr>
        <p:spPr>
          <a:xfrm>
            <a:off x="5619750" y="3828157"/>
            <a:ext cx="952500" cy="47625"/>
          </a:xfrm>
          <a:prstGeom prst="rect">
            <a:avLst/>
          </a:prstGeom>
          <a:solidFill>
            <a:srgbClr val="A01D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3562350" y="4161532"/>
            <a:ext cx="50673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D3B66"/>
                </a:solidFill>
                <a:latin typeface="DM Sans"/>
                <a:ea typeface="DM Sans"/>
                <a:cs typeface="DM Sans"/>
                <a:sym typeface="DM Sans"/>
              </a:rPr>
              <a:t>Main Components &amp; Architecture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 build="p"/>
      <p:bldP spid="28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272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/>
          <p:nvPr/>
        </p:nvSpPr>
        <p:spPr>
          <a:xfrm>
            <a:off x="571500" y="2390923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 dirty="0" smtClean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5.1_</a:t>
            </a:r>
            <a:r>
              <a:rPr lang="en-US" sz="1800" b="1" i="0" u="none" strike="noStrike" cap="none" dirty="0" smtClean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Main </a:t>
            </a:r>
            <a:r>
              <a:rPr lang="en-US" sz="1800" b="1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Components:</a:t>
            </a:r>
            <a:endParaRPr dirty="0"/>
          </a:p>
        </p:txBody>
      </p:sp>
      <p:sp>
        <p:nvSpPr>
          <p:cNvPr id="289" name="Google Shape;289;p26"/>
          <p:cNvSpPr txBox="1"/>
          <p:nvPr/>
        </p:nvSpPr>
        <p:spPr>
          <a:xfrm>
            <a:off x="952500" y="3042344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Duplexer</a:t>
            </a:r>
            <a:endParaRPr dirty="0"/>
          </a:p>
        </p:txBody>
      </p:sp>
      <p:sp>
        <p:nvSpPr>
          <p:cNvPr id="290" name="Google Shape;290;p26"/>
          <p:cNvSpPr txBox="1"/>
          <p:nvPr/>
        </p:nvSpPr>
        <p:spPr>
          <a:xfrm>
            <a:off x="6667500" y="3042344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Band pass Filter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952500" y="3693765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LNA</a:t>
            </a:r>
            <a:endParaRPr dirty="0"/>
          </a:p>
        </p:txBody>
      </p:sp>
      <p:sp>
        <p:nvSpPr>
          <p:cNvPr id="292" name="Google Shape;292;p26"/>
          <p:cNvSpPr txBox="1"/>
          <p:nvPr/>
        </p:nvSpPr>
        <p:spPr>
          <a:xfrm>
            <a:off x="6667500" y="3693765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Mixer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952500" y="4345185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IF Amplifier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6667500" y="4345185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IMUX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952500" y="4996606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HPA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6667500" y="4996606"/>
            <a:ext cx="4953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OMUX</a:t>
            </a:r>
            <a:endParaRPr/>
          </a:p>
        </p:txBody>
      </p:sp>
      <p:pic>
        <p:nvPicPr>
          <p:cNvPr id="297" name="Google Shape;29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8996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08996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4139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74139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39281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86500" y="439281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504423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86500" y="504423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5_Implementation Smart Transponder Architecture :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5" grpId="0"/>
      <p:bldP spid="296" grpId="0"/>
      <p:bldP spid="3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smtClean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5.2_Transponder </a:t>
            </a:r>
            <a:r>
              <a:rPr lang="en-US" sz="3000" b="1" i="0" u="none" strike="noStrike" cap="none" dirty="0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:</a:t>
            </a:r>
            <a:endParaRPr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11154" t="38091" r="38205" b="1282"/>
          <a:stretch/>
        </p:blipFill>
        <p:spPr>
          <a:xfrm>
            <a:off x="2704731" y="1403788"/>
            <a:ext cx="6926949" cy="46647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5070763" y="6232651"/>
            <a:ext cx="1534160" cy="461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Form</a:t>
            </a:r>
            <a:r>
              <a:rPr lang="ar-SA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</a:t>
            </a:r>
            <a:r>
              <a:rPr lang="en-GB" sz="2397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1-3.2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8"/>
          <p:cNvSpPr txBox="1"/>
          <p:nvPr/>
        </p:nvSpPr>
        <p:spPr>
          <a:xfrm>
            <a:off x="2190750" y="2101453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1-Satellite Communications Systems Engineering Louis J.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Ippolito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, Jr.</a:t>
            </a:r>
            <a:endParaRPr dirty="0"/>
          </a:p>
        </p:txBody>
      </p:sp>
      <p:sp>
        <p:nvSpPr>
          <p:cNvPr id="327" name="Google Shape;327;p28"/>
          <p:cNvSpPr txBox="1"/>
          <p:nvPr/>
        </p:nvSpPr>
        <p:spPr>
          <a:xfrm>
            <a:off x="2190750" y="2657623"/>
            <a:ext cx="8191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2-E.ImboldiandD.Hershberg,‘CourierSatelliteCommunicationsSystem ,’AdvancesintheAstronauticalSciences, Vol. 8, 1961.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2190750" y="3579465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3-IEEETransactionsonAerospaceandElectronicsSystems.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2190750" y="4135635"/>
            <a:ext cx="8191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4-D.Roddy,SatelliteCommunications,ThirdEdition,McGraw-Hill,NewYork,2001.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2190750" y="4968031"/>
            <a:ext cx="8191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5-T. Pratt, C.W.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Bostian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and J.E.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Allnutt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, Satellite Communications, Second Edition, John Wiley &amp; Son, Inc., </a:t>
            </a:r>
            <a:r>
              <a:rPr lang="en-US" sz="1800" b="0" i="0" u="none" strike="noStrike" cap="none" dirty="0" err="1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NewYork</a:t>
            </a:r>
            <a:r>
              <a:rPr lang="en-US" sz="1800" b="0" i="0" u="none" strike="noStrike" cap="none" dirty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, 2003.</a:t>
            </a:r>
            <a:endParaRPr dirty="0"/>
          </a:p>
        </p:txBody>
      </p:sp>
      <p:pic>
        <p:nvPicPr>
          <p:cNvPr id="331" name="Google Shape;33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14907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7052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62709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18326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510510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6- References: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/>
          <p:nvPr/>
        </p:nvSpPr>
        <p:spPr>
          <a:xfrm>
            <a:off x="295275" y="246786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D3B66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394</Words>
  <Application>Microsoft Office PowerPoint</Application>
  <PresentationFormat>Widescreen</PresentationFormat>
  <Paragraphs>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Merriweather</vt:lpstr>
      <vt:lpstr>DM Sans</vt:lpstr>
      <vt:lpstr>Arial</vt:lpstr>
      <vt:lpstr>Calibri</vt:lpstr>
      <vt:lpstr>Arabic Typesetting</vt:lpstr>
      <vt:lpstr>Cairo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ahmad najeeb</cp:lastModifiedBy>
  <cp:revision>8</cp:revision>
  <dcterms:modified xsi:type="dcterms:W3CDTF">2025-11-14T22:14:48Z</dcterms:modified>
</cp:coreProperties>
</file>