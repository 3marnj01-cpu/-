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19.fntdata" ContentType="application/x-fontdata"/>
  <Override PartName="/ppt/fonts/font2.fntdata" ContentType="application/x-fontdata"/>
  <Override PartName="/ppt/fonts/font20.fntdata" ContentType="application/x-fontdata"/>
  <Override PartName="/ppt/fonts/font21.fntdata" ContentType="application/x-fontdata"/>
  <Override PartName="/ppt/fonts/font22.fntdata" ContentType="application/x-fontdata"/>
  <Override PartName="/ppt/fonts/font23.fntdata" ContentType="application/x-fontdata"/>
  <Override PartName="/ppt/fonts/font24.fntdata" ContentType="application/x-fontdata"/>
  <Override PartName="/ppt/fonts/font25.fntdata" ContentType="application/x-fontdata"/>
  <Override PartName="/ppt/fonts/font26.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5" r:id="rId11"/>
    <p:sldId id="266" r:id="rId12"/>
    <p:sldId id="273" r:id="rId13"/>
    <p:sldId id="274" r:id="rId14"/>
    <p:sldId id="275" r:id="rId15"/>
    <p:sldId id="268" r:id="rId16"/>
    <p:sldId id="269" r:id="rId17"/>
    <p:sldId id="270" r:id="rId18"/>
    <p:sldId id="276" r:id="rId19"/>
    <p:sldId id="277" r:id="rId20"/>
    <p:sldId id="278" r:id="rId21"/>
    <p:sldId id="279" r:id="rId22"/>
    <p:sldId id="280" r:id="rId23"/>
    <p:sldId id="281" r:id="rId24"/>
    <p:sldId id="271" r:id="rId25"/>
    <p:sldId id="272" r:id="rId26"/>
  </p:sldIdLst>
  <p:sldSz cx="12192000" cy="6858000"/>
  <p:notesSz cx="6858000" cy="9144000"/>
  <p:embeddedFontLst>
    <p:embeddedFont>
      <p:font typeface="Calibri" panose="020F0502020204030204"/>
      <p:regular r:id="rId30"/>
      <p:bold r:id="rId31"/>
      <p:italic r:id="rId32"/>
      <p:boldItalic r:id="rId33"/>
    </p:embeddedFont>
    <p:embeddedFont>
      <p:font typeface="Merriweather"/>
      <p:regular r:id="rId34"/>
      <p:bold r:id="rId35"/>
      <p:italic r:id="rId36"/>
      <p:boldItalic r:id="rId37"/>
    </p:embeddedFont>
    <p:embeddedFont>
      <p:font typeface="Cairo"/>
      <p:regular r:id="rId38"/>
      <p:bold r:id="rId39"/>
    </p:embeddedFont>
    <p:embeddedFont>
      <p:font typeface="DM Sans"/>
      <p:regular r:id="rId40"/>
      <p:bold r:id="rId41"/>
      <p:boldItalic r:id="rId42"/>
    </p:embeddedFont>
    <p:embeddedFont>
      <p:font typeface="Arabic Typesetting" panose="03020402040406030203" pitchFamily="66" charset="-78"/>
      <p:regular r:id="rId43"/>
    </p:embeddedFont>
    <p:embeddedFont>
      <p:font typeface="DM Sans" charset="0"/>
      <p:regular r:id="rId44"/>
      <p:bold r:id="rId45"/>
      <p:boldItalic r:id="rId46"/>
    </p:embeddedFont>
    <p:embeddedFont>
      <p:font typeface="Merriweather" charset="0"/>
      <p:regular r:id="rId47"/>
      <p:bold r:id="rId48"/>
      <p:italic r:id="rId49"/>
      <p:boldItalic r:id="rId50"/>
    </p:embeddedFont>
    <p:embeddedFont>
      <p:font typeface="Arial Unicode MS" panose="020B0604020202020204" charset="-122"/>
      <p:regular r:id="rId51"/>
    </p:embeddedFont>
    <p:embeddedFont>
      <p:font typeface="Calibri" panose="020F0502020204030204" pitchFamily="34"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Default Section" id="{B9F29221-162E-4F6C-B35A-F4220C1FC5AD}">
          <p14:sldIdLst>
            <p14:sldId id="256"/>
            <p14:sldId id="257"/>
            <p14:sldId id="258"/>
            <p14:sldId id="259"/>
            <p14:sldId id="260"/>
            <p14:sldId id="261"/>
            <p14:sldId id="262"/>
            <p14:sldId id="265"/>
            <p14:sldId id="266"/>
            <p14:sldId id="273"/>
            <p14:sldId id="274"/>
            <p14:sldId id="275"/>
            <p14:sldId id="268"/>
            <p14:sldId id="269"/>
            <p14:sldId id="270"/>
          </p14:sldIdLst>
        </p14:section>
        <p14:section name="Untitled Section" id="{58446458-B0BE-4B48-AEA2-E4C10FA5470E}">
          <p14:sldIdLst>
            <p14:sldId id="276"/>
            <p14:sldId id="277"/>
            <p14:sldId id="278"/>
            <p14:sldId id="279"/>
            <p14:sldId id="280"/>
            <p14:sldId id="281"/>
            <p14:sldId id="271"/>
            <p14:sldId id="272"/>
          </p14:sldIdLst>
        </p14:section>
      </p14:sectionLst>
    </p:ext>
    <p:ext uri="{EFAFB233-063F-42B5-8137-9DF3F51BA10A}">
      <p15:sldGuideLst xmlns:p15="http://schemas.microsoft.com/office/powerpoint/2012/main">
        <p15:guide id="1" orient="horz" pos="2109" userDrawn="1">
          <p15:clr>
            <a:srgbClr val="000000"/>
          </p15:clr>
        </p15:guide>
        <p15:guide id="2" pos="287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3B66"/>
    <a:srgbClr val="A01D2E"/>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3" d="100"/>
          <a:sy n="83" d="100"/>
        </p:scale>
        <p:origin x="658" y="67"/>
      </p:cViewPr>
      <p:guideLst>
        <p:guide orient="horz" pos="2109"/>
        <p:guide pos="28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font" Target="fonts/font26.fntdata"/><Relationship Id="rId54" Type="http://schemas.openxmlformats.org/officeDocument/2006/relationships/font" Target="fonts/font25.fntdata"/><Relationship Id="rId53" Type="http://schemas.openxmlformats.org/officeDocument/2006/relationships/font" Target="fonts/font24.fntdata"/><Relationship Id="rId52" Type="http://schemas.openxmlformats.org/officeDocument/2006/relationships/font" Target="fonts/font23.fntdata"/><Relationship Id="rId51" Type="http://schemas.openxmlformats.org/officeDocument/2006/relationships/font" Target="fonts/font22.fntdata"/><Relationship Id="rId50" Type="http://schemas.openxmlformats.org/officeDocument/2006/relationships/font" Target="fonts/font21.fntdata"/><Relationship Id="rId5" Type="http://schemas.openxmlformats.org/officeDocument/2006/relationships/slide" Target="slides/slide2.xml"/><Relationship Id="rId49" Type="http://schemas.openxmlformats.org/officeDocument/2006/relationships/font" Target="fonts/font20.fntdata"/><Relationship Id="rId48" Type="http://schemas.openxmlformats.org/officeDocument/2006/relationships/font" Target="fonts/font19.fntdata"/><Relationship Id="rId47" Type="http://schemas.openxmlformats.org/officeDocument/2006/relationships/font" Target="fonts/font18.fntdata"/><Relationship Id="rId46" Type="http://schemas.openxmlformats.org/officeDocument/2006/relationships/font" Target="fonts/font17.fntdata"/><Relationship Id="rId45" Type="http://schemas.openxmlformats.org/officeDocument/2006/relationships/font" Target="fonts/font16.fntdata"/><Relationship Id="rId44" Type="http://schemas.openxmlformats.org/officeDocument/2006/relationships/font" Target="fonts/font15.fntdata"/><Relationship Id="rId43" Type="http://schemas.openxmlformats.org/officeDocument/2006/relationships/font" Target="fonts/font14.fntdata"/><Relationship Id="rId42" Type="http://schemas.openxmlformats.org/officeDocument/2006/relationships/font" Target="fonts/font13.fntdata"/><Relationship Id="rId41" Type="http://schemas.openxmlformats.org/officeDocument/2006/relationships/font" Target="fonts/font12.fntdata"/><Relationship Id="rId40" Type="http://schemas.openxmlformats.org/officeDocument/2006/relationships/font" Target="fonts/font11.fntdata"/><Relationship Id="rId4" Type="http://schemas.openxmlformats.org/officeDocument/2006/relationships/notesMaster" Target="notesMasters/notesMaster1.xml"/><Relationship Id="rId39" Type="http://schemas.openxmlformats.org/officeDocument/2006/relationships/font" Target="fonts/font10.fntdata"/><Relationship Id="rId38" Type="http://schemas.openxmlformats.org/officeDocument/2006/relationships/font" Target="fonts/font9.fntdata"/><Relationship Id="rId37" Type="http://schemas.openxmlformats.org/officeDocument/2006/relationships/font" Target="fonts/font8.fntdata"/><Relationship Id="rId36" Type="http://schemas.openxmlformats.org/officeDocument/2006/relationships/font" Target="fonts/font7.fntdata"/><Relationship Id="rId35" Type="http://schemas.openxmlformats.org/officeDocument/2006/relationships/font" Target="fonts/font6.fntdata"/><Relationship Id="rId34" Type="http://schemas.openxmlformats.org/officeDocument/2006/relationships/font" Target="fonts/font5.fntdata"/><Relationship Id="rId33" Type="http://schemas.openxmlformats.org/officeDocument/2006/relationships/font" Target="fonts/font4.fntdata"/><Relationship Id="rId32" Type="http://schemas.openxmlformats.org/officeDocument/2006/relationships/font" Target="fonts/font3.fntdata"/><Relationship Id="rId31" Type="http://schemas.openxmlformats.org/officeDocument/2006/relationships/font" Target="fonts/font2.fntdata"/><Relationship Id="rId30" Type="http://schemas.openxmlformats.org/officeDocument/2006/relationships/font" Target="fonts/font1.fntdata"/><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4" name="Google Shape;11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2" name="Google Shape;12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2"/>
        <p:cNvGrpSpPr/>
        <p:nvPr/>
      </p:nvGrpSpPr>
      <p:grpSpPr>
        <a:xfrm>
          <a:off x="0" y="0"/>
          <a:ext cx="0" cy="0"/>
          <a:chOff x="0" y="0"/>
          <a:chExt cx="0" cy="0"/>
        </a:xfrm>
      </p:grpSpPr>
      <p:sp>
        <p:nvSpPr>
          <p:cNvPr id="143" name="Google Shape;14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4" name="Google Shape;14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9"/>
        <p:cNvGrpSpPr/>
        <p:nvPr/>
      </p:nvGrpSpPr>
      <p:grpSpPr>
        <a:xfrm>
          <a:off x="0" y="0"/>
          <a:ext cx="0" cy="0"/>
          <a:chOff x="0" y="0"/>
          <a:chExt cx="0" cy="0"/>
        </a:xfrm>
      </p:grpSpPr>
      <p:sp>
        <p:nvSpPr>
          <p:cNvPr id="160" name="Google Shape;16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1" name="Google Shape;16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3"/>
        <p:cNvGrpSpPr/>
        <p:nvPr/>
      </p:nvGrpSpPr>
      <p:grpSpPr>
        <a:xfrm>
          <a:off x="0" y="0"/>
          <a:ext cx="0" cy="0"/>
          <a:chOff x="0" y="0"/>
          <a:chExt cx="0" cy="0"/>
        </a:xfrm>
      </p:grpSpPr>
      <p:sp>
        <p:nvSpPr>
          <p:cNvPr id="174" name="Google Shape;17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5" name="Google Shape;17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7"/>
        <p:cNvGrpSpPr/>
        <p:nvPr/>
      </p:nvGrpSpPr>
      <p:grpSpPr>
        <a:xfrm>
          <a:off x="0" y="0"/>
          <a:ext cx="0" cy="0"/>
          <a:chOff x="0" y="0"/>
          <a:chExt cx="0" cy="0"/>
        </a:xfrm>
      </p:grpSpPr>
      <p:sp>
        <p:nvSpPr>
          <p:cNvPr id="228" name="Google Shape;22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9" name="Google Shape;22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4"/>
        <p:cNvGrpSpPr/>
        <p:nvPr/>
      </p:nvGrpSpPr>
      <p:grpSpPr>
        <a:xfrm>
          <a:off x="0" y="0"/>
          <a:ext cx="0" cy="0"/>
          <a:chOff x="0" y="0"/>
          <a:chExt cx="0" cy="0"/>
        </a:xfrm>
      </p:grpSpPr>
      <p:sp>
        <p:nvSpPr>
          <p:cNvPr id="245" name="Google Shape;24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6" name="Google Shape;24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5"/>
        <p:cNvGrpSpPr/>
        <p:nvPr/>
      </p:nvGrpSpPr>
      <p:grpSpPr>
        <a:xfrm>
          <a:off x="0" y="0"/>
          <a:ext cx="0" cy="0"/>
          <a:chOff x="0" y="0"/>
          <a:chExt cx="0" cy="0"/>
        </a:xfrm>
      </p:grpSpPr>
      <p:sp>
        <p:nvSpPr>
          <p:cNvPr id="276" name="Google Shape;27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7" name="Google Shape;27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3"/>
        <p:cNvGrpSpPr/>
        <p:nvPr/>
      </p:nvGrpSpPr>
      <p:grpSpPr>
        <a:xfrm>
          <a:off x="0" y="0"/>
          <a:ext cx="0" cy="0"/>
          <a:chOff x="0" y="0"/>
          <a:chExt cx="0" cy="0"/>
        </a:xfrm>
      </p:grpSpPr>
      <p:sp>
        <p:nvSpPr>
          <p:cNvPr id="284" name="Google Shape;28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85" name="Google Shape;28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6"/>
        <p:cNvGrpSpPr/>
        <p:nvPr/>
      </p:nvGrpSpPr>
      <p:grpSpPr>
        <a:xfrm>
          <a:off x="0" y="0"/>
          <a:ext cx="0" cy="0"/>
          <a:chOff x="0" y="0"/>
          <a:chExt cx="0" cy="0"/>
        </a:xfrm>
      </p:grpSpPr>
      <p:sp>
        <p:nvSpPr>
          <p:cNvPr id="307" name="Google Shape;30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8" name="Google Shape;30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23" name="Google Shape;32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7"/>
        <p:cNvGrpSpPr/>
        <p:nvPr/>
      </p:nvGrpSpPr>
      <p:grpSpPr>
        <a:xfrm>
          <a:off x="0" y="0"/>
          <a:ext cx="0" cy="0"/>
          <a:chOff x="0" y="0"/>
          <a:chExt cx="0" cy="0"/>
        </a:xfrm>
      </p:grpSpPr>
      <p:sp>
        <p:nvSpPr>
          <p:cNvPr id="338" name="Google Shape;338;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39" name="Google Shape;33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tags" Target="../tags/tag3.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xml"/><Relationship Id="rId5" Type="http://schemas.openxmlformats.org/officeDocument/2006/relationships/tags" Target="../tags/tag5.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tags" Target="../tags/tag6.xml"/><Relationship Id="rId2" Type="http://schemas.openxmlformats.org/officeDocument/2006/relationships/image" Target="../media/image9.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tags" Target="../tags/tag7.xml"/><Relationship Id="rId2" Type="http://schemas.openxmlformats.org/officeDocument/2006/relationships/image" Target="../media/image10.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tags" Target="../tags/tag8.xml"/><Relationship Id="rId2" Type="http://schemas.openxmlformats.org/officeDocument/2006/relationships/image" Target="../media/image11.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tags" Target="../tags/tag9.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2" Type="http://schemas.openxmlformats.org/officeDocument/2006/relationships/notesSlide" Target="../notesSlides/notesSlide11.xml"/><Relationship Id="rId11" Type="http://schemas.openxmlformats.org/officeDocument/2006/relationships/slideLayout" Target="../slideLayouts/slideLayout1.xml"/><Relationship Id="rId10" Type="http://schemas.openxmlformats.org/officeDocument/2006/relationships/tags" Target="../tags/tag10.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xml"/><Relationship Id="rId3" Type="http://schemas.openxmlformats.org/officeDocument/2006/relationships/tags" Target="../tags/tag11.xml"/><Relationship Id="rId2" Type="http://schemas.openxmlformats.org/officeDocument/2006/relationships/image" Target="../media/image21.png"/><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2.png"/><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12.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tags" Target="../tags/tag12.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83"/>
        <p:cNvGrpSpPr/>
        <p:nvPr/>
      </p:nvGrpSpPr>
      <p:grpSpPr>
        <a:xfrm>
          <a:off x="0" y="0"/>
          <a:ext cx="0" cy="0"/>
          <a:chOff x="0" y="0"/>
          <a:chExt cx="0" cy="0"/>
        </a:xfrm>
      </p:grpSpPr>
      <p:pic>
        <p:nvPicPr>
          <p:cNvPr id="85" name="Google Shape;85;p13" descr="image.png"/>
          <p:cNvPicPr preferRelativeResize="0"/>
          <p:nvPr/>
        </p:nvPicPr>
        <p:blipFill rotWithShape="1">
          <a:blip r:embed="rId1"/>
          <a:srcRect/>
          <a:stretch>
            <a:fillRect/>
          </a:stretch>
        </p:blipFill>
        <p:spPr>
          <a:xfrm>
            <a:off x="9477374" y="5600402"/>
            <a:ext cx="2359026" cy="1064558"/>
          </a:xfrm>
          <a:prstGeom prst="rect">
            <a:avLst/>
          </a:prstGeom>
          <a:noFill/>
          <a:ln>
            <a:noFill/>
          </a:ln>
        </p:spPr>
      </p:pic>
      <p:sp>
        <p:nvSpPr>
          <p:cNvPr id="86" name="Google Shape;86;p13"/>
          <p:cNvSpPr txBox="1"/>
          <p:nvPr/>
        </p:nvSpPr>
        <p:spPr>
          <a:xfrm>
            <a:off x="571500" y="571500"/>
            <a:ext cx="8382000" cy="63817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2100" b="1" i="0" u="none" strike="noStrike" cap="none">
                <a:solidFill>
                  <a:srgbClr val="0D3B66"/>
                </a:solidFill>
                <a:latin typeface="Merriweather"/>
                <a:ea typeface="Merriweather"/>
                <a:cs typeface="Merriweather"/>
                <a:sym typeface="Merriweather"/>
              </a:rPr>
              <a:t>Syrian Private University</a:t>
            </a:r>
            <a:endParaRPr lang="en-US" sz="2100" b="1" i="0" u="none" strike="noStrike" cap="none">
              <a:solidFill>
                <a:srgbClr val="0D3B66"/>
              </a:solidFill>
              <a:latin typeface="Merriweather"/>
              <a:ea typeface="Merriweather"/>
              <a:cs typeface="Merriweather"/>
              <a:sym typeface="Merriweather"/>
            </a:endParaRPr>
          </a:p>
        </p:txBody>
      </p:sp>
      <p:sp>
        <p:nvSpPr>
          <p:cNvPr id="87" name="Google Shape;87;p13"/>
          <p:cNvSpPr/>
          <p:nvPr/>
        </p:nvSpPr>
        <p:spPr>
          <a:xfrm>
            <a:off x="571500" y="1285875"/>
            <a:ext cx="8382000" cy="19050"/>
          </a:xfrm>
          <a:prstGeom prst="rect">
            <a:avLst/>
          </a:prstGeom>
          <a:solidFill>
            <a:srgbClr val="A01D2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8" name="Google Shape;88;p13"/>
          <p:cNvSpPr txBox="1"/>
          <p:nvPr/>
        </p:nvSpPr>
        <p:spPr>
          <a:xfrm>
            <a:off x="4727120" y="1400175"/>
            <a:ext cx="4226379" cy="507831"/>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650" b="0" i="0" u="none" strike="noStrike" cap="none" dirty="0">
                <a:solidFill>
                  <a:srgbClr val="333333"/>
                </a:solidFill>
                <a:latin typeface="Cairo"/>
                <a:ea typeface="Cairo"/>
                <a:cs typeface="Cairo"/>
                <a:sym typeface="Cairo"/>
              </a:rPr>
              <a:t>faculty of Information Engineering</a:t>
            </a:r>
            <a:br>
              <a:rPr lang="en-US"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br>
            <a:r>
              <a:rPr lang="en-US" sz="1650" b="0" i="0" u="none" strike="noStrike" cap="none" dirty="0">
                <a:solidFill>
                  <a:srgbClr val="333333"/>
                </a:solidFill>
                <a:latin typeface="Cairo"/>
                <a:ea typeface="Cairo"/>
                <a:cs typeface="Cairo"/>
                <a:sym typeface="Cairo"/>
              </a:rPr>
              <a:t> Telecommunication Engineering</a:t>
            </a:r>
            <a:endParaRPr dirty="0"/>
          </a:p>
        </p:txBody>
      </p:sp>
      <p:pic>
        <p:nvPicPr>
          <p:cNvPr id="89" name="Google Shape;89;p13" descr="image.png"/>
          <p:cNvPicPr preferRelativeResize="0"/>
          <p:nvPr/>
        </p:nvPicPr>
        <p:blipFill rotWithShape="1">
          <a:blip r:embed="rId2"/>
          <a:srcRect/>
          <a:stretch>
            <a:fillRect/>
          </a:stretch>
        </p:blipFill>
        <p:spPr>
          <a:xfrm>
            <a:off x="9477375" y="571500"/>
            <a:ext cx="1905000" cy="1905000"/>
          </a:xfrm>
          <a:prstGeom prst="rect">
            <a:avLst/>
          </a:prstGeom>
          <a:noFill/>
          <a:ln>
            <a:noFill/>
          </a:ln>
        </p:spPr>
      </p:pic>
      <p:sp>
        <p:nvSpPr>
          <p:cNvPr id="90" name="Google Shape;90;p13"/>
          <p:cNvSpPr txBox="1"/>
          <p:nvPr/>
        </p:nvSpPr>
        <p:spPr>
          <a:xfrm>
            <a:off x="816700" y="3390943"/>
            <a:ext cx="9217479" cy="1328420"/>
          </a:xfrm>
          <a:prstGeom prst="rect">
            <a:avLst/>
          </a:prstGeom>
          <a:noFill/>
          <a:ln>
            <a:noFill/>
          </a:ln>
        </p:spPr>
        <p:txBody>
          <a:bodyPr spcFirstLastPara="1" wrap="square" lIns="0" tIns="0" rIns="0" bIns="0" anchor="t" anchorCtr="0">
            <a:spAutoFit/>
          </a:bodyPr>
          <a:lstStyle/>
          <a:p>
            <a:pPr marL="457200" marR="0" lvl="1" indent="0" algn="ctr" rtl="0">
              <a:lnSpc>
                <a:spcPct val="120000"/>
              </a:lnSpc>
              <a:spcBef>
                <a:spcPts val="0"/>
              </a:spcBef>
              <a:spcAft>
                <a:spcPts val="0"/>
              </a:spcAft>
              <a:buNone/>
            </a:pPr>
            <a:r>
              <a:rPr lang="en-US" sz="3600" b="0" i="0" u="none" strike="noStrike" cap="none" dirty="0">
                <a:solidFill>
                  <a:srgbClr val="A01D2E"/>
                </a:solidFill>
                <a:latin typeface="Merriweather"/>
                <a:ea typeface="Merriweather"/>
                <a:cs typeface="Merriweather"/>
                <a:sym typeface="Merriweather"/>
              </a:rPr>
              <a:t>Smart Satellite Transponder</a:t>
            </a:r>
            <a:br>
              <a:rPr lang="en-US"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br>
            <a:r>
              <a:rPr lang="ar-SA" altLang="en-US"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a:t>
            </a:r>
            <a:r>
              <a:rPr lang="en-US" sz="3600" dirty="0">
                <a:solidFill>
                  <a:srgbClr val="A01D2E"/>
                </a:solidFill>
                <a:latin typeface="Merriweather"/>
                <a:ea typeface="Merriweather"/>
                <a:cs typeface="Merriweather"/>
                <a:sym typeface="Merriweather"/>
              </a:rPr>
              <a:t> الذكي</a:t>
            </a:r>
            <a:r>
              <a:rPr lang="ar-SA" altLang="en-US"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a:t>
            </a:r>
            <a:r>
              <a:rPr lang="en-US" sz="3600" dirty="0">
                <a:solidFill>
                  <a:srgbClr val="A01D2E"/>
                </a:solidFill>
                <a:latin typeface="Merriweather"/>
                <a:ea typeface="Merriweather"/>
                <a:cs typeface="Merriweather"/>
                <a:sym typeface="Merriweather"/>
              </a:rPr>
              <a:t>الفضائي</a:t>
            </a:r>
            <a:r>
              <a:rPr lang="ar-SA" altLang="en-US" sz="3600" dirty="0">
                <a:solidFill>
                  <a:srgbClr val="A01D2E"/>
                </a:solidFill>
                <a:latin typeface="Merriweather"/>
                <a:ea typeface="Merriweather"/>
                <a:cs typeface="Merriweather"/>
                <a:sym typeface="Merriweather"/>
              </a:rPr>
              <a:t> </a:t>
            </a:r>
            <a:r>
              <a:rPr lang="en-US" sz="3600" dirty="0">
                <a:solidFill>
                  <a:srgbClr val="A01D2E"/>
                </a:solidFill>
                <a:latin typeface="Merriweather"/>
                <a:ea typeface="Merriweather"/>
                <a:cs typeface="Merriweather"/>
                <a:sym typeface="Merriweather"/>
              </a:rPr>
              <a:t>البث إعادة</a:t>
            </a:r>
            <a:r>
              <a:rPr lang="en-US" sz="3600" b="0" i="0" u="none" strike="noStrike" cap="none" dirty="0">
                <a:solidFill>
                  <a:srgbClr val="A01D2E"/>
                </a:solidFill>
                <a:latin typeface="Merriweather"/>
                <a:ea typeface="Merriweather"/>
                <a:cs typeface="Merriweather"/>
                <a:sym typeface="Merriweather"/>
              </a:rPr>
              <a:t> جهاز</a:t>
            </a:r>
            <a:r>
              <a:rPr lang="ar-SA" altLang="en-US" sz="3600" b="0" i="0" u="none" strike="noStrike" cap="none" dirty="0">
                <a:solidFill>
                  <a:srgbClr val="A01D2E"/>
                </a:solidFill>
                <a:latin typeface="Merriweather"/>
                <a:ea typeface="Merriweather"/>
                <a:cs typeface="Merriweather"/>
                <a:sym typeface="Merriweather"/>
              </a:rPr>
              <a:t> </a:t>
            </a:r>
            <a:r>
              <a:rPr lang="en-US" sz="3600" b="0" i="0" u="none" strike="noStrike" cap="none" dirty="0">
                <a:solidFill>
                  <a:srgbClr val="A01D2E"/>
                </a:solidFill>
                <a:latin typeface="Merriweather"/>
                <a:ea typeface="Merriweather"/>
                <a:cs typeface="Merriweather"/>
                <a:sym typeface="Merriweather"/>
              </a:rPr>
              <a:t>  </a:t>
            </a:r>
            <a:endParaRPr dirty="0"/>
          </a:p>
        </p:txBody>
      </p:sp>
      <p:sp>
        <p:nvSpPr>
          <p:cNvPr id="91" name="Google Shape;91;p13"/>
          <p:cNvSpPr txBox="1"/>
          <p:nvPr/>
        </p:nvSpPr>
        <p:spPr>
          <a:xfrm>
            <a:off x="2316480" y="4909768"/>
            <a:ext cx="2240369"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600" b="1" i="0" u="none" strike="noStrike" cap="none" dirty="0">
                <a:solidFill>
                  <a:srgbClr val="333333"/>
                </a:solidFill>
                <a:latin typeface="DM Sans"/>
                <a:ea typeface="DM Sans"/>
                <a:cs typeface="DM Sans"/>
                <a:sym typeface="DM Sans"/>
              </a:rPr>
              <a:t>Prepared by:</a:t>
            </a:r>
            <a:br>
              <a:rPr lang="en-US" sz="24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br>
            <a:r>
              <a:rPr lang="en-US" sz="1600" b="0" i="0" u="none" strike="noStrike" cap="none" dirty="0">
                <a:solidFill>
                  <a:srgbClr val="333333"/>
                </a:solidFill>
                <a:latin typeface="DM Sans"/>
                <a:ea typeface="DM Sans"/>
                <a:cs typeface="DM Sans"/>
                <a:sym typeface="DM Sans"/>
              </a:rPr>
              <a:t> </a:t>
            </a:r>
            <a:r>
              <a:rPr lang="en-US" sz="1600" b="0" i="0" u="none" strike="noStrike" cap="none" dirty="0" err="1">
                <a:solidFill>
                  <a:srgbClr val="333333"/>
                </a:solidFill>
                <a:latin typeface="DM Sans"/>
                <a:ea typeface="DM Sans"/>
                <a:cs typeface="DM Sans"/>
                <a:sym typeface="DM Sans"/>
              </a:rPr>
              <a:t>MHD.Nour</a:t>
            </a:r>
            <a:r>
              <a:rPr lang="en-US" sz="1600" b="0" i="0" u="none" strike="noStrike" cap="none" dirty="0">
                <a:solidFill>
                  <a:srgbClr val="333333"/>
                </a:solidFill>
                <a:latin typeface="DM Sans"/>
                <a:ea typeface="DM Sans"/>
                <a:cs typeface="DM Sans"/>
                <a:sym typeface="DM Sans"/>
              </a:rPr>
              <a:t> </a:t>
            </a:r>
            <a:r>
              <a:rPr lang="en-US" sz="1600" b="0" i="0" u="none" strike="noStrike" cap="none" dirty="0" err="1">
                <a:solidFill>
                  <a:srgbClr val="333333"/>
                </a:solidFill>
                <a:latin typeface="DM Sans"/>
                <a:ea typeface="DM Sans"/>
                <a:cs typeface="DM Sans"/>
                <a:sym typeface="DM Sans"/>
              </a:rPr>
              <a:t>Njeeb</a:t>
            </a:r>
            <a:br>
              <a:rPr lang="en-US" sz="24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br>
            <a:r>
              <a:rPr lang="en-US" sz="1600" b="0" i="0" u="none" strike="noStrike" cap="none" dirty="0">
                <a:solidFill>
                  <a:srgbClr val="333333"/>
                </a:solidFill>
                <a:latin typeface="DM Sans"/>
                <a:ea typeface="DM Sans"/>
                <a:cs typeface="DM Sans"/>
                <a:sym typeface="DM Sans"/>
              </a:rPr>
              <a:t> </a:t>
            </a:r>
            <a:r>
              <a:rPr lang="en-US" sz="1600" b="0" i="0" u="none" strike="noStrike" cap="none" dirty="0" err="1">
                <a:solidFill>
                  <a:srgbClr val="333333"/>
                </a:solidFill>
                <a:latin typeface="DM Sans"/>
                <a:ea typeface="DM Sans"/>
                <a:cs typeface="DM Sans"/>
                <a:sym typeface="DM Sans"/>
              </a:rPr>
              <a:t>LaithAbdAlrazek</a:t>
            </a:r>
            <a:endParaRPr sz="1800" dirty="0"/>
          </a:p>
        </p:txBody>
      </p:sp>
      <p:sp>
        <p:nvSpPr>
          <p:cNvPr id="92" name="Google Shape;92;p13"/>
          <p:cNvSpPr txBox="1"/>
          <p:nvPr/>
        </p:nvSpPr>
        <p:spPr>
          <a:xfrm>
            <a:off x="6840309" y="4817570"/>
            <a:ext cx="2496731" cy="83099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rgbClr val="333333"/>
                </a:solidFill>
                <a:latin typeface="DM Sans"/>
                <a:ea typeface="DM Sans"/>
                <a:cs typeface="DM Sans"/>
                <a:sym typeface="DM Sans"/>
              </a:rPr>
              <a:t>Supervisors:</a:t>
            </a:r>
            <a:br>
              <a:rPr lang="en-US"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br>
            <a:r>
              <a:rPr lang="en-US" sz="1800" b="0" i="0" u="none" strike="noStrike" cap="none" dirty="0">
                <a:solidFill>
                  <a:srgbClr val="333333"/>
                </a:solidFill>
                <a:latin typeface="DM Sans"/>
                <a:ea typeface="DM Sans"/>
                <a:cs typeface="DM Sans"/>
                <a:sym typeface="DM Sans"/>
              </a:rPr>
              <a:t> </a:t>
            </a:r>
            <a:r>
              <a:rPr lang="en-US" sz="1800" b="0" i="0" u="none" strike="noStrike" cap="none" dirty="0" err="1">
                <a:solidFill>
                  <a:srgbClr val="333333"/>
                </a:solidFill>
                <a:latin typeface="DM Sans"/>
                <a:ea typeface="DM Sans"/>
                <a:cs typeface="DM Sans"/>
                <a:sym typeface="DM Sans"/>
              </a:rPr>
              <a:t>Dr.Nawaf</a:t>
            </a:r>
            <a:r>
              <a:rPr lang="en-US" sz="1800" b="0" i="0" u="none" strike="noStrike" cap="none" dirty="0">
                <a:solidFill>
                  <a:srgbClr val="333333"/>
                </a:solidFill>
                <a:latin typeface="DM Sans"/>
                <a:ea typeface="DM Sans"/>
                <a:cs typeface="DM Sans"/>
                <a:sym typeface="DM Sans"/>
              </a:rPr>
              <a:t> </a:t>
            </a:r>
            <a:r>
              <a:rPr lang="en-US" sz="1800" b="0" i="0" u="none" strike="noStrike" cap="none" dirty="0" err="1">
                <a:solidFill>
                  <a:srgbClr val="333333"/>
                </a:solidFill>
                <a:latin typeface="DM Sans"/>
                <a:ea typeface="DM Sans"/>
                <a:cs typeface="DM Sans"/>
                <a:sym typeface="DM Sans"/>
              </a:rPr>
              <a:t>Altawel</a:t>
            </a:r>
            <a:br>
              <a:rPr lang="en-US" sz="2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br>
            <a:r>
              <a:rPr lang="en-US" sz="1800" b="0" i="0" u="none" strike="noStrike" cap="none" dirty="0">
                <a:solidFill>
                  <a:srgbClr val="333333"/>
                </a:solidFill>
                <a:latin typeface="DM Sans"/>
                <a:ea typeface="DM Sans"/>
                <a:cs typeface="DM Sans"/>
                <a:sym typeface="DM Sans"/>
              </a:rPr>
              <a:t> Dr. </a:t>
            </a:r>
            <a:r>
              <a:rPr lang="en-US" sz="1800" b="0" i="0" u="none" strike="noStrike" cap="none" dirty="0" err="1">
                <a:solidFill>
                  <a:srgbClr val="333333"/>
                </a:solidFill>
                <a:latin typeface="DM Sans"/>
                <a:ea typeface="DM Sans"/>
                <a:cs typeface="DM Sans"/>
                <a:sym typeface="DM Sans"/>
              </a:rPr>
              <a:t>Rawad</a:t>
            </a:r>
            <a:r>
              <a:rPr lang="en-US" sz="1800" b="0" i="0" u="none" strike="noStrike" cap="none" dirty="0">
                <a:solidFill>
                  <a:srgbClr val="333333"/>
                </a:solidFill>
                <a:latin typeface="DM Sans"/>
                <a:ea typeface="DM Sans"/>
                <a:cs typeface="DM Sans"/>
                <a:sym typeface="DM Sans"/>
              </a:rPr>
              <a:t> </a:t>
            </a:r>
            <a:r>
              <a:rPr lang="en-US" sz="1800" b="0" i="0" u="none" strike="noStrike" cap="none" dirty="0" err="1">
                <a:solidFill>
                  <a:srgbClr val="333333"/>
                </a:solidFill>
                <a:latin typeface="DM Sans"/>
                <a:ea typeface="DM Sans"/>
                <a:cs typeface="DM Sans"/>
                <a:sym typeface="DM Sans"/>
              </a:rPr>
              <a:t>Melhem</a:t>
            </a:r>
            <a:endParaRPr sz="2000" dirty="0"/>
          </a:p>
        </p:txBody>
      </p:sp>
      <p:sp>
        <p:nvSpPr>
          <p:cNvPr id="93" name="Google Shape;93;p13"/>
          <p:cNvSpPr txBox="1"/>
          <p:nvPr/>
        </p:nvSpPr>
        <p:spPr>
          <a:xfrm>
            <a:off x="10155555" y="5924932"/>
            <a:ext cx="1226820" cy="41529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333333"/>
                </a:solidFill>
                <a:latin typeface="DM Sans"/>
                <a:ea typeface="DM Sans"/>
                <a:cs typeface="DM Sans"/>
                <a:sym typeface="DM Sans"/>
              </a:rPr>
              <a:t>Date:</a:t>
            </a:r>
            <a:br>
              <a:rPr lang="en-US" sz="18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br>
            <a:r>
              <a:rPr lang="en-US" sz="1350" b="0" i="0" u="none" strike="noStrike" cap="none" dirty="0">
                <a:solidFill>
                  <a:srgbClr val="333333"/>
                </a:solidFill>
                <a:latin typeface="DM Sans"/>
                <a:ea typeface="DM Sans"/>
                <a:cs typeface="DM Sans"/>
                <a:sym typeface="DM Sans"/>
              </a:rPr>
              <a:t> </a:t>
            </a:r>
            <a:r>
              <a:rPr lang="en-US" sz="1350" b="0" i="0" u="none" strike="noStrike" cap="none" dirty="0" smtClean="0">
                <a:solidFill>
                  <a:srgbClr val="333333"/>
                </a:solidFill>
                <a:latin typeface="DM Sans"/>
                <a:ea typeface="DM Sans"/>
                <a:cs typeface="DM Sans"/>
                <a:sym typeface="DM Sans"/>
              </a:rPr>
              <a:t>16/12/202</a:t>
            </a:r>
            <a:r>
              <a:rPr lang="ar-SA" sz="1350" b="0" i="0" u="none" strike="noStrike" cap="none" dirty="0" smtClean="0">
                <a:solidFill>
                  <a:srgbClr val="333333"/>
                </a:solidFill>
                <a:latin typeface="DM Sans"/>
                <a:ea typeface="DM Sans"/>
                <a:cs typeface="DM Sans"/>
                <a:sym typeface="DM Sans"/>
              </a:rPr>
              <a:t>5</a:t>
            </a:r>
            <a:endParaRPr dirty="0"/>
          </a:p>
        </p:txBody>
      </p:sp>
      <p:sp>
        <p:nvSpPr>
          <p:cNvPr id="12" name="TextBox 11"/>
          <p:cNvSpPr txBox="1"/>
          <p:nvPr/>
        </p:nvSpPr>
        <p:spPr>
          <a:xfrm>
            <a:off x="1487260" y="2264754"/>
            <a:ext cx="7556804" cy="769441"/>
          </a:xfrm>
          <a:prstGeom prst="rect">
            <a:avLst/>
          </a:prstGeom>
          <a:noFill/>
        </p:spPr>
        <p:txBody>
          <a:bodyPr wrap="square" rtlCol="0">
            <a:spAutoFit/>
          </a:bodyPr>
          <a:lstStyle/>
          <a:p>
            <a:pPr algn="ctr"/>
            <a:r>
              <a:rPr lang="en-GB" sz="4400" b="1" dirty="0">
                <a:solidFill>
                  <a:schemeClr val="tx1"/>
                </a:solidFill>
                <a:latin typeface="Arabic Typesetting" panose="03020402040406030203" pitchFamily="66" charset="-78"/>
                <a:cs typeface="Arabic Typesetting" panose="03020402040406030203" pitchFamily="66" charset="-78"/>
              </a:rPr>
              <a:t>First presentation of the semester project</a:t>
            </a:r>
            <a:endParaRPr lang="en-GB" sz="4400" b="1" dirty="0">
              <a:solidFill>
                <a:schemeClr val="tx1"/>
              </a:solidFill>
              <a:latin typeface="Arabic Typesetting" panose="03020402040406030203" pitchFamily="66" charset="-78"/>
              <a:cs typeface="Arabic Typesetting" panose="03020402040406030203" pitchFamily="66" charset="-78"/>
            </a:endParaRPr>
          </a:p>
        </p:txBody>
      </p:sp>
    </p:spTree>
  </p:cSld>
  <p:clrMapOvr>
    <a:masterClrMapping/>
  </p:clrMapOvr>
  <mc:AlternateContent xmlns:mc="http://schemas.openxmlformats.org/markup-compatibility/2006">
    <mc:Choice xmlns:p14="http://schemas.microsoft.com/office/powerpoint/2010/main" Requires="p14">
      <p:transition spd="slow" p14:dur="1250" advTm="2234">
        <p14:switch dir="r"/>
      </p:transition>
    </mc:Choice>
    <mc:Fallback>
      <p:transition spd="slow" advTm="2234">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97"/>
        <p:cNvGrpSpPr/>
        <p:nvPr/>
      </p:nvGrpSpPr>
      <p:grpSpPr>
        <a:xfrm>
          <a:off x="0" y="0"/>
          <a:ext cx="0" cy="0"/>
          <a:chOff x="0" y="0"/>
          <a:chExt cx="0" cy="0"/>
        </a:xfrm>
      </p:grpSpPr>
      <p:pic>
        <p:nvPicPr>
          <p:cNvPr id="98" name="Google Shape;98;p14"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99" name="Google Shape;99;p14"/>
          <p:cNvSpPr txBox="1"/>
          <p:nvPr/>
        </p:nvSpPr>
        <p:spPr>
          <a:xfrm>
            <a:off x="1054677" y="1238250"/>
            <a:ext cx="819150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smtClean="0">
                <a:solidFill>
                  <a:srgbClr val="333333"/>
                </a:solidFill>
                <a:latin typeface="DM Sans"/>
                <a:ea typeface="DM Sans"/>
                <a:cs typeface="DM Sans"/>
                <a:sym typeface="DM Sans"/>
              </a:rPr>
              <a:t>_Project </a:t>
            </a:r>
            <a:r>
              <a:rPr lang="en-US" sz="1800" b="0" i="0" u="none" strike="noStrike" cap="none" dirty="0">
                <a:solidFill>
                  <a:srgbClr val="333333"/>
                </a:solidFill>
                <a:latin typeface="DM Sans"/>
                <a:ea typeface="DM Sans"/>
                <a:cs typeface="DM Sans"/>
                <a:sym typeface="DM Sans"/>
              </a:rPr>
              <a:t>objective .</a:t>
            </a:r>
            <a:endParaRPr dirty="0"/>
          </a:p>
        </p:txBody>
      </p:sp>
      <p:sp>
        <p:nvSpPr>
          <p:cNvPr id="100" name="Google Shape;100;p14"/>
          <p:cNvSpPr txBox="1"/>
          <p:nvPr/>
        </p:nvSpPr>
        <p:spPr>
          <a:xfrm>
            <a:off x="1054677" y="1697293"/>
            <a:ext cx="819150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smtClean="0">
                <a:solidFill>
                  <a:srgbClr val="333333"/>
                </a:solidFill>
                <a:latin typeface="DM Sans"/>
                <a:ea typeface="DM Sans"/>
                <a:cs typeface="DM Sans"/>
                <a:sym typeface="DM Sans"/>
              </a:rPr>
              <a:t>_Problem </a:t>
            </a:r>
            <a:r>
              <a:rPr lang="en-US" sz="1800" b="0" i="0" u="none" strike="noStrike" cap="none" dirty="0">
                <a:solidFill>
                  <a:srgbClr val="333333"/>
                </a:solidFill>
                <a:latin typeface="DM Sans"/>
                <a:ea typeface="DM Sans"/>
                <a:cs typeface="DM Sans"/>
                <a:sym typeface="DM Sans"/>
              </a:rPr>
              <a:t>statement &amp; importance.</a:t>
            </a:r>
            <a:endParaRPr dirty="0"/>
          </a:p>
        </p:txBody>
      </p:sp>
      <p:sp>
        <p:nvSpPr>
          <p:cNvPr id="101" name="Google Shape;101;p14"/>
          <p:cNvSpPr txBox="1"/>
          <p:nvPr/>
        </p:nvSpPr>
        <p:spPr>
          <a:xfrm>
            <a:off x="1054677" y="2156336"/>
            <a:ext cx="819150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smtClean="0">
                <a:solidFill>
                  <a:srgbClr val="333333"/>
                </a:solidFill>
                <a:latin typeface="DM Sans"/>
                <a:ea typeface="DM Sans"/>
                <a:cs typeface="DM Sans"/>
                <a:sym typeface="DM Sans"/>
              </a:rPr>
              <a:t>_Implementation </a:t>
            </a:r>
            <a:r>
              <a:rPr lang="en-US" sz="1800" b="0" i="0" u="none" strike="noStrike" cap="none" dirty="0">
                <a:solidFill>
                  <a:srgbClr val="333333"/>
                </a:solidFill>
                <a:latin typeface="DM Sans"/>
                <a:ea typeface="DM Sans"/>
                <a:cs typeface="DM Sans"/>
                <a:sym typeface="DM Sans"/>
              </a:rPr>
              <a:t>steps.</a:t>
            </a:r>
            <a:endParaRPr dirty="0"/>
          </a:p>
        </p:txBody>
      </p:sp>
      <p:sp>
        <p:nvSpPr>
          <p:cNvPr id="102" name="Google Shape;102;p14"/>
          <p:cNvSpPr txBox="1"/>
          <p:nvPr/>
        </p:nvSpPr>
        <p:spPr>
          <a:xfrm>
            <a:off x="1054677" y="2615379"/>
            <a:ext cx="819150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smtClean="0">
                <a:solidFill>
                  <a:srgbClr val="333333"/>
                </a:solidFill>
                <a:latin typeface="DM Sans"/>
                <a:ea typeface="DM Sans"/>
                <a:cs typeface="DM Sans"/>
                <a:sym typeface="DM Sans"/>
              </a:rPr>
              <a:t>_Theoretical </a:t>
            </a:r>
            <a:r>
              <a:rPr lang="en-US" sz="1800" b="0" i="0" u="none" strike="noStrike" cap="none" dirty="0">
                <a:solidFill>
                  <a:srgbClr val="333333"/>
                </a:solidFill>
                <a:latin typeface="DM Sans"/>
                <a:ea typeface="DM Sans"/>
                <a:cs typeface="DM Sans"/>
                <a:sym typeface="DM Sans"/>
              </a:rPr>
              <a:t>background.</a:t>
            </a:r>
            <a:endParaRPr dirty="0"/>
          </a:p>
        </p:txBody>
      </p:sp>
      <p:sp>
        <p:nvSpPr>
          <p:cNvPr id="103" name="Google Shape;103;p14"/>
          <p:cNvSpPr txBox="1"/>
          <p:nvPr/>
        </p:nvSpPr>
        <p:spPr>
          <a:xfrm>
            <a:off x="1054677" y="3074422"/>
            <a:ext cx="819150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smtClean="0">
                <a:solidFill>
                  <a:srgbClr val="333333"/>
                </a:solidFill>
                <a:latin typeface="DM Sans"/>
                <a:ea typeface="DM Sans"/>
                <a:cs typeface="DM Sans"/>
                <a:sym typeface="DM Sans"/>
              </a:rPr>
              <a:t>_Implementation </a:t>
            </a:r>
            <a:r>
              <a:rPr lang="en-US" sz="1800" b="0" i="0" u="none" strike="noStrike" cap="none" dirty="0">
                <a:solidFill>
                  <a:srgbClr val="333333"/>
                </a:solidFill>
                <a:latin typeface="DM Sans"/>
                <a:ea typeface="DM Sans"/>
                <a:cs typeface="DM Sans"/>
                <a:sym typeface="DM Sans"/>
              </a:rPr>
              <a:t>Smart Transponder Architecture.</a:t>
            </a:r>
            <a:endParaRPr dirty="0"/>
          </a:p>
        </p:txBody>
      </p:sp>
      <p:sp>
        <p:nvSpPr>
          <p:cNvPr id="104" name="Google Shape;104;p14"/>
          <p:cNvSpPr txBox="1"/>
          <p:nvPr/>
        </p:nvSpPr>
        <p:spPr>
          <a:xfrm>
            <a:off x="1054677" y="4910594"/>
            <a:ext cx="819150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smtClean="0">
                <a:solidFill>
                  <a:srgbClr val="333333"/>
                </a:solidFill>
                <a:latin typeface="DM Sans"/>
                <a:ea typeface="DM Sans"/>
                <a:cs typeface="DM Sans"/>
                <a:sym typeface="DM Sans"/>
              </a:rPr>
              <a:t>_References</a:t>
            </a:r>
            <a:r>
              <a:rPr lang="en-US" sz="1800" b="0" i="0" u="none" strike="noStrike" cap="none" dirty="0">
                <a:solidFill>
                  <a:srgbClr val="333333"/>
                </a:solidFill>
                <a:latin typeface="DM Sans"/>
                <a:ea typeface="DM Sans"/>
                <a:cs typeface="DM Sans"/>
                <a:sym typeface="DM Sans"/>
              </a:rPr>
              <a:t>.</a:t>
            </a:r>
            <a:endParaRPr dirty="0"/>
          </a:p>
        </p:txBody>
      </p:sp>
      <p:sp>
        <p:nvSpPr>
          <p:cNvPr id="111" name="Google Shape;111;p14"/>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0D3B66"/>
                </a:solidFill>
                <a:latin typeface="Merriweather"/>
                <a:ea typeface="Merriweather"/>
                <a:cs typeface="Merriweather"/>
                <a:sym typeface="Merriweather"/>
              </a:rPr>
              <a:t>OUTLINE:</a:t>
            </a:r>
            <a:endParaRPr dirty="0"/>
          </a:p>
        </p:txBody>
      </p:sp>
      <p:sp>
        <p:nvSpPr>
          <p:cNvPr id="2" name="TextBox 1"/>
          <p:cNvSpPr txBox="1"/>
          <p:nvPr/>
        </p:nvSpPr>
        <p:spPr>
          <a:xfrm>
            <a:off x="951346" y="3533465"/>
            <a:ext cx="7158182" cy="369332"/>
          </a:xfrm>
          <a:prstGeom prst="rect">
            <a:avLst/>
          </a:prstGeom>
          <a:noFill/>
        </p:spPr>
        <p:txBody>
          <a:bodyPr wrap="square" rtlCol="0">
            <a:spAutoFit/>
          </a:bodyPr>
          <a:lstStyle/>
          <a:p>
            <a:r>
              <a:rPr lang="en-GB" sz="1800" dirty="0" smtClean="0">
                <a:solidFill>
                  <a:srgbClr val="333333"/>
                </a:solidFill>
                <a:latin typeface="DM Sans" charset="0"/>
              </a:rPr>
              <a:t>_Baseband </a:t>
            </a:r>
            <a:r>
              <a:rPr lang="en-GB" sz="1800" dirty="0">
                <a:solidFill>
                  <a:srgbClr val="333333"/>
                </a:solidFill>
                <a:latin typeface="DM Sans" charset="0"/>
              </a:rPr>
              <a:t>signal processing in </a:t>
            </a:r>
            <a:r>
              <a:rPr lang="en-GB" sz="1800" dirty="0" smtClean="0">
                <a:solidFill>
                  <a:srgbClr val="333333"/>
                </a:solidFill>
                <a:latin typeface="DM Sans" charset="0"/>
              </a:rPr>
              <a:t>satellites.</a:t>
            </a:r>
            <a:endParaRPr lang="en-GB" sz="1800" dirty="0">
              <a:solidFill>
                <a:srgbClr val="333333"/>
              </a:solidFill>
              <a:latin typeface="DM Sans" charset="0"/>
            </a:endParaRPr>
          </a:p>
        </p:txBody>
      </p:sp>
      <p:sp>
        <p:nvSpPr>
          <p:cNvPr id="3" name="TextBox 2"/>
          <p:cNvSpPr txBox="1"/>
          <p:nvPr/>
        </p:nvSpPr>
        <p:spPr>
          <a:xfrm>
            <a:off x="951346" y="3992508"/>
            <a:ext cx="6842825" cy="369332"/>
          </a:xfrm>
          <a:prstGeom prst="rect">
            <a:avLst/>
          </a:prstGeom>
          <a:noFill/>
        </p:spPr>
        <p:txBody>
          <a:bodyPr wrap="square" rtlCol="0">
            <a:spAutoFit/>
          </a:bodyPr>
          <a:lstStyle/>
          <a:p>
            <a:r>
              <a:rPr lang="en-GB" sz="1800" dirty="0" smtClean="0">
                <a:solidFill>
                  <a:srgbClr val="333333"/>
                </a:solidFill>
                <a:latin typeface="DM Sans" charset="0"/>
              </a:rPr>
              <a:t>_</a:t>
            </a:r>
            <a:r>
              <a:rPr lang="en-GB" sz="1800" dirty="0">
                <a:solidFill>
                  <a:srgbClr val="333333"/>
                </a:solidFill>
                <a:latin typeface="DM Sans" charset="0"/>
              </a:rPr>
              <a:t>Types of digital modulation techniques used in satellites</a:t>
            </a:r>
            <a:endParaRPr lang="en-GB" sz="1800" dirty="0">
              <a:solidFill>
                <a:srgbClr val="333333"/>
              </a:solidFill>
              <a:latin typeface="DM Sans" charset="0"/>
            </a:endParaRPr>
          </a:p>
        </p:txBody>
      </p:sp>
      <p:sp>
        <p:nvSpPr>
          <p:cNvPr id="4" name="TextBox 3"/>
          <p:cNvSpPr txBox="1"/>
          <p:nvPr/>
        </p:nvSpPr>
        <p:spPr>
          <a:xfrm>
            <a:off x="951346" y="4451551"/>
            <a:ext cx="4095750" cy="369332"/>
          </a:xfrm>
          <a:prstGeom prst="rect">
            <a:avLst/>
          </a:prstGeom>
          <a:noFill/>
        </p:spPr>
        <p:txBody>
          <a:bodyPr wrap="square" rtlCol="0">
            <a:spAutoFit/>
          </a:bodyPr>
          <a:lstStyle/>
          <a:p>
            <a:r>
              <a:rPr lang="en-US" sz="1800" dirty="0">
                <a:solidFill>
                  <a:srgbClr val="333333"/>
                </a:solidFill>
                <a:latin typeface="DM Sans" charset="0"/>
              </a:rPr>
              <a:t>_Basic I/Q representation</a:t>
            </a:r>
            <a:endParaRPr lang="en-GB" sz="1800" dirty="0">
              <a:solidFill>
                <a:srgbClr val="333333"/>
              </a:solidFill>
              <a:latin typeface="DM Sans" charset="0"/>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50" advTm="2549">
        <p14:switch dir="r"/>
      </p:transition>
    </mc:Choice>
    <mc:Fallback>
      <p:transition spd="slow" advTm="2549">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wipe(down)">
                                      <p:cBhvr>
                                        <p:cTn id="7" dur="580">
                                          <p:stCondLst>
                                            <p:cond delay="0"/>
                                          </p:stCondLst>
                                        </p:cTn>
                                        <p:tgtEl>
                                          <p:spTgt spid="111"/>
                                        </p:tgtEl>
                                      </p:cBhvr>
                                    </p:animEffect>
                                    <p:anim calcmode="lin" valueType="num">
                                      <p:cBhvr>
                                        <p:cTn id="8" dur="1822" tmFilter="0,0; 0.14,0.36; 0.43,0.73; 0.71,0.91; 1.0,1.0">
                                          <p:stCondLst>
                                            <p:cond delay="0"/>
                                          </p:stCondLst>
                                        </p:cTn>
                                        <p:tgtEl>
                                          <p:spTgt spid="11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1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1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1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11"/>
                                        </p:tgtEl>
                                        <p:attrNameLst>
                                          <p:attrName>ppt_y</p:attrName>
                                        </p:attrNameLst>
                                      </p:cBhvr>
                                      <p:tavLst>
                                        <p:tav tm="0" fmla="#ppt_y-sin(pi*$)/81">
                                          <p:val>
                                            <p:fltVal val="0"/>
                                          </p:val>
                                        </p:tav>
                                        <p:tav tm="100000">
                                          <p:val>
                                            <p:fltVal val="1"/>
                                          </p:val>
                                        </p:tav>
                                      </p:tavLst>
                                    </p:anim>
                                    <p:animScale>
                                      <p:cBhvr>
                                        <p:cTn id="13" dur="26">
                                          <p:stCondLst>
                                            <p:cond delay="650"/>
                                          </p:stCondLst>
                                        </p:cTn>
                                        <p:tgtEl>
                                          <p:spTgt spid="111"/>
                                        </p:tgtEl>
                                      </p:cBhvr>
                                      <p:to x="100000" y="60000"/>
                                    </p:animScale>
                                    <p:animScale>
                                      <p:cBhvr>
                                        <p:cTn id="14" dur="166" decel="50000">
                                          <p:stCondLst>
                                            <p:cond delay="676"/>
                                          </p:stCondLst>
                                        </p:cTn>
                                        <p:tgtEl>
                                          <p:spTgt spid="111"/>
                                        </p:tgtEl>
                                      </p:cBhvr>
                                      <p:to x="100000" y="100000"/>
                                    </p:animScale>
                                    <p:animScale>
                                      <p:cBhvr>
                                        <p:cTn id="15" dur="26">
                                          <p:stCondLst>
                                            <p:cond delay="1312"/>
                                          </p:stCondLst>
                                        </p:cTn>
                                        <p:tgtEl>
                                          <p:spTgt spid="111"/>
                                        </p:tgtEl>
                                      </p:cBhvr>
                                      <p:to x="100000" y="80000"/>
                                    </p:animScale>
                                    <p:animScale>
                                      <p:cBhvr>
                                        <p:cTn id="16" dur="166" decel="50000">
                                          <p:stCondLst>
                                            <p:cond delay="1338"/>
                                          </p:stCondLst>
                                        </p:cTn>
                                        <p:tgtEl>
                                          <p:spTgt spid="111"/>
                                        </p:tgtEl>
                                      </p:cBhvr>
                                      <p:to x="100000" y="100000"/>
                                    </p:animScale>
                                    <p:animScale>
                                      <p:cBhvr>
                                        <p:cTn id="17" dur="26">
                                          <p:stCondLst>
                                            <p:cond delay="1642"/>
                                          </p:stCondLst>
                                        </p:cTn>
                                        <p:tgtEl>
                                          <p:spTgt spid="111"/>
                                        </p:tgtEl>
                                      </p:cBhvr>
                                      <p:to x="100000" y="90000"/>
                                    </p:animScale>
                                    <p:animScale>
                                      <p:cBhvr>
                                        <p:cTn id="18" dur="166" decel="50000">
                                          <p:stCondLst>
                                            <p:cond delay="1668"/>
                                          </p:stCondLst>
                                        </p:cTn>
                                        <p:tgtEl>
                                          <p:spTgt spid="111"/>
                                        </p:tgtEl>
                                      </p:cBhvr>
                                      <p:to x="100000" y="100000"/>
                                    </p:animScale>
                                    <p:animScale>
                                      <p:cBhvr>
                                        <p:cTn id="19" dur="26">
                                          <p:stCondLst>
                                            <p:cond delay="1808"/>
                                          </p:stCondLst>
                                        </p:cTn>
                                        <p:tgtEl>
                                          <p:spTgt spid="111"/>
                                        </p:tgtEl>
                                      </p:cBhvr>
                                      <p:to x="100000" y="95000"/>
                                    </p:animScale>
                                    <p:animScale>
                                      <p:cBhvr>
                                        <p:cTn id="20" dur="166" decel="50000">
                                          <p:stCondLst>
                                            <p:cond delay="1834"/>
                                          </p:stCondLst>
                                        </p:cTn>
                                        <p:tgtEl>
                                          <p:spTgt spid="111"/>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98"/>
                                        </p:tgtEl>
                                        <p:attrNameLst>
                                          <p:attrName>style.visibility</p:attrName>
                                        </p:attrNameLst>
                                      </p:cBhvr>
                                      <p:to>
                                        <p:strVal val="visible"/>
                                      </p:to>
                                    </p:set>
                                    <p:animEffect transition="in" filter="wipe(down)">
                                      <p:cBhvr>
                                        <p:cTn id="23" dur="580">
                                          <p:stCondLst>
                                            <p:cond delay="0"/>
                                          </p:stCondLst>
                                        </p:cTn>
                                        <p:tgtEl>
                                          <p:spTgt spid="98"/>
                                        </p:tgtEl>
                                      </p:cBhvr>
                                    </p:animEffect>
                                    <p:anim calcmode="lin" valueType="num">
                                      <p:cBhvr>
                                        <p:cTn id="24" dur="1822" tmFilter="0,0; 0.14,0.36; 0.43,0.73; 0.71,0.91; 1.0,1.0">
                                          <p:stCondLst>
                                            <p:cond delay="0"/>
                                          </p:stCondLst>
                                        </p:cTn>
                                        <p:tgtEl>
                                          <p:spTgt spid="98"/>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98"/>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98"/>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98"/>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98"/>
                                        </p:tgtEl>
                                        <p:attrNameLst>
                                          <p:attrName>ppt_y</p:attrName>
                                        </p:attrNameLst>
                                      </p:cBhvr>
                                      <p:tavLst>
                                        <p:tav tm="0" fmla="#ppt_y-sin(pi*$)/81">
                                          <p:val>
                                            <p:fltVal val="0"/>
                                          </p:val>
                                        </p:tav>
                                        <p:tav tm="100000">
                                          <p:val>
                                            <p:fltVal val="1"/>
                                          </p:val>
                                        </p:tav>
                                      </p:tavLst>
                                    </p:anim>
                                    <p:animScale>
                                      <p:cBhvr>
                                        <p:cTn id="29" dur="26">
                                          <p:stCondLst>
                                            <p:cond delay="650"/>
                                          </p:stCondLst>
                                        </p:cTn>
                                        <p:tgtEl>
                                          <p:spTgt spid="98"/>
                                        </p:tgtEl>
                                      </p:cBhvr>
                                      <p:to x="100000" y="60000"/>
                                    </p:animScale>
                                    <p:animScale>
                                      <p:cBhvr>
                                        <p:cTn id="30" dur="166" decel="50000">
                                          <p:stCondLst>
                                            <p:cond delay="676"/>
                                          </p:stCondLst>
                                        </p:cTn>
                                        <p:tgtEl>
                                          <p:spTgt spid="98"/>
                                        </p:tgtEl>
                                      </p:cBhvr>
                                      <p:to x="100000" y="100000"/>
                                    </p:animScale>
                                    <p:animScale>
                                      <p:cBhvr>
                                        <p:cTn id="31" dur="26">
                                          <p:stCondLst>
                                            <p:cond delay="1312"/>
                                          </p:stCondLst>
                                        </p:cTn>
                                        <p:tgtEl>
                                          <p:spTgt spid="98"/>
                                        </p:tgtEl>
                                      </p:cBhvr>
                                      <p:to x="100000" y="80000"/>
                                    </p:animScale>
                                    <p:animScale>
                                      <p:cBhvr>
                                        <p:cTn id="32" dur="166" decel="50000">
                                          <p:stCondLst>
                                            <p:cond delay="1338"/>
                                          </p:stCondLst>
                                        </p:cTn>
                                        <p:tgtEl>
                                          <p:spTgt spid="98"/>
                                        </p:tgtEl>
                                      </p:cBhvr>
                                      <p:to x="100000" y="100000"/>
                                    </p:animScale>
                                    <p:animScale>
                                      <p:cBhvr>
                                        <p:cTn id="33" dur="26">
                                          <p:stCondLst>
                                            <p:cond delay="1642"/>
                                          </p:stCondLst>
                                        </p:cTn>
                                        <p:tgtEl>
                                          <p:spTgt spid="98"/>
                                        </p:tgtEl>
                                      </p:cBhvr>
                                      <p:to x="100000" y="90000"/>
                                    </p:animScale>
                                    <p:animScale>
                                      <p:cBhvr>
                                        <p:cTn id="34" dur="166" decel="50000">
                                          <p:stCondLst>
                                            <p:cond delay="1668"/>
                                          </p:stCondLst>
                                        </p:cTn>
                                        <p:tgtEl>
                                          <p:spTgt spid="98"/>
                                        </p:tgtEl>
                                      </p:cBhvr>
                                      <p:to x="100000" y="100000"/>
                                    </p:animScale>
                                    <p:animScale>
                                      <p:cBhvr>
                                        <p:cTn id="35" dur="26">
                                          <p:stCondLst>
                                            <p:cond delay="1808"/>
                                          </p:stCondLst>
                                        </p:cTn>
                                        <p:tgtEl>
                                          <p:spTgt spid="98"/>
                                        </p:tgtEl>
                                      </p:cBhvr>
                                      <p:to x="100000" y="95000"/>
                                    </p:animScale>
                                    <p:animScale>
                                      <p:cBhvr>
                                        <p:cTn id="36" dur="166" decel="50000">
                                          <p:stCondLst>
                                            <p:cond delay="1834"/>
                                          </p:stCondLst>
                                        </p:cTn>
                                        <p:tgtEl>
                                          <p:spTgt spid="98"/>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99"/>
                                        </p:tgtEl>
                                        <p:attrNameLst>
                                          <p:attrName>style.visibility</p:attrName>
                                        </p:attrNameLst>
                                      </p:cBhvr>
                                      <p:to>
                                        <p:strVal val="visible"/>
                                      </p:to>
                                    </p:set>
                                    <p:animEffect transition="in" filter="wipe(down)">
                                      <p:cBhvr>
                                        <p:cTn id="39" dur="580">
                                          <p:stCondLst>
                                            <p:cond delay="0"/>
                                          </p:stCondLst>
                                        </p:cTn>
                                        <p:tgtEl>
                                          <p:spTgt spid="99"/>
                                        </p:tgtEl>
                                      </p:cBhvr>
                                    </p:animEffect>
                                    <p:anim calcmode="lin" valueType="num">
                                      <p:cBhvr>
                                        <p:cTn id="40" dur="1822" tmFilter="0,0; 0.14,0.36; 0.43,0.73; 0.71,0.91; 1.0,1.0">
                                          <p:stCondLst>
                                            <p:cond delay="0"/>
                                          </p:stCondLst>
                                        </p:cTn>
                                        <p:tgtEl>
                                          <p:spTgt spid="99"/>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99"/>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99"/>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99"/>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99"/>
                                        </p:tgtEl>
                                        <p:attrNameLst>
                                          <p:attrName>ppt_y</p:attrName>
                                        </p:attrNameLst>
                                      </p:cBhvr>
                                      <p:tavLst>
                                        <p:tav tm="0" fmla="#ppt_y-sin(pi*$)/81">
                                          <p:val>
                                            <p:fltVal val="0"/>
                                          </p:val>
                                        </p:tav>
                                        <p:tav tm="100000">
                                          <p:val>
                                            <p:fltVal val="1"/>
                                          </p:val>
                                        </p:tav>
                                      </p:tavLst>
                                    </p:anim>
                                    <p:animScale>
                                      <p:cBhvr>
                                        <p:cTn id="45" dur="26">
                                          <p:stCondLst>
                                            <p:cond delay="650"/>
                                          </p:stCondLst>
                                        </p:cTn>
                                        <p:tgtEl>
                                          <p:spTgt spid="99"/>
                                        </p:tgtEl>
                                      </p:cBhvr>
                                      <p:to x="100000" y="60000"/>
                                    </p:animScale>
                                    <p:animScale>
                                      <p:cBhvr>
                                        <p:cTn id="46" dur="166" decel="50000">
                                          <p:stCondLst>
                                            <p:cond delay="676"/>
                                          </p:stCondLst>
                                        </p:cTn>
                                        <p:tgtEl>
                                          <p:spTgt spid="99"/>
                                        </p:tgtEl>
                                      </p:cBhvr>
                                      <p:to x="100000" y="100000"/>
                                    </p:animScale>
                                    <p:animScale>
                                      <p:cBhvr>
                                        <p:cTn id="47" dur="26">
                                          <p:stCondLst>
                                            <p:cond delay="1312"/>
                                          </p:stCondLst>
                                        </p:cTn>
                                        <p:tgtEl>
                                          <p:spTgt spid="99"/>
                                        </p:tgtEl>
                                      </p:cBhvr>
                                      <p:to x="100000" y="80000"/>
                                    </p:animScale>
                                    <p:animScale>
                                      <p:cBhvr>
                                        <p:cTn id="48" dur="166" decel="50000">
                                          <p:stCondLst>
                                            <p:cond delay="1338"/>
                                          </p:stCondLst>
                                        </p:cTn>
                                        <p:tgtEl>
                                          <p:spTgt spid="99"/>
                                        </p:tgtEl>
                                      </p:cBhvr>
                                      <p:to x="100000" y="100000"/>
                                    </p:animScale>
                                    <p:animScale>
                                      <p:cBhvr>
                                        <p:cTn id="49" dur="26">
                                          <p:stCondLst>
                                            <p:cond delay="1642"/>
                                          </p:stCondLst>
                                        </p:cTn>
                                        <p:tgtEl>
                                          <p:spTgt spid="99"/>
                                        </p:tgtEl>
                                      </p:cBhvr>
                                      <p:to x="100000" y="90000"/>
                                    </p:animScale>
                                    <p:animScale>
                                      <p:cBhvr>
                                        <p:cTn id="50" dur="166" decel="50000">
                                          <p:stCondLst>
                                            <p:cond delay="1668"/>
                                          </p:stCondLst>
                                        </p:cTn>
                                        <p:tgtEl>
                                          <p:spTgt spid="99"/>
                                        </p:tgtEl>
                                      </p:cBhvr>
                                      <p:to x="100000" y="100000"/>
                                    </p:animScale>
                                    <p:animScale>
                                      <p:cBhvr>
                                        <p:cTn id="51" dur="26">
                                          <p:stCondLst>
                                            <p:cond delay="1808"/>
                                          </p:stCondLst>
                                        </p:cTn>
                                        <p:tgtEl>
                                          <p:spTgt spid="99"/>
                                        </p:tgtEl>
                                      </p:cBhvr>
                                      <p:to x="100000" y="95000"/>
                                    </p:animScale>
                                    <p:animScale>
                                      <p:cBhvr>
                                        <p:cTn id="52" dur="166" decel="50000">
                                          <p:stCondLst>
                                            <p:cond delay="1834"/>
                                          </p:stCondLst>
                                        </p:cTn>
                                        <p:tgtEl>
                                          <p:spTgt spid="99"/>
                                        </p:tgtEl>
                                      </p:cBhvr>
                                      <p:to x="100000" y="100000"/>
                                    </p:animScale>
                                  </p:childTnLst>
                                </p:cTn>
                              </p:par>
                              <p:par>
                                <p:cTn id="53" presetID="26" presetClass="entr" presetSubtype="0" fill="hold" grpId="0" nodeType="withEffect">
                                  <p:stCondLst>
                                    <p:cond delay="0"/>
                                  </p:stCondLst>
                                  <p:childTnLst>
                                    <p:set>
                                      <p:cBhvr>
                                        <p:cTn id="54" dur="1" fill="hold">
                                          <p:stCondLst>
                                            <p:cond delay="0"/>
                                          </p:stCondLst>
                                        </p:cTn>
                                        <p:tgtEl>
                                          <p:spTgt spid="100"/>
                                        </p:tgtEl>
                                        <p:attrNameLst>
                                          <p:attrName>style.visibility</p:attrName>
                                        </p:attrNameLst>
                                      </p:cBhvr>
                                      <p:to>
                                        <p:strVal val="visible"/>
                                      </p:to>
                                    </p:set>
                                    <p:animEffect transition="in" filter="wipe(down)">
                                      <p:cBhvr>
                                        <p:cTn id="55" dur="580">
                                          <p:stCondLst>
                                            <p:cond delay="0"/>
                                          </p:stCondLst>
                                        </p:cTn>
                                        <p:tgtEl>
                                          <p:spTgt spid="100"/>
                                        </p:tgtEl>
                                      </p:cBhvr>
                                    </p:animEffect>
                                    <p:anim calcmode="lin" valueType="num">
                                      <p:cBhvr>
                                        <p:cTn id="56" dur="1822" tmFilter="0,0; 0.14,0.36; 0.43,0.73; 0.71,0.91; 1.0,1.0">
                                          <p:stCondLst>
                                            <p:cond delay="0"/>
                                          </p:stCondLst>
                                        </p:cTn>
                                        <p:tgtEl>
                                          <p:spTgt spid="100"/>
                                        </p:tgtEl>
                                        <p:attrNameLst>
                                          <p:attrName>ppt_x</p:attrName>
                                        </p:attrNameLst>
                                      </p:cBhvr>
                                      <p:tavLst>
                                        <p:tav tm="0">
                                          <p:val>
                                            <p:strVal val="#ppt_x-0.25"/>
                                          </p:val>
                                        </p:tav>
                                        <p:tav tm="100000">
                                          <p:val>
                                            <p:strVal val="#ppt_x"/>
                                          </p:val>
                                        </p:tav>
                                      </p:tavLst>
                                    </p:anim>
                                    <p:anim calcmode="lin" valueType="num">
                                      <p:cBhvr>
                                        <p:cTn id="57" dur="664" tmFilter="0.0,0.0; 0.25,0.07; 0.50,0.2; 0.75,0.467; 1.0,1.0">
                                          <p:stCondLst>
                                            <p:cond delay="0"/>
                                          </p:stCondLst>
                                        </p:cTn>
                                        <p:tgtEl>
                                          <p:spTgt spid="100"/>
                                        </p:tgtEl>
                                        <p:attrNameLst>
                                          <p:attrName>ppt_y</p:attrName>
                                        </p:attrNameLst>
                                      </p:cBhvr>
                                      <p:tavLst>
                                        <p:tav tm="0" fmla="#ppt_y-sin(pi*$)/3">
                                          <p:val>
                                            <p:fltVal val="0.5"/>
                                          </p:val>
                                        </p:tav>
                                        <p:tav tm="100000">
                                          <p:val>
                                            <p:fltVal val="1"/>
                                          </p:val>
                                        </p:tav>
                                      </p:tavLst>
                                    </p:anim>
                                    <p:anim calcmode="lin" valueType="num">
                                      <p:cBhvr>
                                        <p:cTn id="58" dur="664" tmFilter="0, 0; 0.125,0.2665; 0.25,0.4; 0.375,0.465; 0.5,0.5;  0.625,0.535; 0.75,0.6; 0.875,0.7335; 1,1">
                                          <p:stCondLst>
                                            <p:cond delay="664"/>
                                          </p:stCondLst>
                                        </p:cTn>
                                        <p:tgtEl>
                                          <p:spTgt spid="100"/>
                                        </p:tgtEl>
                                        <p:attrNameLst>
                                          <p:attrName>ppt_y</p:attrName>
                                        </p:attrNameLst>
                                      </p:cBhvr>
                                      <p:tavLst>
                                        <p:tav tm="0" fmla="#ppt_y-sin(pi*$)/9">
                                          <p:val>
                                            <p:fltVal val="0"/>
                                          </p:val>
                                        </p:tav>
                                        <p:tav tm="100000">
                                          <p:val>
                                            <p:fltVal val="1"/>
                                          </p:val>
                                        </p:tav>
                                      </p:tavLst>
                                    </p:anim>
                                    <p:anim calcmode="lin" valueType="num">
                                      <p:cBhvr>
                                        <p:cTn id="59" dur="332" tmFilter="0, 0; 0.125,0.2665; 0.25,0.4; 0.375,0.465; 0.5,0.5;  0.625,0.535; 0.75,0.6; 0.875,0.7335; 1,1">
                                          <p:stCondLst>
                                            <p:cond delay="1324"/>
                                          </p:stCondLst>
                                        </p:cTn>
                                        <p:tgtEl>
                                          <p:spTgt spid="100"/>
                                        </p:tgtEl>
                                        <p:attrNameLst>
                                          <p:attrName>ppt_y</p:attrName>
                                        </p:attrNameLst>
                                      </p:cBhvr>
                                      <p:tavLst>
                                        <p:tav tm="0" fmla="#ppt_y-sin(pi*$)/27">
                                          <p:val>
                                            <p:fltVal val="0"/>
                                          </p:val>
                                        </p:tav>
                                        <p:tav tm="100000">
                                          <p:val>
                                            <p:fltVal val="1"/>
                                          </p:val>
                                        </p:tav>
                                      </p:tavLst>
                                    </p:anim>
                                    <p:anim calcmode="lin" valueType="num">
                                      <p:cBhvr>
                                        <p:cTn id="60" dur="164" tmFilter="0, 0; 0.125,0.2665; 0.25,0.4; 0.375,0.465; 0.5,0.5;  0.625,0.535; 0.75,0.6; 0.875,0.7335; 1,1">
                                          <p:stCondLst>
                                            <p:cond delay="1656"/>
                                          </p:stCondLst>
                                        </p:cTn>
                                        <p:tgtEl>
                                          <p:spTgt spid="100"/>
                                        </p:tgtEl>
                                        <p:attrNameLst>
                                          <p:attrName>ppt_y</p:attrName>
                                        </p:attrNameLst>
                                      </p:cBhvr>
                                      <p:tavLst>
                                        <p:tav tm="0" fmla="#ppt_y-sin(pi*$)/81">
                                          <p:val>
                                            <p:fltVal val="0"/>
                                          </p:val>
                                        </p:tav>
                                        <p:tav tm="100000">
                                          <p:val>
                                            <p:fltVal val="1"/>
                                          </p:val>
                                        </p:tav>
                                      </p:tavLst>
                                    </p:anim>
                                    <p:animScale>
                                      <p:cBhvr>
                                        <p:cTn id="61" dur="26">
                                          <p:stCondLst>
                                            <p:cond delay="650"/>
                                          </p:stCondLst>
                                        </p:cTn>
                                        <p:tgtEl>
                                          <p:spTgt spid="100"/>
                                        </p:tgtEl>
                                      </p:cBhvr>
                                      <p:to x="100000" y="60000"/>
                                    </p:animScale>
                                    <p:animScale>
                                      <p:cBhvr>
                                        <p:cTn id="62" dur="166" decel="50000">
                                          <p:stCondLst>
                                            <p:cond delay="676"/>
                                          </p:stCondLst>
                                        </p:cTn>
                                        <p:tgtEl>
                                          <p:spTgt spid="100"/>
                                        </p:tgtEl>
                                      </p:cBhvr>
                                      <p:to x="100000" y="100000"/>
                                    </p:animScale>
                                    <p:animScale>
                                      <p:cBhvr>
                                        <p:cTn id="63" dur="26">
                                          <p:stCondLst>
                                            <p:cond delay="1312"/>
                                          </p:stCondLst>
                                        </p:cTn>
                                        <p:tgtEl>
                                          <p:spTgt spid="100"/>
                                        </p:tgtEl>
                                      </p:cBhvr>
                                      <p:to x="100000" y="80000"/>
                                    </p:animScale>
                                    <p:animScale>
                                      <p:cBhvr>
                                        <p:cTn id="64" dur="166" decel="50000">
                                          <p:stCondLst>
                                            <p:cond delay="1338"/>
                                          </p:stCondLst>
                                        </p:cTn>
                                        <p:tgtEl>
                                          <p:spTgt spid="100"/>
                                        </p:tgtEl>
                                      </p:cBhvr>
                                      <p:to x="100000" y="100000"/>
                                    </p:animScale>
                                    <p:animScale>
                                      <p:cBhvr>
                                        <p:cTn id="65" dur="26">
                                          <p:stCondLst>
                                            <p:cond delay="1642"/>
                                          </p:stCondLst>
                                        </p:cTn>
                                        <p:tgtEl>
                                          <p:spTgt spid="100"/>
                                        </p:tgtEl>
                                      </p:cBhvr>
                                      <p:to x="100000" y="90000"/>
                                    </p:animScale>
                                    <p:animScale>
                                      <p:cBhvr>
                                        <p:cTn id="66" dur="166" decel="50000">
                                          <p:stCondLst>
                                            <p:cond delay="1668"/>
                                          </p:stCondLst>
                                        </p:cTn>
                                        <p:tgtEl>
                                          <p:spTgt spid="100"/>
                                        </p:tgtEl>
                                      </p:cBhvr>
                                      <p:to x="100000" y="100000"/>
                                    </p:animScale>
                                    <p:animScale>
                                      <p:cBhvr>
                                        <p:cTn id="67" dur="26">
                                          <p:stCondLst>
                                            <p:cond delay="1808"/>
                                          </p:stCondLst>
                                        </p:cTn>
                                        <p:tgtEl>
                                          <p:spTgt spid="100"/>
                                        </p:tgtEl>
                                      </p:cBhvr>
                                      <p:to x="100000" y="95000"/>
                                    </p:animScale>
                                    <p:animScale>
                                      <p:cBhvr>
                                        <p:cTn id="68" dur="166" decel="50000">
                                          <p:stCondLst>
                                            <p:cond delay="1834"/>
                                          </p:stCondLst>
                                        </p:cTn>
                                        <p:tgtEl>
                                          <p:spTgt spid="100"/>
                                        </p:tgtEl>
                                      </p:cBhvr>
                                      <p:to x="100000" y="100000"/>
                                    </p:animScale>
                                  </p:childTnLst>
                                </p:cTn>
                              </p:par>
                              <p:par>
                                <p:cTn id="69" presetID="26" presetClass="entr" presetSubtype="0" fill="hold" grpId="0" nodeType="withEffect">
                                  <p:stCondLst>
                                    <p:cond delay="0"/>
                                  </p:stCondLst>
                                  <p:childTnLst>
                                    <p:set>
                                      <p:cBhvr>
                                        <p:cTn id="70" dur="1" fill="hold">
                                          <p:stCondLst>
                                            <p:cond delay="0"/>
                                          </p:stCondLst>
                                        </p:cTn>
                                        <p:tgtEl>
                                          <p:spTgt spid="101"/>
                                        </p:tgtEl>
                                        <p:attrNameLst>
                                          <p:attrName>style.visibility</p:attrName>
                                        </p:attrNameLst>
                                      </p:cBhvr>
                                      <p:to>
                                        <p:strVal val="visible"/>
                                      </p:to>
                                    </p:set>
                                    <p:animEffect transition="in" filter="wipe(down)">
                                      <p:cBhvr>
                                        <p:cTn id="71" dur="580">
                                          <p:stCondLst>
                                            <p:cond delay="0"/>
                                          </p:stCondLst>
                                        </p:cTn>
                                        <p:tgtEl>
                                          <p:spTgt spid="101"/>
                                        </p:tgtEl>
                                      </p:cBhvr>
                                    </p:animEffect>
                                    <p:anim calcmode="lin" valueType="num">
                                      <p:cBhvr>
                                        <p:cTn id="72" dur="1822" tmFilter="0,0; 0.14,0.36; 0.43,0.73; 0.71,0.91; 1.0,1.0">
                                          <p:stCondLst>
                                            <p:cond delay="0"/>
                                          </p:stCondLst>
                                        </p:cTn>
                                        <p:tgtEl>
                                          <p:spTgt spid="101"/>
                                        </p:tgtEl>
                                        <p:attrNameLst>
                                          <p:attrName>ppt_x</p:attrName>
                                        </p:attrNameLst>
                                      </p:cBhvr>
                                      <p:tavLst>
                                        <p:tav tm="0">
                                          <p:val>
                                            <p:strVal val="#ppt_x-0.25"/>
                                          </p:val>
                                        </p:tav>
                                        <p:tav tm="100000">
                                          <p:val>
                                            <p:strVal val="#ppt_x"/>
                                          </p:val>
                                        </p:tav>
                                      </p:tavLst>
                                    </p:anim>
                                    <p:anim calcmode="lin" valueType="num">
                                      <p:cBhvr>
                                        <p:cTn id="73" dur="664" tmFilter="0.0,0.0; 0.25,0.07; 0.50,0.2; 0.75,0.467; 1.0,1.0">
                                          <p:stCondLst>
                                            <p:cond delay="0"/>
                                          </p:stCondLst>
                                        </p:cTn>
                                        <p:tgtEl>
                                          <p:spTgt spid="101"/>
                                        </p:tgtEl>
                                        <p:attrNameLst>
                                          <p:attrName>ppt_y</p:attrName>
                                        </p:attrNameLst>
                                      </p:cBhvr>
                                      <p:tavLst>
                                        <p:tav tm="0" fmla="#ppt_y-sin(pi*$)/3">
                                          <p:val>
                                            <p:fltVal val="0.5"/>
                                          </p:val>
                                        </p:tav>
                                        <p:tav tm="100000">
                                          <p:val>
                                            <p:fltVal val="1"/>
                                          </p:val>
                                        </p:tav>
                                      </p:tavLst>
                                    </p:anim>
                                    <p:anim calcmode="lin" valueType="num">
                                      <p:cBhvr>
                                        <p:cTn id="74" dur="664" tmFilter="0, 0; 0.125,0.2665; 0.25,0.4; 0.375,0.465; 0.5,0.5;  0.625,0.535; 0.75,0.6; 0.875,0.7335; 1,1">
                                          <p:stCondLst>
                                            <p:cond delay="664"/>
                                          </p:stCondLst>
                                        </p:cTn>
                                        <p:tgtEl>
                                          <p:spTgt spid="101"/>
                                        </p:tgtEl>
                                        <p:attrNameLst>
                                          <p:attrName>ppt_y</p:attrName>
                                        </p:attrNameLst>
                                      </p:cBhvr>
                                      <p:tavLst>
                                        <p:tav tm="0" fmla="#ppt_y-sin(pi*$)/9">
                                          <p:val>
                                            <p:fltVal val="0"/>
                                          </p:val>
                                        </p:tav>
                                        <p:tav tm="100000">
                                          <p:val>
                                            <p:fltVal val="1"/>
                                          </p:val>
                                        </p:tav>
                                      </p:tavLst>
                                    </p:anim>
                                    <p:anim calcmode="lin" valueType="num">
                                      <p:cBhvr>
                                        <p:cTn id="75" dur="332" tmFilter="0, 0; 0.125,0.2665; 0.25,0.4; 0.375,0.465; 0.5,0.5;  0.625,0.535; 0.75,0.6; 0.875,0.7335; 1,1">
                                          <p:stCondLst>
                                            <p:cond delay="1324"/>
                                          </p:stCondLst>
                                        </p:cTn>
                                        <p:tgtEl>
                                          <p:spTgt spid="101"/>
                                        </p:tgtEl>
                                        <p:attrNameLst>
                                          <p:attrName>ppt_y</p:attrName>
                                        </p:attrNameLst>
                                      </p:cBhvr>
                                      <p:tavLst>
                                        <p:tav tm="0" fmla="#ppt_y-sin(pi*$)/27">
                                          <p:val>
                                            <p:fltVal val="0"/>
                                          </p:val>
                                        </p:tav>
                                        <p:tav tm="100000">
                                          <p:val>
                                            <p:fltVal val="1"/>
                                          </p:val>
                                        </p:tav>
                                      </p:tavLst>
                                    </p:anim>
                                    <p:anim calcmode="lin" valueType="num">
                                      <p:cBhvr>
                                        <p:cTn id="76" dur="164" tmFilter="0, 0; 0.125,0.2665; 0.25,0.4; 0.375,0.465; 0.5,0.5;  0.625,0.535; 0.75,0.6; 0.875,0.7335; 1,1">
                                          <p:stCondLst>
                                            <p:cond delay="1656"/>
                                          </p:stCondLst>
                                        </p:cTn>
                                        <p:tgtEl>
                                          <p:spTgt spid="101"/>
                                        </p:tgtEl>
                                        <p:attrNameLst>
                                          <p:attrName>ppt_y</p:attrName>
                                        </p:attrNameLst>
                                      </p:cBhvr>
                                      <p:tavLst>
                                        <p:tav tm="0" fmla="#ppt_y-sin(pi*$)/81">
                                          <p:val>
                                            <p:fltVal val="0"/>
                                          </p:val>
                                        </p:tav>
                                        <p:tav tm="100000">
                                          <p:val>
                                            <p:fltVal val="1"/>
                                          </p:val>
                                        </p:tav>
                                      </p:tavLst>
                                    </p:anim>
                                    <p:animScale>
                                      <p:cBhvr>
                                        <p:cTn id="77" dur="26">
                                          <p:stCondLst>
                                            <p:cond delay="650"/>
                                          </p:stCondLst>
                                        </p:cTn>
                                        <p:tgtEl>
                                          <p:spTgt spid="101"/>
                                        </p:tgtEl>
                                      </p:cBhvr>
                                      <p:to x="100000" y="60000"/>
                                    </p:animScale>
                                    <p:animScale>
                                      <p:cBhvr>
                                        <p:cTn id="78" dur="166" decel="50000">
                                          <p:stCondLst>
                                            <p:cond delay="676"/>
                                          </p:stCondLst>
                                        </p:cTn>
                                        <p:tgtEl>
                                          <p:spTgt spid="101"/>
                                        </p:tgtEl>
                                      </p:cBhvr>
                                      <p:to x="100000" y="100000"/>
                                    </p:animScale>
                                    <p:animScale>
                                      <p:cBhvr>
                                        <p:cTn id="79" dur="26">
                                          <p:stCondLst>
                                            <p:cond delay="1312"/>
                                          </p:stCondLst>
                                        </p:cTn>
                                        <p:tgtEl>
                                          <p:spTgt spid="101"/>
                                        </p:tgtEl>
                                      </p:cBhvr>
                                      <p:to x="100000" y="80000"/>
                                    </p:animScale>
                                    <p:animScale>
                                      <p:cBhvr>
                                        <p:cTn id="80" dur="166" decel="50000">
                                          <p:stCondLst>
                                            <p:cond delay="1338"/>
                                          </p:stCondLst>
                                        </p:cTn>
                                        <p:tgtEl>
                                          <p:spTgt spid="101"/>
                                        </p:tgtEl>
                                      </p:cBhvr>
                                      <p:to x="100000" y="100000"/>
                                    </p:animScale>
                                    <p:animScale>
                                      <p:cBhvr>
                                        <p:cTn id="81" dur="26">
                                          <p:stCondLst>
                                            <p:cond delay="1642"/>
                                          </p:stCondLst>
                                        </p:cTn>
                                        <p:tgtEl>
                                          <p:spTgt spid="101"/>
                                        </p:tgtEl>
                                      </p:cBhvr>
                                      <p:to x="100000" y="90000"/>
                                    </p:animScale>
                                    <p:animScale>
                                      <p:cBhvr>
                                        <p:cTn id="82" dur="166" decel="50000">
                                          <p:stCondLst>
                                            <p:cond delay="1668"/>
                                          </p:stCondLst>
                                        </p:cTn>
                                        <p:tgtEl>
                                          <p:spTgt spid="101"/>
                                        </p:tgtEl>
                                      </p:cBhvr>
                                      <p:to x="100000" y="100000"/>
                                    </p:animScale>
                                    <p:animScale>
                                      <p:cBhvr>
                                        <p:cTn id="83" dur="26">
                                          <p:stCondLst>
                                            <p:cond delay="1808"/>
                                          </p:stCondLst>
                                        </p:cTn>
                                        <p:tgtEl>
                                          <p:spTgt spid="101"/>
                                        </p:tgtEl>
                                      </p:cBhvr>
                                      <p:to x="100000" y="95000"/>
                                    </p:animScale>
                                    <p:animScale>
                                      <p:cBhvr>
                                        <p:cTn id="84" dur="166" decel="50000">
                                          <p:stCondLst>
                                            <p:cond delay="1834"/>
                                          </p:stCondLst>
                                        </p:cTn>
                                        <p:tgtEl>
                                          <p:spTgt spid="101"/>
                                        </p:tgtEl>
                                      </p:cBhvr>
                                      <p:to x="100000" y="100000"/>
                                    </p:animScale>
                                  </p:childTnLst>
                                </p:cTn>
                              </p:par>
                              <p:par>
                                <p:cTn id="85" presetID="26" presetClass="entr" presetSubtype="0" fill="hold" grpId="0" nodeType="withEffect">
                                  <p:stCondLst>
                                    <p:cond delay="0"/>
                                  </p:stCondLst>
                                  <p:childTnLst>
                                    <p:set>
                                      <p:cBhvr>
                                        <p:cTn id="86" dur="1" fill="hold">
                                          <p:stCondLst>
                                            <p:cond delay="0"/>
                                          </p:stCondLst>
                                        </p:cTn>
                                        <p:tgtEl>
                                          <p:spTgt spid="102"/>
                                        </p:tgtEl>
                                        <p:attrNameLst>
                                          <p:attrName>style.visibility</p:attrName>
                                        </p:attrNameLst>
                                      </p:cBhvr>
                                      <p:to>
                                        <p:strVal val="visible"/>
                                      </p:to>
                                    </p:set>
                                    <p:animEffect transition="in" filter="wipe(down)">
                                      <p:cBhvr>
                                        <p:cTn id="87" dur="580">
                                          <p:stCondLst>
                                            <p:cond delay="0"/>
                                          </p:stCondLst>
                                        </p:cTn>
                                        <p:tgtEl>
                                          <p:spTgt spid="102"/>
                                        </p:tgtEl>
                                      </p:cBhvr>
                                    </p:animEffect>
                                    <p:anim calcmode="lin" valueType="num">
                                      <p:cBhvr>
                                        <p:cTn id="88" dur="1822" tmFilter="0,0; 0.14,0.36; 0.43,0.73; 0.71,0.91; 1.0,1.0">
                                          <p:stCondLst>
                                            <p:cond delay="0"/>
                                          </p:stCondLst>
                                        </p:cTn>
                                        <p:tgtEl>
                                          <p:spTgt spid="102"/>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102"/>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102"/>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102"/>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102"/>
                                        </p:tgtEl>
                                        <p:attrNameLst>
                                          <p:attrName>ppt_y</p:attrName>
                                        </p:attrNameLst>
                                      </p:cBhvr>
                                      <p:tavLst>
                                        <p:tav tm="0" fmla="#ppt_y-sin(pi*$)/81">
                                          <p:val>
                                            <p:fltVal val="0"/>
                                          </p:val>
                                        </p:tav>
                                        <p:tav tm="100000">
                                          <p:val>
                                            <p:fltVal val="1"/>
                                          </p:val>
                                        </p:tav>
                                      </p:tavLst>
                                    </p:anim>
                                    <p:animScale>
                                      <p:cBhvr>
                                        <p:cTn id="93" dur="26">
                                          <p:stCondLst>
                                            <p:cond delay="650"/>
                                          </p:stCondLst>
                                        </p:cTn>
                                        <p:tgtEl>
                                          <p:spTgt spid="102"/>
                                        </p:tgtEl>
                                      </p:cBhvr>
                                      <p:to x="100000" y="60000"/>
                                    </p:animScale>
                                    <p:animScale>
                                      <p:cBhvr>
                                        <p:cTn id="94" dur="166" decel="50000">
                                          <p:stCondLst>
                                            <p:cond delay="676"/>
                                          </p:stCondLst>
                                        </p:cTn>
                                        <p:tgtEl>
                                          <p:spTgt spid="102"/>
                                        </p:tgtEl>
                                      </p:cBhvr>
                                      <p:to x="100000" y="100000"/>
                                    </p:animScale>
                                    <p:animScale>
                                      <p:cBhvr>
                                        <p:cTn id="95" dur="26">
                                          <p:stCondLst>
                                            <p:cond delay="1312"/>
                                          </p:stCondLst>
                                        </p:cTn>
                                        <p:tgtEl>
                                          <p:spTgt spid="102"/>
                                        </p:tgtEl>
                                      </p:cBhvr>
                                      <p:to x="100000" y="80000"/>
                                    </p:animScale>
                                    <p:animScale>
                                      <p:cBhvr>
                                        <p:cTn id="96" dur="166" decel="50000">
                                          <p:stCondLst>
                                            <p:cond delay="1338"/>
                                          </p:stCondLst>
                                        </p:cTn>
                                        <p:tgtEl>
                                          <p:spTgt spid="102"/>
                                        </p:tgtEl>
                                      </p:cBhvr>
                                      <p:to x="100000" y="100000"/>
                                    </p:animScale>
                                    <p:animScale>
                                      <p:cBhvr>
                                        <p:cTn id="97" dur="26">
                                          <p:stCondLst>
                                            <p:cond delay="1642"/>
                                          </p:stCondLst>
                                        </p:cTn>
                                        <p:tgtEl>
                                          <p:spTgt spid="102"/>
                                        </p:tgtEl>
                                      </p:cBhvr>
                                      <p:to x="100000" y="90000"/>
                                    </p:animScale>
                                    <p:animScale>
                                      <p:cBhvr>
                                        <p:cTn id="98" dur="166" decel="50000">
                                          <p:stCondLst>
                                            <p:cond delay="1668"/>
                                          </p:stCondLst>
                                        </p:cTn>
                                        <p:tgtEl>
                                          <p:spTgt spid="102"/>
                                        </p:tgtEl>
                                      </p:cBhvr>
                                      <p:to x="100000" y="100000"/>
                                    </p:animScale>
                                    <p:animScale>
                                      <p:cBhvr>
                                        <p:cTn id="99" dur="26">
                                          <p:stCondLst>
                                            <p:cond delay="1808"/>
                                          </p:stCondLst>
                                        </p:cTn>
                                        <p:tgtEl>
                                          <p:spTgt spid="102"/>
                                        </p:tgtEl>
                                      </p:cBhvr>
                                      <p:to x="100000" y="95000"/>
                                    </p:animScale>
                                    <p:animScale>
                                      <p:cBhvr>
                                        <p:cTn id="100" dur="166" decel="50000">
                                          <p:stCondLst>
                                            <p:cond delay="1834"/>
                                          </p:stCondLst>
                                        </p:cTn>
                                        <p:tgtEl>
                                          <p:spTgt spid="102"/>
                                        </p:tgtEl>
                                      </p:cBhvr>
                                      <p:to x="100000" y="100000"/>
                                    </p:animScale>
                                  </p:childTnLst>
                                </p:cTn>
                              </p:par>
                              <p:par>
                                <p:cTn id="101" presetID="26" presetClass="entr" presetSubtype="0" fill="hold" grpId="0" nodeType="withEffect">
                                  <p:stCondLst>
                                    <p:cond delay="0"/>
                                  </p:stCondLst>
                                  <p:childTnLst>
                                    <p:set>
                                      <p:cBhvr>
                                        <p:cTn id="102" dur="1" fill="hold">
                                          <p:stCondLst>
                                            <p:cond delay="0"/>
                                          </p:stCondLst>
                                        </p:cTn>
                                        <p:tgtEl>
                                          <p:spTgt spid="103"/>
                                        </p:tgtEl>
                                        <p:attrNameLst>
                                          <p:attrName>style.visibility</p:attrName>
                                        </p:attrNameLst>
                                      </p:cBhvr>
                                      <p:to>
                                        <p:strVal val="visible"/>
                                      </p:to>
                                    </p:set>
                                    <p:animEffect transition="in" filter="wipe(down)">
                                      <p:cBhvr>
                                        <p:cTn id="103" dur="580">
                                          <p:stCondLst>
                                            <p:cond delay="0"/>
                                          </p:stCondLst>
                                        </p:cTn>
                                        <p:tgtEl>
                                          <p:spTgt spid="103"/>
                                        </p:tgtEl>
                                      </p:cBhvr>
                                    </p:animEffect>
                                    <p:anim calcmode="lin" valueType="num">
                                      <p:cBhvr>
                                        <p:cTn id="104" dur="1822" tmFilter="0,0; 0.14,0.36; 0.43,0.73; 0.71,0.91; 1.0,1.0">
                                          <p:stCondLst>
                                            <p:cond delay="0"/>
                                          </p:stCondLst>
                                        </p:cTn>
                                        <p:tgtEl>
                                          <p:spTgt spid="103"/>
                                        </p:tgtEl>
                                        <p:attrNameLst>
                                          <p:attrName>ppt_x</p:attrName>
                                        </p:attrNameLst>
                                      </p:cBhvr>
                                      <p:tavLst>
                                        <p:tav tm="0">
                                          <p:val>
                                            <p:strVal val="#ppt_x-0.25"/>
                                          </p:val>
                                        </p:tav>
                                        <p:tav tm="100000">
                                          <p:val>
                                            <p:strVal val="#ppt_x"/>
                                          </p:val>
                                        </p:tav>
                                      </p:tavLst>
                                    </p:anim>
                                    <p:anim calcmode="lin" valueType="num">
                                      <p:cBhvr>
                                        <p:cTn id="105" dur="664" tmFilter="0.0,0.0; 0.25,0.07; 0.50,0.2; 0.75,0.467; 1.0,1.0">
                                          <p:stCondLst>
                                            <p:cond delay="0"/>
                                          </p:stCondLst>
                                        </p:cTn>
                                        <p:tgtEl>
                                          <p:spTgt spid="103"/>
                                        </p:tgtEl>
                                        <p:attrNameLst>
                                          <p:attrName>ppt_y</p:attrName>
                                        </p:attrNameLst>
                                      </p:cBhvr>
                                      <p:tavLst>
                                        <p:tav tm="0" fmla="#ppt_y-sin(pi*$)/3">
                                          <p:val>
                                            <p:fltVal val="0.5"/>
                                          </p:val>
                                        </p:tav>
                                        <p:tav tm="100000">
                                          <p:val>
                                            <p:fltVal val="1"/>
                                          </p:val>
                                        </p:tav>
                                      </p:tavLst>
                                    </p:anim>
                                    <p:anim calcmode="lin" valueType="num">
                                      <p:cBhvr>
                                        <p:cTn id="106" dur="664" tmFilter="0, 0; 0.125,0.2665; 0.25,0.4; 0.375,0.465; 0.5,0.5;  0.625,0.535; 0.75,0.6; 0.875,0.7335; 1,1">
                                          <p:stCondLst>
                                            <p:cond delay="664"/>
                                          </p:stCondLst>
                                        </p:cTn>
                                        <p:tgtEl>
                                          <p:spTgt spid="103"/>
                                        </p:tgtEl>
                                        <p:attrNameLst>
                                          <p:attrName>ppt_y</p:attrName>
                                        </p:attrNameLst>
                                      </p:cBhvr>
                                      <p:tavLst>
                                        <p:tav tm="0" fmla="#ppt_y-sin(pi*$)/9">
                                          <p:val>
                                            <p:fltVal val="0"/>
                                          </p:val>
                                        </p:tav>
                                        <p:tav tm="100000">
                                          <p:val>
                                            <p:fltVal val="1"/>
                                          </p:val>
                                        </p:tav>
                                      </p:tavLst>
                                    </p:anim>
                                    <p:anim calcmode="lin" valueType="num">
                                      <p:cBhvr>
                                        <p:cTn id="107" dur="332" tmFilter="0, 0; 0.125,0.2665; 0.25,0.4; 0.375,0.465; 0.5,0.5;  0.625,0.535; 0.75,0.6; 0.875,0.7335; 1,1">
                                          <p:stCondLst>
                                            <p:cond delay="1324"/>
                                          </p:stCondLst>
                                        </p:cTn>
                                        <p:tgtEl>
                                          <p:spTgt spid="103"/>
                                        </p:tgtEl>
                                        <p:attrNameLst>
                                          <p:attrName>ppt_y</p:attrName>
                                        </p:attrNameLst>
                                      </p:cBhvr>
                                      <p:tavLst>
                                        <p:tav tm="0" fmla="#ppt_y-sin(pi*$)/27">
                                          <p:val>
                                            <p:fltVal val="0"/>
                                          </p:val>
                                        </p:tav>
                                        <p:tav tm="100000">
                                          <p:val>
                                            <p:fltVal val="1"/>
                                          </p:val>
                                        </p:tav>
                                      </p:tavLst>
                                    </p:anim>
                                    <p:anim calcmode="lin" valueType="num">
                                      <p:cBhvr>
                                        <p:cTn id="108" dur="164" tmFilter="0, 0; 0.125,0.2665; 0.25,0.4; 0.375,0.465; 0.5,0.5;  0.625,0.535; 0.75,0.6; 0.875,0.7335; 1,1">
                                          <p:stCondLst>
                                            <p:cond delay="1656"/>
                                          </p:stCondLst>
                                        </p:cTn>
                                        <p:tgtEl>
                                          <p:spTgt spid="103"/>
                                        </p:tgtEl>
                                        <p:attrNameLst>
                                          <p:attrName>ppt_y</p:attrName>
                                        </p:attrNameLst>
                                      </p:cBhvr>
                                      <p:tavLst>
                                        <p:tav tm="0" fmla="#ppt_y-sin(pi*$)/81">
                                          <p:val>
                                            <p:fltVal val="0"/>
                                          </p:val>
                                        </p:tav>
                                        <p:tav tm="100000">
                                          <p:val>
                                            <p:fltVal val="1"/>
                                          </p:val>
                                        </p:tav>
                                      </p:tavLst>
                                    </p:anim>
                                    <p:animScale>
                                      <p:cBhvr>
                                        <p:cTn id="109" dur="26">
                                          <p:stCondLst>
                                            <p:cond delay="650"/>
                                          </p:stCondLst>
                                        </p:cTn>
                                        <p:tgtEl>
                                          <p:spTgt spid="103"/>
                                        </p:tgtEl>
                                      </p:cBhvr>
                                      <p:to x="100000" y="60000"/>
                                    </p:animScale>
                                    <p:animScale>
                                      <p:cBhvr>
                                        <p:cTn id="110" dur="166" decel="50000">
                                          <p:stCondLst>
                                            <p:cond delay="676"/>
                                          </p:stCondLst>
                                        </p:cTn>
                                        <p:tgtEl>
                                          <p:spTgt spid="103"/>
                                        </p:tgtEl>
                                      </p:cBhvr>
                                      <p:to x="100000" y="100000"/>
                                    </p:animScale>
                                    <p:animScale>
                                      <p:cBhvr>
                                        <p:cTn id="111" dur="26">
                                          <p:stCondLst>
                                            <p:cond delay="1312"/>
                                          </p:stCondLst>
                                        </p:cTn>
                                        <p:tgtEl>
                                          <p:spTgt spid="103"/>
                                        </p:tgtEl>
                                      </p:cBhvr>
                                      <p:to x="100000" y="80000"/>
                                    </p:animScale>
                                    <p:animScale>
                                      <p:cBhvr>
                                        <p:cTn id="112" dur="166" decel="50000">
                                          <p:stCondLst>
                                            <p:cond delay="1338"/>
                                          </p:stCondLst>
                                        </p:cTn>
                                        <p:tgtEl>
                                          <p:spTgt spid="103"/>
                                        </p:tgtEl>
                                      </p:cBhvr>
                                      <p:to x="100000" y="100000"/>
                                    </p:animScale>
                                    <p:animScale>
                                      <p:cBhvr>
                                        <p:cTn id="113" dur="26">
                                          <p:stCondLst>
                                            <p:cond delay="1642"/>
                                          </p:stCondLst>
                                        </p:cTn>
                                        <p:tgtEl>
                                          <p:spTgt spid="103"/>
                                        </p:tgtEl>
                                      </p:cBhvr>
                                      <p:to x="100000" y="90000"/>
                                    </p:animScale>
                                    <p:animScale>
                                      <p:cBhvr>
                                        <p:cTn id="114" dur="166" decel="50000">
                                          <p:stCondLst>
                                            <p:cond delay="1668"/>
                                          </p:stCondLst>
                                        </p:cTn>
                                        <p:tgtEl>
                                          <p:spTgt spid="103"/>
                                        </p:tgtEl>
                                      </p:cBhvr>
                                      <p:to x="100000" y="100000"/>
                                    </p:animScale>
                                    <p:animScale>
                                      <p:cBhvr>
                                        <p:cTn id="115" dur="26">
                                          <p:stCondLst>
                                            <p:cond delay="1808"/>
                                          </p:stCondLst>
                                        </p:cTn>
                                        <p:tgtEl>
                                          <p:spTgt spid="103"/>
                                        </p:tgtEl>
                                      </p:cBhvr>
                                      <p:to x="100000" y="95000"/>
                                    </p:animScale>
                                    <p:animScale>
                                      <p:cBhvr>
                                        <p:cTn id="116" dur="166" decel="50000">
                                          <p:stCondLst>
                                            <p:cond delay="1834"/>
                                          </p:stCondLst>
                                        </p:cTn>
                                        <p:tgtEl>
                                          <p:spTgt spid="103"/>
                                        </p:tgtEl>
                                      </p:cBhvr>
                                      <p:to x="100000" y="100000"/>
                                    </p:animScale>
                                  </p:childTnLst>
                                </p:cTn>
                              </p:par>
                              <p:par>
                                <p:cTn id="117" presetID="26" presetClass="entr" presetSubtype="0" fill="hold" grpId="0" nodeType="withEffect">
                                  <p:stCondLst>
                                    <p:cond delay="0"/>
                                  </p:stCondLst>
                                  <p:childTnLst>
                                    <p:set>
                                      <p:cBhvr>
                                        <p:cTn id="118" dur="1" fill="hold">
                                          <p:stCondLst>
                                            <p:cond delay="0"/>
                                          </p:stCondLst>
                                        </p:cTn>
                                        <p:tgtEl>
                                          <p:spTgt spid="104"/>
                                        </p:tgtEl>
                                        <p:attrNameLst>
                                          <p:attrName>style.visibility</p:attrName>
                                        </p:attrNameLst>
                                      </p:cBhvr>
                                      <p:to>
                                        <p:strVal val="visible"/>
                                      </p:to>
                                    </p:set>
                                    <p:animEffect transition="in" filter="wipe(down)">
                                      <p:cBhvr>
                                        <p:cTn id="119" dur="580">
                                          <p:stCondLst>
                                            <p:cond delay="0"/>
                                          </p:stCondLst>
                                        </p:cTn>
                                        <p:tgtEl>
                                          <p:spTgt spid="104"/>
                                        </p:tgtEl>
                                      </p:cBhvr>
                                    </p:animEffect>
                                    <p:anim calcmode="lin" valueType="num">
                                      <p:cBhvr>
                                        <p:cTn id="120" dur="1822" tmFilter="0,0; 0.14,0.36; 0.43,0.73; 0.71,0.91; 1.0,1.0">
                                          <p:stCondLst>
                                            <p:cond delay="0"/>
                                          </p:stCondLst>
                                        </p:cTn>
                                        <p:tgtEl>
                                          <p:spTgt spid="104"/>
                                        </p:tgtEl>
                                        <p:attrNameLst>
                                          <p:attrName>ppt_x</p:attrName>
                                        </p:attrNameLst>
                                      </p:cBhvr>
                                      <p:tavLst>
                                        <p:tav tm="0">
                                          <p:val>
                                            <p:strVal val="#ppt_x-0.25"/>
                                          </p:val>
                                        </p:tav>
                                        <p:tav tm="100000">
                                          <p:val>
                                            <p:strVal val="#ppt_x"/>
                                          </p:val>
                                        </p:tav>
                                      </p:tavLst>
                                    </p:anim>
                                    <p:anim calcmode="lin" valueType="num">
                                      <p:cBhvr>
                                        <p:cTn id="121" dur="664" tmFilter="0.0,0.0; 0.25,0.07; 0.50,0.2; 0.75,0.467; 1.0,1.0">
                                          <p:stCondLst>
                                            <p:cond delay="0"/>
                                          </p:stCondLst>
                                        </p:cTn>
                                        <p:tgtEl>
                                          <p:spTgt spid="104"/>
                                        </p:tgtEl>
                                        <p:attrNameLst>
                                          <p:attrName>ppt_y</p:attrName>
                                        </p:attrNameLst>
                                      </p:cBhvr>
                                      <p:tavLst>
                                        <p:tav tm="0" fmla="#ppt_y-sin(pi*$)/3">
                                          <p:val>
                                            <p:fltVal val="0.5"/>
                                          </p:val>
                                        </p:tav>
                                        <p:tav tm="100000">
                                          <p:val>
                                            <p:fltVal val="1"/>
                                          </p:val>
                                        </p:tav>
                                      </p:tavLst>
                                    </p:anim>
                                    <p:anim calcmode="lin" valueType="num">
                                      <p:cBhvr>
                                        <p:cTn id="122" dur="664" tmFilter="0, 0; 0.125,0.2665; 0.25,0.4; 0.375,0.465; 0.5,0.5;  0.625,0.535; 0.75,0.6; 0.875,0.7335; 1,1">
                                          <p:stCondLst>
                                            <p:cond delay="664"/>
                                          </p:stCondLst>
                                        </p:cTn>
                                        <p:tgtEl>
                                          <p:spTgt spid="104"/>
                                        </p:tgtEl>
                                        <p:attrNameLst>
                                          <p:attrName>ppt_y</p:attrName>
                                        </p:attrNameLst>
                                      </p:cBhvr>
                                      <p:tavLst>
                                        <p:tav tm="0" fmla="#ppt_y-sin(pi*$)/9">
                                          <p:val>
                                            <p:fltVal val="0"/>
                                          </p:val>
                                        </p:tav>
                                        <p:tav tm="100000">
                                          <p:val>
                                            <p:fltVal val="1"/>
                                          </p:val>
                                        </p:tav>
                                      </p:tavLst>
                                    </p:anim>
                                    <p:anim calcmode="lin" valueType="num">
                                      <p:cBhvr>
                                        <p:cTn id="123" dur="332" tmFilter="0, 0; 0.125,0.2665; 0.25,0.4; 0.375,0.465; 0.5,0.5;  0.625,0.535; 0.75,0.6; 0.875,0.7335; 1,1">
                                          <p:stCondLst>
                                            <p:cond delay="1324"/>
                                          </p:stCondLst>
                                        </p:cTn>
                                        <p:tgtEl>
                                          <p:spTgt spid="104"/>
                                        </p:tgtEl>
                                        <p:attrNameLst>
                                          <p:attrName>ppt_y</p:attrName>
                                        </p:attrNameLst>
                                      </p:cBhvr>
                                      <p:tavLst>
                                        <p:tav tm="0" fmla="#ppt_y-sin(pi*$)/27">
                                          <p:val>
                                            <p:fltVal val="0"/>
                                          </p:val>
                                        </p:tav>
                                        <p:tav tm="100000">
                                          <p:val>
                                            <p:fltVal val="1"/>
                                          </p:val>
                                        </p:tav>
                                      </p:tavLst>
                                    </p:anim>
                                    <p:anim calcmode="lin" valueType="num">
                                      <p:cBhvr>
                                        <p:cTn id="124" dur="164" tmFilter="0, 0; 0.125,0.2665; 0.25,0.4; 0.375,0.465; 0.5,0.5;  0.625,0.535; 0.75,0.6; 0.875,0.7335; 1,1">
                                          <p:stCondLst>
                                            <p:cond delay="1656"/>
                                          </p:stCondLst>
                                        </p:cTn>
                                        <p:tgtEl>
                                          <p:spTgt spid="104"/>
                                        </p:tgtEl>
                                        <p:attrNameLst>
                                          <p:attrName>ppt_y</p:attrName>
                                        </p:attrNameLst>
                                      </p:cBhvr>
                                      <p:tavLst>
                                        <p:tav tm="0" fmla="#ppt_y-sin(pi*$)/81">
                                          <p:val>
                                            <p:fltVal val="0"/>
                                          </p:val>
                                        </p:tav>
                                        <p:tav tm="100000">
                                          <p:val>
                                            <p:fltVal val="1"/>
                                          </p:val>
                                        </p:tav>
                                      </p:tavLst>
                                    </p:anim>
                                    <p:animScale>
                                      <p:cBhvr>
                                        <p:cTn id="125" dur="26">
                                          <p:stCondLst>
                                            <p:cond delay="650"/>
                                          </p:stCondLst>
                                        </p:cTn>
                                        <p:tgtEl>
                                          <p:spTgt spid="104"/>
                                        </p:tgtEl>
                                      </p:cBhvr>
                                      <p:to x="100000" y="60000"/>
                                    </p:animScale>
                                    <p:animScale>
                                      <p:cBhvr>
                                        <p:cTn id="126" dur="166" decel="50000">
                                          <p:stCondLst>
                                            <p:cond delay="676"/>
                                          </p:stCondLst>
                                        </p:cTn>
                                        <p:tgtEl>
                                          <p:spTgt spid="104"/>
                                        </p:tgtEl>
                                      </p:cBhvr>
                                      <p:to x="100000" y="100000"/>
                                    </p:animScale>
                                    <p:animScale>
                                      <p:cBhvr>
                                        <p:cTn id="127" dur="26">
                                          <p:stCondLst>
                                            <p:cond delay="1312"/>
                                          </p:stCondLst>
                                        </p:cTn>
                                        <p:tgtEl>
                                          <p:spTgt spid="104"/>
                                        </p:tgtEl>
                                      </p:cBhvr>
                                      <p:to x="100000" y="80000"/>
                                    </p:animScale>
                                    <p:animScale>
                                      <p:cBhvr>
                                        <p:cTn id="128" dur="166" decel="50000">
                                          <p:stCondLst>
                                            <p:cond delay="1338"/>
                                          </p:stCondLst>
                                        </p:cTn>
                                        <p:tgtEl>
                                          <p:spTgt spid="104"/>
                                        </p:tgtEl>
                                      </p:cBhvr>
                                      <p:to x="100000" y="100000"/>
                                    </p:animScale>
                                    <p:animScale>
                                      <p:cBhvr>
                                        <p:cTn id="129" dur="26">
                                          <p:stCondLst>
                                            <p:cond delay="1642"/>
                                          </p:stCondLst>
                                        </p:cTn>
                                        <p:tgtEl>
                                          <p:spTgt spid="104"/>
                                        </p:tgtEl>
                                      </p:cBhvr>
                                      <p:to x="100000" y="90000"/>
                                    </p:animScale>
                                    <p:animScale>
                                      <p:cBhvr>
                                        <p:cTn id="130" dur="166" decel="50000">
                                          <p:stCondLst>
                                            <p:cond delay="1668"/>
                                          </p:stCondLst>
                                        </p:cTn>
                                        <p:tgtEl>
                                          <p:spTgt spid="104"/>
                                        </p:tgtEl>
                                      </p:cBhvr>
                                      <p:to x="100000" y="100000"/>
                                    </p:animScale>
                                    <p:animScale>
                                      <p:cBhvr>
                                        <p:cTn id="131" dur="26">
                                          <p:stCondLst>
                                            <p:cond delay="1808"/>
                                          </p:stCondLst>
                                        </p:cTn>
                                        <p:tgtEl>
                                          <p:spTgt spid="104"/>
                                        </p:tgtEl>
                                      </p:cBhvr>
                                      <p:to x="100000" y="95000"/>
                                    </p:animScale>
                                    <p:animScale>
                                      <p:cBhvr>
                                        <p:cTn id="132" dur="166" decel="50000">
                                          <p:stCondLst>
                                            <p:cond delay="1834"/>
                                          </p:stCondLst>
                                        </p:cTn>
                                        <p:tgtEl>
                                          <p:spTgt spid="104"/>
                                        </p:tgtEl>
                                      </p:cBhvr>
                                      <p:to x="100000" y="100000"/>
                                    </p:animScale>
                                  </p:childTnLst>
                                </p:cTn>
                              </p:par>
                              <p:par>
                                <p:cTn id="133" presetID="26" presetClass="entr" presetSubtype="0" fill="hold" grpId="0" nodeType="withEffect">
                                  <p:stCondLst>
                                    <p:cond delay="0"/>
                                  </p:stCondLst>
                                  <p:childTnLst>
                                    <p:set>
                                      <p:cBhvr>
                                        <p:cTn id="134" dur="1" fill="hold">
                                          <p:stCondLst>
                                            <p:cond delay="0"/>
                                          </p:stCondLst>
                                        </p:cTn>
                                        <p:tgtEl>
                                          <p:spTgt spid="2"/>
                                        </p:tgtEl>
                                        <p:attrNameLst>
                                          <p:attrName>style.visibility</p:attrName>
                                        </p:attrNameLst>
                                      </p:cBhvr>
                                      <p:to>
                                        <p:strVal val="visible"/>
                                      </p:to>
                                    </p:set>
                                    <p:animEffect transition="in" filter="wipe(down)">
                                      <p:cBhvr>
                                        <p:cTn id="135" dur="580">
                                          <p:stCondLst>
                                            <p:cond delay="0"/>
                                          </p:stCondLst>
                                        </p:cTn>
                                        <p:tgtEl>
                                          <p:spTgt spid="2"/>
                                        </p:tgtEl>
                                      </p:cBhvr>
                                    </p:animEffect>
                                    <p:anim calcmode="lin" valueType="num">
                                      <p:cBhvr>
                                        <p:cTn id="13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13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3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3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4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41" dur="26">
                                          <p:stCondLst>
                                            <p:cond delay="650"/>
                                          </p:stCondLst>
                                        </p:cTn>
                                        <p:tgtEl>
                                          <p:spTgt spid="2"/>
                                        </p:tgtEl>
                                      </p:cBhvr>
                                      <p:to x="100000" y="60000"/>
                                    </p:animScale>
                                    <p:animScale>
                                      <p:cBhvr>
                                        <p:cTn id="142" dur="166" decel="50000">
                                          <p:stCondLst>
                                            <p:cond delay="676"/>
                                          </p:stCondLst>
                                        </p:cTn>
                                        <p:tgtEl>
                                          <p:spTgt spid="2"/>
                                        </p:tgtEl>
                                      </p:cBhvr>
                                      <p:to x="100000" y="100000"/>
                                    </p:animScale>
                                    <p:animScale>
                                      <p:cBhvr>
                                        <p:cTn id="143" dur="26">
                                          <p:stCondLst>
                                            <p:cond delay="1312"/>
                                          </p:stCondLst>
                                        </p:cTn>
                                        <p:tgtEl>
                                          <p:spTgt spid="2"/>
                                        </p:tgtEl>
                                      </p:cBhvr>
                                      <p:to x="100000" y="80000"/>
                                    </p:animScale>
                                    <p:animScale>
                                      <p:cBhvr>
                                        <p:cTn id="144" dur="166" decel="50000">
                                          <p:stCondLst>
                                            <p:cond delay="1338"/>
                                          </p:stCondLst>
                                        </p:cTn>
                                        <p:tgtEl>
                                          <p:spTgt spid="2"/>
                                        </p:tgtEl>
                                      </p:cBhvr>
                                      <p:to x="100000" y="100000"/>
                                    </p:animScale>
                                    <p:animScale>
                                      <p:cBhvr>
                                        <p:cTn id="145" dur="26">
                                          <p:stCondLst>
                                            <p:cond delay="1642"/>
                                          </p:stCondLst>
                                        </p:cTn>
                                        <p:tgtEl>
                                          <p:spTgt spid="2"/>
                                        </p:tgtEl>
                                      </p:cBhvr>
                                      <p:to x="100000" y="90000"/>
                                    </p:animScale>
                                    <p:animScale>
                                      <p:cBhvr>
                                        <p:cTn id="146" dur="166" decel="50000">
                                          <p:stCondLst>
                                            <p:cond delay="1668"/>
                                          </p:stCondLst>
                                        </p:cTn>
                                        <p:tgtEl>
                                          <p:spTgt spid="2"/>
                                        </p:tgtEl>
                                      </p:cBhvr>
                                      <p:to x="100000" y="100000"/>
                                    </p:animScale>
                                    <p:animScale>
                                      <p:cBhvr>
                                        <p:cTn id="147" dur="26">
                                          <p:stCondLst>
                                            <p:cond delay="1808"/>
                                          </p:stCondLst>
                                        </p:cTn>
                                        <p:tgtEl>
                                          <p:spTgt spid="2"/>
                                        </p:tgtEl>
                                      </p:cBhvr>
                                      <p:to x="100000" y="95000"/>
                                    </p:animScale>
                                    <p:animScale>
                                      <p:cBhvr>
                                        <p:cTn id="148" dur="166" decel="50000">
                                          <p:stCondLst>
                                            <p:cond delay="1834"/>
                                          </p:stCondLst>
                                        </p:cTn>
                                        <p:tgtEl>
                                          <p:spTgt spid="2"/>
                                        </p:tgtEl>
                                      </p:cBhvr>
                                      <p:to x="100000" y="100000"/>
                                    </p:animScale>
                                  </p:childTnLst>
                                </p:cTn>
                              </p:par>
                              <p:par>
                                <p:cTn id="149" presetID="26" presetClass="entr" presetSubtype="0" fill="hold" grpId="0" nodeType="withEffect">
                                  <p:stCondLst>
                                    <p:cond delay="0"/>
                                  </p:stCondLst>
                                  <p:childTnLst>
                                    <p:set>
                                      <p:cBhvr>
                                        <p:cTn id="150" dur="1" fill="hold">
                                          <p:stCondLst>
                                            <p:cond delay="0"/>
                                          </p:stCondLst>
                                        </p:cTn>
                                        <p:tgtEl>
                                          <p:spTgt spid="3"/>
                                        </p:tgtEl>
                                        <p:attrNameLst>
                                          <p:attrName>style.visibility</p:attrName>
                                        </p:attrNameLst>
                                      </p:cBhvr>
                                      <p:to>
                                        <p:strVal val="visible"/>
                                      </p:to>
                                    </p:set>
                                    <p:animEffect transition="in" filter="wipe(down)">
                                      <p:cBhvr>
                                        <p:cTn id="151" dur="580">
                                          <p:stCondLst>
                                            <p:cond delay="0"/>
                                          </p:stCondLst>
                                        </p:cTn>
                                        <p:tgtEl>
                                          <p:spTgt spid="3"/>
                                        </p:tgtEl>
                                      </p:cBhvr>
                                    </p:animEffect>
                                    <p:anim calcmode="lin" valueType="num">
                                      <p:cBhvr>
                                        <p:cTn id="152"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153"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54"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55"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56"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57" dur="26">
                                          <p:stCondLst>
                                            <p:cond delay="650"/>
                                          </p:stCondLst>
                                        </p:cTn>
                                        <p:tgtEl>
                                          <p:spTgt spid="3"/>
                                        </p:tgtEl>
                                      </p:cBhvr>
                                      <p:to x="100000" y="60000"/>
                                    </p:animScale>
                                    <p:animScale>
                                      <p:cBhvr>
                                        <p:cTn id="158" dur="166" decel="50000">
                                          <p:stCondLst>
                                            <p:cond delay="676"/>
                                          </p:stCondLst>
                                        </p:cTn>
                                        <p:tgtEl>
                                          <p:spTgt spid="3"/>
                                        </p:tgtEl>
                                      </p:cBhvr>
                                      <p:to x="100000" y="100000"/>
                                    </p:animScale>
                                    <p:animScale>
                                      <p:cBhvr>
                                        <p:cTn id="159" dur="26">
                                          <p:stCondLst>
                                            <p:cond delay="1312"/>
                                          </p:stCondLst>
                                        </p:cTn>
                                        <p:tgtEl>
                                          <p:spTgt spid="3"/>
                                        </p:tgtEl>
                                      </p:cBhvr>
                                      <p:to x="100000" y="80000"/>
                                    </p:animScale>
                                    <p:animScale>
                                      <p:cBhvr>
                                        <p:cTn id="160" dur="166" decel="50000">
                                          <p:stCondLst>
                                            <p:cond delay="1338"/>
                                          </p:stCondLst>
                                        </p:cTn>
                                        <p:tgtEl>
                                          <p:spTgt spid="3"/>
                                        </p:tgtEl>
                                      </p:cBhvr>
                                      <p:to x="100000" y="100000"/>
                                    </p:animScale>
                                    <p:animScale>
                                      <p:cBhvr>
                                        <p:cTn id="161" dur="26">
                                          <p:stCondLst>
                                            <p:cond delay="1642"/>
                                          </p:stCondLst>
                                        </p:cTn>
                                        <p:tgtEl>
                                          <p:spTgt spid="3"/>
                                        </p:tgtEl>
                                      </p:cBhvr>
                                      <p:to x="100000" y="90000"/>
                                    </p:animScale>
                                    <p:animScale>
                                      <p:cBhvr>
                                        <p:cTn id="162" dur="166" decel="50000">
                                          <p:stCondLst>
                                            <p:cond delay="1668"/>
                                          </p:stCondLst>
                                        </p:cTn>
                                        <p:tgtEl>
                                          <p:spTgt spid="3"/>
                                        </p:tgtEl>
                                      </p:cBhvr>
                                      <p:to x="100000" y="100000"/>
                                    </p:animScale>
                                    <p:animScale>
                                      <p:cBhvr>
                                        <p:cTn id="163" dur="26">
                                          <p:stCondLst>
                                            <p:cond delay="1808"/>
                                          </p:stCondLst>
                                        </p:cTn>
                                        <p:tgtEl>
                                          <p:spTgt spid="3"/>
                                        </p:tgtEl>
                                      </p:cBhvr>
                                      <p:to x="100000" y="95000"/>
                                    </p:animScale>
                                    <p:animScale>
                                      <p:cBhvr>
                                        <p:cTn id="164" dur="166" decel="50000">
                                          <p:stCondLst>
                                            <p:cond delay="1834"/>
                                          </p:stCondLst>
                                        </p:cTn>
                                        <p:tgtEl>
                                          <p:spTgt spid="3"/>
                                        </p:tgtEl>
                                      </p:cBhvr>
                                      <p:to x="100000" y="100000"/>
                                    </p:animScale>
                                  </p:childTnLst>
                                </p:cTn>
                              </p:par>
                              <p:par>
                                <p:cTn id="165" presetID="26" presetClass="entr" presetSubtype="0" fill="hold" grpId="0" nodeType="withEffect">
                                  <p:stCondLst>
                                    <p:cond delay="0"/>
                                  </p:stCondLst>
                                  <p:childTnLst>
                                    <p:set>
                                      <p:cBhvr>
                                        <p:cTn id="166" dur="1" fill="hold">
                                          <p:stCondLst>
                                            <p:cond delay="0"/>
                                          </p:stCondLst>
                                        </p:cTn>
                                        <p:tgtEl>
                                          <p:spTgt spid="4"/>
                                        </p:tgtEl>
                                        <p:attrNameLst>
                                          <p:attrName>style.visibility</p:attrName>
                                        </p:attrNameLst>
                                      </p:cBhvr>
                                      <p:to>
                                        <p:strVal val="visible"/>
                                      </p:to>
                                    </p:set>
                                    <p:animEffect transition="in" filter="wipe(down)">
                                      <p:cBhvr>
                                        <p:cTn id="167" dur="580">
                                          <p:stCondLst>
                                            <p:cond delay="0"/>
                                          </p:stCondLst>
                                        </p:cTn>
                                        <p:tgtEl>
                                          <p:spTgt spid="4"/>
                                        </p:tgtEl>
                                      </p:cBhvr>
                                    </p:animEffect>
                                    <p:anim calcmode="lin" valueType="num">
                                      <p:cBhvr>
                                        <p:cTn id="16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6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7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7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7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73" dur="26">
                                          <p:stCondLst>
                                            <p:cond delay="650"/>
                                          </p:stCondLst>
                                        </p:cTn>
                                        <p:tgtEl>
                                          <p:spTgt spid="4"/>
                                        </p:tgtEl>
                                      </p:cBhvr>
                                      <p:to x="100000" y="60000"/>
                                    </p:animScale>
                                    <p:animScale>
                                      <p:cBhvr>
                                        <p:cTn id="174" dur="166" decel="50000">
                                          <p:stCondLst>
                                            <p:cond delay="676"/>
                                          </p:stCondLst>
                                        </p:cTn>
                                        <p:tgtEl>
                                          <p:spTgt spid="4"/>
                                        </p:tgtEl>
                                      </p:cBhvr>
                                      <p:to x="100000" y="100000"/>
                                    </p:animScale>
                                    <p:animScale>
                                      <p:cBhvr>
                                        <p:cTn id="175" dur="26">
                                          <p:stCondLst>
                                            <p:cond delay="1312"/>
                                          </p:stCondLst>
                                        </p:cTn>
                                        <p:tgtEl>
                                          <p:spTgt spid="4"/>
                                        </p:tgtEl>
                                      </p:cBhvr>
                                      <p:to x="100000" y="80000"/>
                                    </p:animScale>
                                    <p:animScale>
                                      <p:cBhvr>
                                        <p:cTn id="176" dur="166" decel="50000">
                                          <p:stCondLst>
                                            <p:cond delay="1338"/>
                                          </p:stCondLst>
                                        </p:cTn>
                                        <p:tgtEl>
                                          <p:spTgt spid="4"/>
                                        </p:tgtEl>
                                      </p:cBhvr>
                                      <p:to x="100000" y="100000"/>
                                    </p:animScale>
                                    <p:animScale>
                                      <p:cBhvr>
                                        <p:cTn id="177" dur="26">
                                          <p:stCondLst>
                                            <p:cond delay="1642"/>
                                          </p:stCondLst>
                                        </p:cTn>
                                        <p:tgtEl>
                                          <p:spTgt spid="4"/>
                                        </p:tgtEl>
                                      </p:cBhvr>
                                      <p:to x="100000" y="90000"/>
                                    </p:animScale>
                                    <p:animScale>
                                      <p:cBhvr>
                                        <p:cTn id="178" dur="166" decel="50000">
                                          <p:stCondLst>
                                            <p:cond delay="1668"/>
                                          </p:stCondLst>
                                        </p:cTn>
                                        <p:tgtEl>
                                          <p:spTgt spid="4"/>
                                        </p:tgtEl>
                                      </p:cBhvr>
                                      <p:to x="100000" y="100000"/>
                                    </p:animScale>
                                    <p:animScale>
                                      <p:cBhvr>
                                        <p:cTn id="179" dur="26">
                                          <p:stCondLst>
                                            <p:cond delay="1808"/>
                                          </p:stCondLst>
                                        </p:cTn>
                                        <p:tgtEl>
                                          <p:spTgt spid="4"/>
                                        </p:tgtEl>
                                      </p:cBhvr>
                                      <p:to x="100000" y="95000"/>
                                    </p:animScale>
                                    <p:animScale>
                                      <p:cBhvr>
                                        <p:cTn id="180"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P spid="100" grpId="0"/>
      <p:bldP spid="101" grpId="0"/>
      <p:bldP spid="102" grpId="0"/>
      <p:bldP spid="103" grpId="0"/>
      <p:bldP spid="104" grpId="0"/>
      <p:bldP spid="111" grpId="0"/>
      <p:bldP spid="2" grpId="0"/>
      <p:bldP spid="3"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15"/>
        <p:cNvGrpSpPr/>
        <p:nvPr/>
      </p:nvGrpSpPr>
      <p:grpSpPr>
        <a:xfrm>
          <a:off x="0" y="0"/>
          <a:ext cx="0" cy="0"/>
          <a:chOff x="0" y="0"/>
          <a:chExt cx="0" cy="0"/>
        </a:xfrm>
      </p:grpSpPr>
      <p:pic>
        <p:nvPicPr>
          <p:cNvPr id="116" name="Google Shape;116;p15"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17" name="Google Shape;117;p15"/>
          <p:cNvSpPr txBox="1"/>
          <p:nvPr/>
        </p:nvSpPr>
        <p:spPr>
          <a:xfrm>
            <a:off x="3775710" y="2128837"/>
            <a:ext cx="4640580"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dirty="0">
                <a:solidFill>
                  <a:srgbClr val="A01D2E"/>
                </a:solidFill>
                <a:latin typeface="Merriweather"/>
                <a:ea typeface="Merriweather"/>
                <a:cs typeface="Merriweather"/>
                <a:sym typeface="Merriweather"/>
              </a:rPr>
              <a:t>1- Project objective:</a:t>
            </a:r>
            <a:endParaRPr dirty="0"/>
          </a:p>
        </p:txBody>
      </p:sp>
      <p:sp>
        <p:nvSpPr>
          <p:cNvPr id="118" name="Google Shape;118;p15"/>
          <p:cNvSpPr/>
          <p:nvPr/>
        </p:nvSpPr>
        <p:spPr>
          <a:xfrm>
            <a:off x="5619750" y="3176587"/>
            <a:ext cx="952500" cy="47625"/>
          </a:xfrm>
          <a:prstGeom prst="rect">
            <a:avLst/>
          </a:prstGeom>
          <a:solidFill>
            <a:srgbClr val="A01D2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19" name="Google Shape;119;p15"/>
          <p:cNvSpPr txBox="1"/>
          <p:nvPr/>
        </p:nvSpPr>
        <p:spPr>
          <a:xfrm>
            <a:off x="2286000" y="3509962"/>
            <a:ext cx="7620000" cy="12192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3000" b="1" i="0" u="none" strike="noStrike" cap="none" dirty="0">
                <a:solidFill>
                  <a:srgbClr val="0D3B66"/>
                </a:solidFill>
                <a:latin typeface="DM Sans"/>
                <a:ea typeface="DM Sans"/>
                <a:cs typeface="DM Sans"/>
                <a:sym typeface="DM Sans"/>
              </a:rPr>
              <a:t>Study and design of smart satellite transponder.</a:t>
            </a:r>
            <a:endParaRPr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50" advTm="2191">
        <p14:switch dir="r"/>
      </p:transition>
    </mc:Choice>
    <mc:Fallback>
      <p:transition spd="slow" advTm="219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117"/>
                                        </p:tgtEl>
                                        <p:attrNameLst>
                                          <p:attrName>style.visibility</p:attrName>
                                        </p:attrNameLst>
                                      </p:cBhvr>
                                      <p:to>
                                        <p:strVal val="visible"/>
                                      </p:to>
                                    </p:set>
                                    <p:anim calcmode="lin" valueType="num">
                                      <p:cBhvr additive="base">
                                        <p:cTn id="7" dur="500" fill="hold"/>
                                        <p:tgtEl>
                                          <p:spTgt spid="117"/>
                                        </p:tgtEl>
                                        <p:attrNameLst>
                                          <p:attrName>ppt_x</p:attrName>
                                        </p:attrNameLst>
                                      </p:cBhvr>
                                      <p:tavLst>
                                        <p:tav tm="0">
                                          <p:val>
                                            <p:strVal val="#ppt_x"/>
                                          </p:val>
                                        </p:tav>
                                        <p:tav tm="100000">
                                          <p:val>
                                            <p:strVal val="#ppt_x"/>
                                          </p:val>
                                        </p:tav>
                                      </p:tavLst>
                                    </p:anim>
                                    <p:anim calcmode="lin" valueType="num">
                                      <p:cBhvr additive="base">
                                        <p:cTn id="8" dur="500" fill="hold"/>
                                        <p:tgtEl>
                                          <p:spTgt spid="11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9"/>
                                        </p:tgtEl>
                                        <p:attrNameLst>
                                          <p:attrName>style.visibility</p:attrName>
                                        </p:attrNameLst>
                                      </p:cBhvr>
                                      <p:to>
                                        <p:strVal val="visible"/>
                                      </p:to>
                                    </p:set>
                                    <p:anim calcmode="lin" valueType="num">
                                      <p:cBhvr additive="base">
                                        <p:cTn id="13" dur="500" fill="hold"/>
                                        <p:tgtEl>
                                          <p:spTgt spid="119"/>
                                        </p:tgtEl>
                                        <p:attrNameLst>
                                          <p:attrName>ppt_x</p:attrName>
                                        </p:attrNameLst>
                                      </p:cBhvr>
                                      <p:tavLst>
                                        <p:tav tm="0">
                                          <p:val>
                                            <p:strVal val="#ppt_x"/>
                                          </p:val>
                                        </p:tav>
                                        <p:tav tm="100000">
                                          <p:val>
                                            <p:strVal val="#ppt_x"/>
                                          </p:val>
                                        </p:tav>
                                      </p:tavLst>
                                    </p:anim>
                                    <p:anim calcmode="lin" valueType="num">
                                      <p:cBhvr additive="base">
                                        <p:cTn id="14" dur="500" fill="hold"/>
                                        <p:tgtEl>
                                          <p:spTgt spid="1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p:bldP spid="11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23"/>
        <p:cNvGrpSpPr/>
        <p:nvPr/>
      </p:nvGrpSpPr>
      <p:grpSpPr>
        <a:xfrm>
          <a:off x="0" y="0"/>
          <a:ext cx="0" cy="0"/>
          <a:chOff x="0" y="0"/>
          <a:chExt cx="0" cy="0"/>
        </a:xfrm>
      </p:grpSpPr>
      <p:pic>
        <p:nvPicPr>
          <p:cNvPr id="124" name="Google Shape;124;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25" name="Google Shape;125;p16" descr="image.png"/>
          <p:cNvPicPr preferRelativeResize="0"/>
          <p:nvPr/>
        </p:nvPicPr>
        <p:blipFill rotWithShape="1">
          <a:blip r:embed="rId2"/>
          <a:srcRect/>
          <a:stretch>
            <a:fillRect/>
          </a:stretch>
        </p:blipFill>
        <p:spPr>
          <a:xfrm>
            <a:off x="571500" y="1650206"/>
            <a:ext cx="5286375" cy="4414837"/>
          </a:xfrm>
          <a:prstGeom prst="rect">
            <a:avLst/>
          </a:prstGeom>
          <a:noFill/>
          <a:ln>
            <a:noFill/>
          </a:ln>
        </p:spPr>
      </p:pic>
      <p:pic>
        <p:nvPicPr>
          <p:cNvPr id="126" name="Google Shape;126;p16" descr="image.png"/>
          <p:cNvPicPr preferRelativeResize="0"/>
          <p:nvPr/>
        </p:nvPicPr>
        <p:blipFill rotWithShape="1">
          <a:blip r:embed="rId3"/>
          <a:srcRect/>
          <a:stretch>
            <a:fillRect/>
          </a:stretch>
        </p:blipFill>
        <p:spPr>
          <a:xfrm>
            <a:off x="6334125" y="1650206"/>
            <a:ext cx="5286375" cy="4414837"/>
          </a:xfrm>
          <a:prstGeom prst="rect">
            <a:avLst/>
          </a:prstGeom>
          <a:noFill/>
          <a:ln>
            <a:noFill/>
          </a:ln>
        </p:spPr>
      </p:pic>
      <p:sp>
        <p:nvSpPr>
          <p:cNvPr id="127" name="Google Shape;127;p16"/>
          <p:cNvSpPr txBox="1"/>
          <p:nvPr/>
        </p:nvSpPr>
        <p:spPr>
          <a:xfrm>
            <a:off x="962025" y="2040731"/>
            <a:ext cx="4730591"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A01D2E"/>
                </a:solidFill>
                <a:latin typeface="Merriweather"/>
                <a:ea typeface="Merriweather"/>
                <a:cs typeface="Merriweather"/>
                <a:sym typeface="Merriweather"/>
              </a:rPr>
              <a:t>2.1_The Problem:</a:t>
            </a:r>
            <a:endParaRPr dirty="0"/>
          </a:p>
        </p:txBody>
      </p:sp>
      <p:sp>
        <p:nvSpPr>
          <p:cNvPr id="128" name="Google Shape;128;p16"/>
          <p:cNvSpPr txBox="1"/>
          <p:nvPr/>
        </p:nvSpPr>
        <p:spPr>
          <a:xfrm>
            <a:off x="6724650" y="2040731"/>
            <a:ext cx="4730591" cy="38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A01D2E"/>
                </a:solidFill>
                <a:latin typeface="Merriweather"/>
                <a:ea typeface="Merriweather"/>
                <a:cs typeface="Merriweather"/>
                <a:sym typeface="Merriweather"/>
              </a:rPr>
              <a:t>2.2_The Importance:</a:t>
            </a:r>
            <a:endParaRPr dirty="0"/>
          </a:p>
        </p:txBody>
      </p:sp>
      <p:sp>
        <p:nvSpPr>
          <p:cNvPr id="130" name="Google Shape;130;p16"/>
          <p:cNvSpPr txBox="1"/>
          <p:nvPr/>
        </p:nvSpPr>
        <p:spPr>
          <a:xfrm>
            <a:off x="1152525" y="2564606"/>
            <a:ext cx="4314825" cy="2942344"/>
          </a:xfrm>
          <a:prstGeom prst="rect">
            <a:avLst/>
          </a:prstGeom>
          <a:noFill/>
          <a:ln>
            <a:noFill/>
          </a:ln>
        </p:spPr>
        <p:txBody>
          <a:bodyPr spcFirstLastPara="1" wrap="square" lIns="7620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50" b="0" i="0" u="none" strike="noStrike" cap="none" dirty="0">
                <a:solidFill>
                  <a:srgbClr val="333333"/>
                </a:solidFill>
                <a:latin typeface="DM Sans"/>
                <a:ea typeface="DM Sans"/>
                <a:cs typeface="DM Sans"/>
                <a:sym typeface="DM Sans"/>
              </a:rPr>
              <a:t>Traditional transponders have fixed functionality and cannot adapt to changes in data demand</a:t>
            </a:r>
            <a:r>
              <a:rPr lang="en-US" sz="1650" b="0" i="0" u="none" strike="noStrike" cap="none" dirty="0" smtClean="0">
                <a:solidFill>
                  <a:srgbClr val="333333"/>
                </a:solidFill>
                <a:latin typeface="DM Sans"/>
                <a:ea typeface="DM Sans"/>
                <a:cs typeface="DM Sans"/>
                <a:sym typeface="DM Sans"/>
              </a:rPr>
              <a:t>.</a:t>
            </a:r>
            <a:endParaRPr lang="en-US" sz="1650" b="0" i="0" u="none" strike="noStrike" cap="none" dirty="0" smtClean="0">
              <a:solidFill>
                <a:srgbClr val="333333"/>
              </a:solidFill>
              <a:latin typeface="DM Sans"/>
              <a:ea typeface="DM Sans"/>
              <a:cs typeface="DM Sans"/>
              <a:sym typeface="DM Sans"/>
            </a:endParaRPr>
          </a:p>
          <a:p>
            <a:pPr marL="285750" indent="-285750">
              <a:lnSpc>
                <a:spcPct val="160000"/>
              </a:lnSpc>
              <a:buFont typeface="Arial" panose="020B0604020202020204" pitchFamily="34" charset="0"/>
              <a:buChar char="•"/>
            </a:pPr>
            <a:r>
              <a:rPr lang="en-GB" dirty="0">
                <a:solidFill>
                  <a:srgbClr val="333333"/>
                </a:solidFill>
                <a:latin typeface="DM Sans"/>
                <a:ea typeface="DM Sans"/>
                <a:cs typeface="DM Sans"/>
                <a:sym typeface="DM Sans"/>
              </a:rPr>
              <a:t>Inefficient use of bandwidth and transmission power</a:t>
            </a:r>
            <a:r>
              <a:rPr lang="en-GB" dirty="0" smtClean="0">
                <a:solidFill>
                  <a:srgbClr val="333333"/>
                </a:solidFill>
                <a:latin typeface="DM Sans"/>
                <a:ea typeface="DM Sans"/>
                <a:cs typeface="DM Sans"/>
                <a:sym typeface="DM Sans"/>
              </a:rPr>
              <a:t>.</a:t>
            </a:r>
            <a:endParaRPr lang="en-GB" dirty="0" smtClean="0">
              <a:solidFill>
                <a:srgbClr val="333333"/>
              </a:solidFill>
              <a:latin typeface="DM Sans"/>
              <a:ea typeface="DM Sans"/>
              <a:cs typeface="DM Sans"/>
              <a:sym typeface="DM Sans"/>
            </a:endParaRPr>
          </a:p>
          <a:p>
            <a:pPr marL="285750" indent="-285750">
              <a:lnSpc>
                <a:spcPct val="160000"/>
              </a:lnSpc>
              <a:buFont typeface="Arial" panose="020B0604020202020204" pitchFamily="34" charset="0"/>
              <a:buChar char="•"/>
            </a:pPr>
            <a:r>
              <a:rPr lang="en-GB" dirty="0">
                <a:solidFill>
                  <a:srgbClr val="333333"/>
                </a:solidFill>
                <a:latin typeface="DM Sans"/>
                <a:ea typeface="DM Sans"/>
                <a:cs typeface="DM Sans"/>
                <a:sym typeface="DM Sans"/>
              </a:rPr>
              <a:t>Lack of flexibility in dealing with interference or unexpected conditions.</a:t>
            </a:r>
            <a:endParaRPr lang="en-GB" dirty="0"/>
          </a:p>
          <a:p>
            <a:pPr marL="285750" indent="-285750">
              <a:lnSpc>
                <a:spcPct val="160000"/>
              </a:lnSpc>
              <a:buFont typeface="Arial" panose="020B0604020202020204" pitchFamily="34" charset="0"/>
              <a:buChar char="•"/>
            </a:pPr>
            <a:endParaRPr lang="en-GB" dirty="0"/>
          </a:p>
        </p:txBody>
      </p:sp>
      <p:sp>
        <p:nvSpPr>
          <p:cNvPr id="136" name="Google Shape;136;p16"/>
          <p:cNvSpPr txBox="1"/>
          <p:nvPr/>
        </p:nvSpPr>
        <p:spPr>
          <a:xfrm>
            <a:off x="6915150" y="2564606"/>
            <a:ext cx="4314825" cy="3348609"/>
          </a:xfrm>
          <a:prstGeom prst="rect">
            <a:avLst/>
          </a:prstGeom>
          <a:noFill/>
          <a:ln>
            <a:noFill/>
          </a:ln>
        </p:spPr>
        <p:txBody>
          <a:bodyPr spcFirstLastPara="1" wrap="square" lIns="7620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en-US" sz="1650" b="0" i="0" u="none" strike="noStrike" cap="none" dirty="0">
                <a:solidFill>
                  <a:srgbClr val="333333"/>
                </a:solidFill>
                <a:latin typeface="DM Sans"/>
                <a:ea typeface="DM Sans"/>
                <a:cs typeface="DM Sans"/>
                <a:sym typeface="DM Sans"/>
              </a:rPr>
              <a:t>Meeting the growing demand for high-speed communication services (e.g., in-flight internet, maritime communications, remote areas</a:t>
            </a:r>
            <a:r>
              <a:rPr lang="en-US" sz="1650" b="0" i="0" u="none" strike="noStrike" cap="none" dirty="0" smtClean="0">
                <a:solidFill>
                  <a:srgbClr val="333333"/>
                </a:solidFill>
                <a:latin typeface="DM Sans"/>
                <a:ea typeface="DM Sans"/>
                <a:cs typeface="DM Sans"/>
                <a:sym typeface="DM Sans"/>
              </a:rPr>
              <a:t>).</a:t>
            </a:r>
            <a:endParaRPr lang="en-US" sz="1650" b="0" i="0" u="none" strike="noStrike" cap="none" dirty="0" smtClean="0">
              <a:solidFill>
                <a:srgbClr val="333333"/>
              </a:solidFill>
              <a:latin typeface="DM Sans"/>
              <a:ea typeface="DM Sans"/>
              <a:cs typeface="DM Sans"/>
              <a:sym typeface="DM Sans"/>
            </a:endParaRPr>
          </a:p>
          <a:p>
            <a:pPr marL="285750" indent="-285750">
              <a:lnSpc>
                <a:spcPct val="160000"/>
              </a:lnSpc>
              <a:buFont typeface="Arial" panose="020B0604020202020204" pitchFamily="34" charset="0"/>
              <a:buChar char="•"/>
            </a:pPr>
            <a:r>
              <a:rPr lang="en-GB" dirty="0">
                <a:solidFill>
                  <a:srgbClr val="333333"/>
                </a:solidFill>
                <a:latin typeface="DM Sans"/>
                <a:ea typeface="DM Sans"/>
                <a:cs typeface="DM Sans"/>
                <a:sym typeface="DM Sans"/>
              </a:rPr>
              <a:t>Maximizing the return on the high cost of satellite launch and operation</a:t>
            </a:r>
            <a:r>
              <a:rPr lang="en-GB" dirty="0" smtClean="0">
                <a:solidFill>
                  <a:srgbClr val="333333"/>
                </a:solidFill>
                <a:latin typeface="DM Sans"/>
                <a:ea typeface="DM Sans"/>
                <a:cs typeface="DM Sans"/>
                <a:sym typeface="DM Sans"/>
              </a:rPr>
              <a:t>.</a:t>
            </a:r>
            <a:endParaRPr lang="en-GB" dirty="0" smtClean="0">
              <a:solidFill>
                <a:srgbClr val="333333"/>
              </a:solidFill>
              <a:latin typeface="DM Sans"/>
              <a:ea typeface="DM Sans"/>
              <a:cs typeface="DM Sans"/>
              <a:sym typeface="DM Sans"/>
            </a:endParaRPr>
          </a:p>
          <a:p>
            <a:pPr marL="285750" indent="-285750">
              <a:lnSpc>
                <a:spcPct val="160000"/>
              </a:lnSpc>
              <a:buFont typeface="Arial" panose="020B0604020202020204" pitchFamily="34" charset="0"/>
              <a:buChar char="•"/>
            </a:pPr>
            <a:r>
              <a:rPr lang="en-US" dirty="0">
                <a:solidFill>
                  <a:srgbClr val="333333"/>
                </a:solidFill>
                <a:latin typeface="DM Sans"/>
                <a:ea typeface="DM Sans"/>
                <a:cs typeface="DM Sans"/>
                <a:sym typeface="DM Sans"/>
              </a:rPr>
              <a:t>More flexible and efficient satellite communication networks</a:t>
            </a:r>
            <a:r>
              <a:rPr lang="en-US" dirty="0" smtClean="0">
                <a:solidFill>
                  <a:srgbClr val="333333"/>
                </a:solidFill>
                <a:latin typeface="DM Sans"/>
                <a:ea typeface="DM Sans"/>
                <a:cs typeface="DM Sans"/>
                <a:sym typeface="DM Sans"/>
              </a:rPr>
              <a:t>.</a:t>
            </a:r>
            <a:endParaRPr lang="en-GB" dirty="0"/>
          </a:p>
          <a:p>
            <a:pPr marL="285750" marR="0" lvl="0" indent="-285750" algn="l" rtl="0">
              <a:lnSpc>
                <a:spcPct val="160000"/>
              </a:lnSpc>
              <a:spcBef>
                <a:spcPts val="0"/>
              </a:spcBef>
              <a:spcAft>
                <a:spcPts val="0"/>
              </a:spcAft>
              <a:buFont typeface="Arial" panose="020B0604020202020204" pitchFamily="34" charset="0"/>
              <a:buChar char="•"/>
            </a:pPr>
            <a:endParaRPr dirty="0"/>
          </a:p>
        </p:txBody>
      </p:sp>
      <p:sp>
        <p:nvSpPr>
          <p:cNvPr id="141" name="Google Shape;141;p16"/>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0D3B66"/>
                </a:solidFill>
                <a:latin typeface="Merriweather"/>
                <a:ea typeface="Merriweather"/>
                <a:cs typeface="Merriweather"/>
                <a:sym typeface="Merriweather"/>
              </a:rPr>
              <a:t>2_Problem statement &amp; importance:</a:t>
            </a:r>
            <a:endParaRPr dirty="0"/>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1250" advTm="4765">
        <p14:switch dir="r"/>
      </p:transition>
    </mc:Choice>
    <mc:Fallback>
      <p:transition spd="slow" advTm="4765">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1"/>
                                        </p:tgtEl>
                                        <p:attrNameLst>
                                          <p:attrName>style.visibility</p:attrName>
                                        </p:attrNameLst>
                                      </p:cBhvr>
                                      <p:to>
                                        <p:strVal val="visible"/>
                                      </p:to>
                                    </p:set>
                                    <p:anim calcmode="lin" valueType="num">
                                      <p:cBhvr additive="base">
                                        <p:cTn id="7" dur="500" fill="hold"/>
                                        <p:tgtEl>
                                          <p:spTgt spid="141"/>
                                        </p:tgtEl>
                                        <p:attrNameLst>
                                          <p:attrName>ppt_x</p:attrName>
                                        </p:attrNameLst>
                                      </p:cBhvr>
                                      <p:tavLst>
                                        <p:tav tm="0">
                                          <p:val>
                                            <p:strVal val="1+#ppt_w/2"/>
                                          </p:val>
                                        </p:tav>
                                        <p:tav tm="100000">
                                          <p:val>
                                            <p:strVal val="#ppt_x"/>
                                          </p:val>
                                        </p:tav>
                                      </p:tavLst>
                                    </p:anim>
                                    <p:anim calcmode="lin" valueType="num">
                                      <p:cBhvr additive="base">
                                        <p:cTn id="8" dur="500" fill="hold"/>
                                        <p:tgtEl>
                                          <p:spTgt spid="14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7"/>
                                        </p:tgtEl>
                                        <p:attrNameLst>
                                          <p:attrName>style.visibility</p:attrName>
                                        </p:attrNameLst>
                                      </p:cBhvr>
                                      <p:to>
                                        <p:strVal val="visible"/>
                                      </p:to>
                                    </p:set>
                                    <p:anim calcmode="lin" valueType="num">
                                      <p:cBhvr additive="base">
                                        <p:cTn id="13" dur="500" fill="hold"/>
                                        <p:tgtEl>
                                          <p:spTgt spid="127"/>
                                        </p:tgtEl>
                                        <p:attrNameLst>
                                          <p:attrName>ppt_x</p:attrName>
                                        </p:attrNameLst>
                                      </p:cBhvr>
                                      <p:tavLst>
                                        <p:tav tm="0">
                                          <p:val>
                                            <p:strVal val="0-#ppt_w/2"/>
                                          </p:val>
                                        </p:tav>
                                        <p:tav tm="100000">
                                          <p:val>
                                            <p:strVal val="#ppt_x"/>
                                          </p:val>
                                        </p:tav>
                                      </p:tavLst>
                                    </p:anim>
                                    <p:anim calcmode="lin" valueType="num">
                                      <p:cBhvr additive="base">
                                        <p:cTn id="14" dur="500" fill="hold"/>
                                        <p:tgtEl>
                                          <p:spTgt spid="12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0"/>
                                        </p:tgtEl>
                                        <p:attrNameLst>
                                          <p:attrName>style.visibility</p:attrName>
                                        </p:attrNameLst>
                                      </p:cBhvr>
                                      <p:to>
                                        <p:strVal val="visible"/>
                                      </p:to>
                                    </p:set>
                                    <p:anim calcmode="lin" valueType="num">
                                      <p:cBhvr additive="base">
                                        <p:cTn id="19" dur="500" fill="hold"/>
                                        <p:tgtEl>
                                          <p:spTgt spid="130"/>
                                        </p:tgtEl>
                                        <p:attrNameLst>
                                          <p:attrName>ppt_x</p:attrName>
                                        </p:attrNameLst>
                                      </p:cBhvr>
                                      <p:tavLst>
                                        <p:tav tm="0">
                                          <p:val>
                                            <p:strVal val="0-#ppt_w/2"/>
                                          </p:val>
                                        </p:tav>
                                        <p:tav tm="100000">
                                          <p:val>
                                            <p:strVal val="#ppt_x"/>
                                          </p:val>
                                        </p:tav>
                                      </p:tavLst>
                                    </p:anim>
                                    <p:anim calcmode="lin" valueType="num">
                                      <p:cBhvr additive="base">
                                        <p:cTn id="20" dur="500" fill="hold"/>
                                        <p:tgtEl>
                                          <p:spTgt spid="13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28"/>
                                        </p:tgtEl>
                                        <p:attrNameLst>
                                          <p:attrName>style.visibility</p:attrName>
                                        </p:attrNameLst>
                                      </p:cBhvr>
                                      <p:to>
                                        <p:strVal val="visible"/>
                                      </p:to>
                                    </p:set>
                                    <p:anim calcmode="lin" valueType="num">
                                      <p:cBhvr additive="base">
                                        <p:cTn id="25" dur="500" fill="hold"/>
                                        <p:tgtEl>
                                          <p:spTgt spid="128"/>
                                        </p:tgtEl>
                                        <p:attrNameLst>
                                          <p:attrName>ppt_x</p:attrName>
                                        </p:attrNameLst>
                                      </p:cBhvr>
                                      <p:tavLst>
                                        <p:tav tm="0">
                                          <p:val>
                                            <p:strVal val="1+#ppt_w/2"/>
                                          </p:val>
                                        </p:tav>
                                        <p:tav tm="100000">
                                          <p:val>
                                            <p:strVal val="#ppt_x"/>
                                          </p:val>
                                        </p:tav>
                                      </p:tavLst>
                                    </p:anim>
                                    <p:anim calcmode="lin" valueType="num">
                                      <p:cBhvr additive="base">
                                        <p:cTn id="26" dur="500" fill="hold"/>
                                        <p:tgtEl>
                                          <p:spTgt spid="12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136"/>
                                        </p:tgtEl>
                                        <p:attrNameLst>
                                          <p:attrName>style.visibility</p:attrName>
                                        </p:attrNameLst>
                                      </p:cBhvr>
                                      <p:to>
                                        <p:strVal val="visible"/>
                                      </p:to>
                                    </p:set>
                                    <p:anim calcmode="lin" valueType="num">
                                      <p:cBhvr additive="base">
                                        <p:cTn id="31" dur="500" fill="hold"/>
                                        <p:tgtEl>
                                          <p:spTgt spid="136"/>
                                        </p:tgtEl>
                                        <p:attrNameLst>
                                          <p:attrName>ppt_x</p:attrName>
                                        </p:attrNameLst>
                                      </p:cBhvr>
                                      <p:tavLst>
                                        <p:tav tm="0">
                                          <p:val>
                                            <p:strVal val="1+#ppt_w/2"/>
                                          </p:val>
                                        </p:tav>
                                        <p:tav tm="100000">
                                          <p:val>
                                            <p:strVal val="#ppt_x"/>
                                          </p:val>
                                        </p:tav>
                                      </p:tavLst>
                                    </p:anim>
                                    <p:anim calcmode="lin" valueType="num">
                                      <p:cBhvr additive="base">
                                        <p:cTn id="32" dur="500" fill="hold"/>
                                        <p:tgtEl>
                                          <p:spTgt spid="1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p:bldP spid="128" grpId="0"/>
      <p:bldP spid="130" grpId="0"/>
      <p:bldP spid="136" grpId="0"/>
      <p:bldP spid="14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45"/>
        <p:cNvGrpSpPr/>
        <p:nvPr/>
      </p:nvGrpSpPr>
      <p:grpSpPr>
        <a:xfrm>
          <a:off x="0" y="0"/>
          <a:ext cx="0" cy="0"/>
          <a:chOff x="0" y="0"/>
          <a:chExt cx="0" cy="0"/>
        </a:xfrm>
      </p:grpSpPr>
      <p:pic>
        <p:nvPicPr>
          <p:cNvPr id="146" name="Google Shape;146;p17"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47" name="Google Shape;147;p17"/>
          <p:cNvSpPr/>
          <p:nvPr/>
        </p:nvSpPr>
        <p:spPr>
          <a:xfrm>
            <a:off x="571500" y="3838575"/>
            <a:ext cx="11049000" cy="38100"/>
          </a:xfrm>
          <a:prstGeom prst="roundRect">
            <a:avLst>
              <a:gd name="adj" fmla="val 16667"/>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8" name="Google Shape;148;p17"/>
          <p:cNvSpPr txBox="1"/>
          <p:nvPr/>
        </p:nvSpPr>
        <p:spPr>
          <a:xfrm>
            <a:off x="521780" y="4095750"/>
            <a:ext cx="2088229" cy="590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rgbClr val="A01D2E"/>
                </a:solidFill>
                <a:latin typeface="Merriweather"/>
                <a:ea typeface="Merriweather"/>
                <a:cs typeface="Merriweather"/>
                <a:sym typeface="Merriweather"/>
              </a:rPr>
              <a:t>Study the fundamentals.</a:t>
            </a:r>
            <a:endParaRPr dirty="0"/>
          </a:p>
        </p:txBody>
      </p:sp>
      <p:sp>
        <p:nvSpPr>
          <p:cNvPr id="149" name="Google Shape;149;p17"/>
          <p:cNvSpPr txBox="1"/>
          <p:nvPr/>
        </p:nvSpPr>
        <p:spPr>
          <a:xfrm>
            <a:off x="2786795" y="2590800"/>
            <a:ext cx="2088229" cy="8858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rgbClr val="A01D2E"/>
                </a:solidFill>
                <a:latin typeface="Merriweather"/>
                <a:ea typeface="Merriweather"/>
                <a:cs typeface="Merriweather"/>
                <a:sym typeface="Merriweather"/>
              </a:rPr>
              <a:t>Simulation of transponder model.</a:t>
            </a:r>
            <a:endParaRPr dirty="0"/>
          </a:p>
        </p:txBody>
      </p:sp>
      <p:sp>
        <p:nvSpPr>
          <p:cNvPr id="150" name="Google Shape;150;p17"/>
          <p:cNvSpPr txBox="1"/>
          <p:nvPr/>
        </p:nvSpPr>
        <p:spPr>
          <a:xfrm>
            <a:off x="5051810" y="4095750"/>
            <a:ext cx="2088229" cy="590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rgbClr val="A01D2E"/>
                </a:solidFill>
                <a:latin typeface="Merriweather"/>
                <a:ea typeface="Merriweather"/>
                <a:cs typeface="Merriweather"/>
                <a:sym typeface="Merriweather"/>
              </a:rPr>
              <a:t>Practical design for the model.</a:t>
            </a:r>
            <a:endParaRPr dirty="0"/>
          </a:p>
        </p:txBody>
      </p:sp>
      <p:sp>
        <p:nvSpPr>
          <p:cNvPr id="151" name="Google Shape;151;p17"/>
          <p:cNvSpPr txBox="1"/>
          <p:nvPr/>
        </p:nvSpPr>
        <p:spPr>
          <a:xfrm>
            <a:off x="7316825" y="2886075"/>
            <a:ext cx="2088229" cy="5905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rgbClr val="A01D2E"/>
                </a:solidFill>
                <a:latin typeface="Merriweather"/>
                <a:ea typeface="Merriweather"/>
                <a:cs typeface="Merriweather"/>
                <a:sym typeface="Merriweather"/>
              </a:rPr>
              <a:t>Development the model.</a:t>
            </a:r>
            <a:endParaRPr dirty="0"/>
          </a:p>
        </p:txBody>
      </p:sp>
      <p:sp>
        <p:nvSpPr>
          <p:cNvPr id="152" name="Google Shape;152;p17"/>
          <p:cNvSpPr txBox="1"/>
          <p:nvPr/>
        </p:nvSpPr>
        <p:spPr>
          <a:xfrm>
            <a:off x="9581841" y="4095750"/>
            <a:ext cx="2088229" cy="8858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rgbClr val="A01D2E"/>
                </a:solidFill>
                <a:latin typeface="Merriweather"/>
                <a:ea typeface="Merriweather"/>
                <a:cs typeface="Merriweather"/>
                <a:sym typeface="Merriweather"/>
              </a:rPr>
              <a:t>Testing &amp; development the model.</a:t>
            </a:r>
            <a:endParaRPr dirty="0"/>
          </a:p>
        </p:txBody>
      </p:sp>
      <p:sp>
        <p:nvSpPr>
          <p:cNvPr id="153" name="Google Shape;153;p17"/>
          <p:cNvSpPr/>
          <p:nvPr/>
        </p:nvSpPr>
        <p:spPr>
          <a:xfrm>
            <a:off x="1470645" y="3762375"/>
            <a:ext cx="190500" cy="190500"/>
          </a:xfrm>
          <a:prstGeom prst="roundRect">
            <a:avLst>
              <a:gd name="adj" fmla="val 50000"/>
            </a:avLst>
          </a:prstGeom>
          <a:solidFill>
            <a:srgbClr val="FDFDFD"/>
          </a:solidFill>
          <a:ln w="38100" cap="flat" cmpd="sng">
            <a:solidFill>
              <a:srgbClr val="0D3B6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4" name="Google Shape;154;p17"/>
          <p:cNvSpPr/>
          <p:nvPr/>
        </p:nvSpPr>
        <p:spPr>
          <a:xfrm>
            <a:off x="3735660" y="3762375"/>
            <a:ext cx="190500" cy="190500"/>
          </a:xfrm>
          <a:prstGeom prst="roundRect">
            <a:avLst>
              <a:gd name="adj" fmla="val 50000"/>
            </a:avLst>
          </a:prstGeom>
          <a:solidFill>
            <a:srgbClr val="FDFDFD"/>
          </a:solidFill>
          <a:ln w="38100" cap="flat" cmpd="sng">
            <a:solidFill>
              <a:srgbClr val="0D3B6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5" name="Google Shape;155;p17"/>
          <p:cNvSpPr/>
          <p:nvPr/>
        </p:nvSpPr>
        <p:spPr>
          <a:xfrm>
            <a:off x="6000675" y="3762375"/>
            <a:ext cx="190500" cy="190500"/>
          </a:xfrm>
          <a:prstGeom prst="roundRect">
            <a:avLst>
              <a:gd name="adj" fmla="val 50000"/>
            </a:avLst>
          </a:prstGeom>
          <a:solidFill>
            <a:srgbClr val="FDFDFD"/>
          </a:solidFill>
          <a:ln w="38100" cap="flat" cmpd="sng">
            <a:solidFill>
              <a:srgbClr val="0D3B6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6" name="Google Shape;156;p17"/>
          <p:cNvSpPr/>
          <p:nvPr/>
        </p:nvSpPr>
        <p:spPr>
          <a:xfrm>
            <a:off x="8265690" y="3762375"/>
            <a:ext cx="190500" cy="190500"/>
          </a:xfrm>
          <a:prstGeom prst="roundRect">
            <a:avLst>
              <a:gd name="adj" fmla="val 50000"/>
            </a:avLst>
          </a:prstGeom>
          <a:solidFill>
            <a:srgbClr val="FDFDFD"/>
          </a:solidFill>
          <a:ln w="38100" cap="flat" cmpd="sng">
            <a:solidFill>
              <a:srgbClr val="0D3B6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7" name="Google Shape;157;p17"/>
          <p:cNvSpPr/>
          <p:nvPr/>
        </p:nvSpPr>
        <p:spPr>
          <a:xfrm>
            <a:off x="10530706" y="3762375"/>
            <a:ext cx="190500" cy="190500"/>
          </a:xfrm>
          <a:prstGeom prst="roundRect">
            <a:avLst>
              <a:gd name="adj" fmla="val 50000"/>
            </a:avLst>
          </a:prstGeom>
          <a:solidFill>
            <a:srgbClr val="FDFDFD"/>
          </a:solidFill>
          <a:ln w="38100" cap="flat" cmpd="sng">
            <a:solidFill>
              <a:srgbClr val="0D3B6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8" name="Google Shape;158;p17"/>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0D3B66"/>
                </a:solidFill>
                <a:latin typeface="Merriweather"/>
                <a:ea typeface="Merriweather"/>
                <a:cs typeface="Merriweather"/>
                <a:sym typeface="Merriweather"/>
              </a:rPr>
              <a:t>3_Implementation steps :</a:t>
            </a:r>
            <a:endParaRPr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50" advTm="5688">
        <p14:switch dir="r"/>
      </p:transition>
    </mc:Choice>
    <mc:Fallback>
      <p:transition spd="slow" advTm="568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158"/>
                                        </p:tgtEl>
                                        <p:attrNameLst>
                                          <p:attrName>style.visibility</p:attrName>
                                        </p:attrNameLst>
                                      </p:cBhvr>
                                      <p:to>
                                        <p:strVal val="visible"/>
                                      </p:to>
                                    </p:set>
                                    <p:animEffect transition="in" filter="fade">
                                      <p:cBhvr>
                                        <p:cTn id="7" dur="1000"/>
                                        <p:tgtEl>
                                          <p:spTgt spid="158"/>
                                        </p:tgtEl>
                                      </p:cBhvr>
                                    </p:animEffect>
                                    <p:anim calcmode="lin" valueType="num">
                                      <p:cBhvr>
                                        <p:cTn id="8" dur="1000" fill="hold"/>
                                        <p:tgtEl>
                                          <p:spTgt spid="158"/>
                                        </p:tgtEl>
                                        <p:attrNameLst>
                                          <p:attrName>ppt_x</p:attrName>
                                        </p:attrNameLst>
                                      </p:cBhvr>
                                      <p:tavLst>
                                        <p:tav tm="0">
                                          <p:val>
                                            <p:strVal val="#ppt_x"/>
                                          </p:val>
                                        </p:tav>
                                        <p:tav tm="100000">
                                          <p:val>
                                            <p:strVal val="#ppt_x"/>
                                          </p:val>
                                        </p:tav>
                                      </p:tavLst>
                                    </p:anim>
                                    <p:anim calcmode="lin" valueType="num">
                                      <p:cBhvr>
                                        <p:cTn id="9" dur="1000" fill="hold"/>
                                        <p:tgtEl>
                                          <p:spTgt spid="15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147"/>
                                        </p:tgtEl>
                                        <p:attrNameLst>
                                          <p:attrName>style.visibility</p:attrName>
                                        </p:attrNameLst>
                                      </p:cBhvr>
                                      <p:to>
                                        <p:strVal val="visible"/>
                                      </p:to>
                                    </p:set>
                                    <p:anim calcmode="lin" valueType="num">
                                      <p:cBhvr additive="base">
                                        <p:cTn id="14" dur="500" fill="hold"/>
                                        <p:tgtEl>
                                          <p:spTgt spid="147"/>
                                        </p:tgtEl>
                                        <p:attrNameLst>
                                          <p:attrName>ppt_x</p:attrName>
                                        </p:attrNameLst>
                                      </p:cBhvr>
                                      <p:tavLst>
                                        <p:tav tm="0">
                                          <p:val>
                                            <p:strVal val="0-#ppt_w/2"/>
                                          </p:val>
                                        </p:tav>
                                        <p:tav tm="100000">
                                          <p:val>
                                            <p:strVal val="#ppt_x"/>
                                          </p:val>
                                        </p:tav>
                                      </p:tavLst>
                                    </p:anim>
                                    <p:anim calcmode="lin" valueType="num">
                                      <p:cBhvr additive="base">
                                        <p:cTn id="15" dur="500" fill="hold"/>
                                        <p:tgtEl>
                                          <p:spTgt spid="147"/>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148"/>
                                        </p:tgtEl>
                                        <p:attrNameLst>
                                          <p:attrName>style.visibility</p:attrName>
                                        </p:attrNameLst>
                                      </p:cBhvr>
                                      <p:to>
                                        <p:strVal val="visible"/>
                                      </p:to>
                                    </p:set>
                                    <p:anim calcmode="lin" valueType="num">
                                      <p:cBhvr additive="base">
                                        <p:cTn id="20" dur="500" fill="hold"/>
                                        <p:tgtEl>
                                          <p:spTgt spid="148"/>
                                        </p:tgtEl>
                                        <p:attrNameLst>
                                          <p:attrName>ppt_x</p:attrName>
                                        </p:attrNameLst>
                                      </p:cBhvr>
                                      <p:tavLst>
                                        <p:tav tm="0">
                                          <p:val>
                                            <p:strVal val="0-#ppt_w/2"/>
                                          </p:val>
                                        </p:tav>
                                        <p:tav tm="100000">
                                          <p:val>
                                            <p:strVal val="#ppt_x"/>
                                          </p:val>
                                        </p:tav>
                                      </p:tavLst>
                                    </p:anim>
                                    <p:anim calcmode="lin" valueType="num">
                                      <p:cBhvr additive="base">
                                        <p:cTn id="21" dur="500" fill="hold"/>
                                        <p:tgtEl>
                                          <p:spTgt spid="148"/>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1" fill="hold" grpId="0" nodeType="clickEffect">
                                  <p:stCondLst>
                                    <p:cond delay="0"/>
                                  </p:stCondLst>
                                  <p:childTnLst>
                                    <p:set>
                                      <p:cBhvr>
                                        <p:cTn id="25" dur="1" fill="hold">
                                          <p:stCondLst>
                                            <p:cond delay="0"/>
                                          </p:stCondLst>
                                        </p:cTn>
                                        <p:tgtEl>
                                          <p:spTgt spid="149"/>
                                        </p:tgtEl>
                                        <p:attrNameLst>
                                          <p:attrName>style.visibility</p:attrName>
                                        </p:attrNameLst>
                                      </p:cBhvr>
                                      <p:to>
                                        <p:strVal val="visible"/>
                                      </p:to>
                                    </p:set>
                                    <p:anim calcmode="lin" valueType="num">
                                      <p:cBhvr additive="base">
                                        <p:cTn id="26" dur="500" fill="hold"/>
                                        <p:tgtEl>
                                          <p:spTgt spid="149"/>
                                        </p:tgtEl>
                                        <p:attrNameLst>
                                          <p:attrName>ppt_x</p:attrName>
                                        </p:attrNameLst>
                                      </p:cBhvr>
                                      <p:tavLst>
                                        <p:tav tm="0">
                                          <p:val>
                                            <p:strVal val="#ppt_x"/>
                                          </p:val>
                                        </p:tav>
                                        <p:tav tm="100000">
                                          <p:val>
                                            <p:strVal val="#ppt_x"/>
                                          </p:val>
                                        </p:tav>
                                      </p:tavLst>
                                    </p:anim>
                                    <p:anim calcmode="lin" valueType="num">
                                      <p:cBhvr additive="base">
                                        <p:cTn id="27" dur="500" fill="hold"/>
                                        <p:tgtEl>
                                          <p:spTgt spid="149"/>
                                        </p:tgtEl>
                                        <p:attrNameLst>
                                          <p:attrName>ppt_y</p:attrName>
                                        </p:attrNameLst>
                                      </p:cBhvr>
                                      <p:tavLst>
                                        <p:tav tm="0">
                                          <p:val>
                                            <p:strVal val="0-#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50"/>
                                        </p:tgtEl>
                                        <p:attrNameLst>
                                          <p:attrName>style.visibility</p:attrName>
                                        </p:attrNameLst>
                                      </p:cBhvr>
                                      <p:to>
                                        <p:strVal val="visible"/>
                                      </p:to>
                                    </p:set>
                                    <p:anim calcmode="lin" valueType="num">
                                      <p:cBhvr additive="base">
                                        <p:cTn id="32" dur="500" fill="hold"/>
                                        <p:tgtEl>
                                          <p:spTgt spid="150"/>
                                        </p:tgtEl>
                                        <p:attrNameLst>
                                          <p:attrName>ppt_x</p:attrName>
                                        </p:attrNameLst>
                                      </p:cBhvr>
                                      <p:tavLst>
                                        <p:tav tm="0">
                                          <p:val>
                                            <p:strVal val="#ppt_x"/>
                                          </p:val>
                                        </p:tav>
                                        <p:tav tm="100000">
                                          <p:val>
                                            <p:strVal val="#ppt_x"/>
                                          </p:val>
                                        </p:tav>
                                      </p:tavLst>
                                    </p:anim>
                                    <p:anim calcmode="lin" valueType="num">
                                      <p:cBhvr additive="base">
                                        <p:cTn id="33" dur="500" fill="hold"/>
                                        <p:tgtEl>
                                          <p:spTgt spid="150"/>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1" fill="hold" grpId="0" nodeType="clickEffect">
                                  <p:stCondLst>
                                    <p:cond delay="0"/>
                                  </p:stCondLst>
                                  <p:childTnLst>
                                    <p:set>
                                      <p:cBhvr>
                                        <p:cTn id="37" dur="1" fill="hold">
                                          <p:stCondLst>
                                            <p:cond delay="0"/>
                                          </p:stCondLst>
                                        </p:cTn>
                                        <p:tgtEl>
                                          <p:spTgt spid="151"/>
                                        </p:tgtEl>
                                        <p:attrNameLst>
                                          <p:attrName>style.visibility</p:attrName>
                                        </p:attrNameLst>
                                      </p:cBhvr>
                                      <p:to>
                                        <p:strVal val="visible"/>
                                      </p:to>
                                    </p:set>
                                    <p:anim calcmode="lin" valueType="num">
                                      <p:cBhvr additive="base">
                                        <p:cTn id="38" dur="500" fill="hold"/>
                                        <p:tgtEl>
                                          <p:spTgt spid="151"/>
                                        </p:tgtEl>
                                        <p:attrNameLst>
                                          <p:attrName>ppt_x</p:attrName>
                                        </p:attrNameLst>
                                      </p:cBhvr>
                                      <p:tavLst>
                                        <p:tav tm="0">
                                          <p:val>
                                            <p:strVal val="#ppt_x"/>
                                          </p:val>
                                        </p:tav>
                                        <p:tav tm="100000">
                                          <p:val>
                                            <p:strVal val="#ppt_x"/>
                                          </p:val>
                                        </p:tav>
                                      </p:tavLst>
                                    </p:anim>
                                    <p:anim calcmode="lin" valueType="num">
                                      <p:cBhvr additive="base">
                                        <p:cTn id="39" dur="500" fill="hold"/>
                                        <p:tgtEl>
                                          <p:spTgt spid="151"/>
                                        </p:tgtEl>
                                        <p:attrNameLst>
                                          <p:attrName>ppt_y</p:attrName>
                                        </p:attrNameLst>
                                      </p:cBhvr>
                                      <p:tavLst>
                                        <p:tav tm="0">
                                          <p:val>
                                            <p:strVal val="0-#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152"/>
                                        </p:tgtEl>
                                        <p:attrNameLst>
                                          <p:attrName>style.visibility</p:attrName>
                                        </p:attrNameLst>
                                      </p:cBhvr>
                                      <p:to>
                                        <p:strVal val="visible"/>
                                      </p:to>
                                    </p:set>
                                    <p:anim calcmode="lin" valueType="num">
                                      <p:cBhvr additive="base">
                                        <p:cTn id="44" dur="500" fill="hold"/>
                                        <p:tgtEl>
                                          <p:spTgt spid="152"/>
                                        </p:tgtEl>
                                        <p:attrNameLst>
                                          <p:attrName>ppt_x</p:attrName>
                                        </p:attrNameLst>
                                      </p:cBhvr>
                                      <p:tavLst>
                                        <p:tav tm="0">
                                          <p:val>
                                            <p:strVal val="#ppt_x"/>
                                          </p:val>
                                        </p:tav>
                                        <p:tav tm="100000">
                                          <p:val>
                                            <p:strVal val="#ppt_x"/>
                                          </p:val>
                                        </p:tav>
                                      </p:tavLst>
                                    </p:anim>
                                    <p:anim calcmode="lin" valueType="num">
                                      <p:cBhvr additive="base">
                                        <p:cTn id="45" dur="500" fill="hold"/>
                                        <p:tgtEl>
                                          <p:spTgt spid="1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 grpId="0" animBg="1"/>
      <p:bldP spid="148" grpId="0"/>
      <p:bldP spid="149" grpId="0"/>
      <p:bldP spid="150" grpId="0"/>
      <p:bldP spid="151" grpId="0"/>
      <p:bldP spid="152" grpId="0"/>
      <p:bldP spid="15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62"/>
        <p:cNvGrpSpPr/>
        <p:nvPr/>
      </p:nvGrpSpPr>
      <p:grpSpPr>
        <a:xfrm>
          <a:off x="0" y="0"/>
          <a:ext cx="0" cy="0"/>
          <a:chOff x="0" y="0"/>
          <a:chExt cx="0" cy="0"/>
        </a:xfrm>
      </p:grpSpPr>
      <p:pic>
        <p:nvPicPr>
          <p:cNvPr id="163" name="Google Shape;163;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64" name="Google Shape;164;p18"/>
          <p:cNvSpPr txBox="1"/>
          <p:nvPr/>
        </p:nvSpPr>
        <p:spPr>
          <a:xfrm>
            <a:off x="2190750" y="2745283"/>
            <a:ext cx="8191500" cy="4425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altLang="en-US" sz="1800" b="0" i="0" u="none" strike="noStrike" cap="none" dirty="0">
                <a:solidFill>
                  <a:srgbClr val="333333"/>
                </a:solidFill>
                <a:latin typeface="DM Sans"/>
                <a:ea typeface="DM Sans"/>
                <a:cs typeface="DM Sans"/>
                <a:sym typeface="DM Sans"/>
              </a:rPr>
              <a:t>Satellite Subsystems : Bus , Payload</a:t>
            </a:r>
            <a:r>
              <a:rPr lang="en-US" sz="1800" b="0" i="0" u="none" strike="noStrike" cap="none" dirty="0">
                <a:solidFill>
                  <a:srgbClr val="333333"/>
                </a:solidFill>
                <a:latin typeface="DM Sans"/>
                <a:ea typeface="DM Sans"/>
                <a:cs typeface="DM Sans"/>
                <a:sym typeface="DM Sans"/>
              </a:rPr>
              <a:t>.</a:t>
            </a:r>
            <a:endParaRPr dirty="0"/>
          </a:p>
        </p:txBody>
      </p:sp>
      <p:sp>
        <p:nvSpPr>
          <p:cNvPr id="165" name="Google Shape;165;p18"/>
          <p:cNvSpPr txBox="1"/>
          <p:nvPr/>
        </p:nvSpPr>
        <p:spPr>
          <a:xfrm>
            <a:off x="2190750" y="3301454"/>
            <a:ext cx="81915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333333"/>
                </a:solidFill>
                <a:latin typeface="DM Sans"/>
                <a:ea typeface="DM Sans"/>
                <a:cs typeface="DM Sans"/>
                <a:sym typeface="DM Sans"/>
              </a:rPr>
              <a:t>Satellite orbits: GEO, MEO, LEO, HEO.</a:t>
            </a:r>
            <a:endParaRPr dirty="0"/>
          </a:p>
        </p:txBody>
      </p:sp>
      <p:sp>
        <p:nvSpPr>
          <p:cNvPr id="166" name="Google Shape;166;p18"/>
          <p:cNvSpPr txBox="1"/>
          <p:nvPr/>
        </p:nvSpPr>
        <p:spPr>
          <a:xfrm>
            <a:off x="2190750" y="3857625"/>
            <a:ext cx="81915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333333"/>
                </a:solidFill>
                <a:latin typeface="DM Sans"/>
                <a:ea typeface="DM Sans"/>
                <a:cs typeface="DM Sans"/>
                <a:sym typeface="DM Sans"/>
              </a:rPr>
              <a:t>Transponder types: Bent Pipe vs Smart (On-board Processing).</a:t>
            </a:r>
            <a:endParaRPr lang="en-US" sz="1800" b="0" i="0" u="none" strike="noStrike" cap="none">
              <a:solidFill>
                <a:srgbClr val="333333"/>
              </a:solidFill>
              <a:latin typeface="DM Sans"/>
              <a:ea typeface="DM Sans"/>
              <a:cs typeface="DM Sans"/>
              <a:sym typeface="DM Sans"/>
            </a:endParaRPr>
          </a:p>
        </p:txBody>
      </p:sp>
      <p:pic>
        <p:nvPicPr>
          <p:cNvPr id="168" name="Google Shape;168;p18" descr="image.png"/>
          <p:cNvPicPr preferRelativeResize="0"/>
          <p:nvPr/>
        </p:nvPicPr>
        <p:blipFill rotWithShape="1">
          <a:blip r:embed="rId2"/>
          <a:srcRect/>
          <a:stretch>
            <a:fillRect/>
          </a:stretch>
        </p:blipFill>
        <p:spPr>
          <a:xfrm>
            <a:off x="1809750" y="2792908"/>
            <a:ext cx="285750" cy="228600"/>
          </a:xfrm>
          <a:prstGeom prst="rect">
            <a:avLst/>
          </a:prstGeom>
          <a:noFill/>
          <a:ln>
            <a:noFill/>
          </a:ln>
        </p:spPr>
      </p:pic>
      <p:pic>
        <p:nvPicPr>
          <p:cNvPr id="169" name="Google Shape;169;p18" descr="image.png"/>
          <p:cNvPicPr preferRelativeResize="0"/>
          <p:nvPr/>
        </p:nvPicPr>
        <p:blipFill rotWithShape="1">
          <a:blip r:embed="rId3"/>
          <a:srcRect/>
          <a:stretch>
            <a:fillRect/>
          </a:stretch>
        </p:blipFill>
        <p:spPr>
          <a:xfrm>
            <a:off x="1809750" y="3349079"/>
            <a:ext cx="228600" cy="228600"/>
          </a:xfrm>
          <a:prstGeom prst="rect">
            <a:avLst/>
          </a:prstGeom>
          <a:noFill/>
          <a:ln>
            <a:noFill/>
          </a:ln>
        </p:spPr>
      </p:pic>
      <p:pic>
        <p:nvPicPr>
          <p:cNvPr id="170" name="Google Shape;170;p18" descr="image.png"/>
          <p:cNvPicPr preferRelativeResize="0"/>
          <p:nvPr/>
        </p:nvPicPr>
        <p:blipFill rotWithShape="1">
          <a:blip r:embed="rId4"/>
          <a:srcRect/>
          <a:stretch>
            <a:fillRect/>
          </a:stretch>
        </p:blipFill>
        <p:spPr>
          <a:xfrm>
            <a:off x="1809750" y="3905250"/>
            <a:ext cx="228600" cy="228600"/>
          </a:xfrm>
          <a:prstGeom prst="rect">
            <a:avLst/>
          </a:prstGeom>
          <a:noFill/>
          <a:ln>
            <a:noFill/>
          </a:ln>
        </p:spPr>
      </p:pic>
      <p:sp>
        <p:nvSpPr>
          <p:cNvPr id="172" name="Google Shape;172;p18"/>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0D3B66"/>
                </a:solidFill>
                <a:latin typeface="Merriweather"/>
                <a:ea typeface="Merriweather"/>
                <a:cs typeface="Merriweather"/>
                <a:sym typeface="Merriweather"/>
              </a:rPr>
              <a:t>4_Theoretical Fundamentals :</a:t>
            </a:r>
            <a:endParaRPr dirty="0"/>
          </a:p>
        </p:txBody>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1250" advTm="1791">
        <p14:switch dir="r"/>
      </p:transition>
    </mc:Choice>
    <mc:Fallback>
      <p:transition spd="slow" advTm="1791">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anim calcmode="lin" valueType="num">
                                      <p:cBhvr additive="base">
                                        <p:cTn id="7" dur="500" fill="hold"/>
                                        <p:tgtEl>
                                          <p:spTgt spid="163"/>
                                        </p:tgtEl>
                                        <p:attrNameLst>
                                          <p:attrName>ppt_x</p:attrName>
                                        </p:attrNameLst>
                                      </p:cBhvr>
                                      <p:tavLst>
                                        <p:tav tm="0">
                                          <p:val>
                                            <p:strVal val="#ppt_x"/>
                                          </p:val>
                                        </p:tav>
                                        <p:tav tm="100000">
                                          <p:val>
                                            <p:strVal val="#ppt_x"/>
                                          </p:val>
                                        </p:tav>
                                      </p:tavLst>
                                    </p:anim>
                                    <p:anim calcmode="lin" valueType="num">
                                      <p:cBhvr additive="base">
                                        <p:cTn id="8" dur="500" fill="hold"/>
                                        <p:tgtEl>
                                          <p:spTgt spid="163"/>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64"/>
                                        </p:tgtEl>
                                        <p:attrNameLst>
                                          <p:attrName>style.visibility</p:attrName>
                                        </p:attrNameLst>
                                      </p:cBhvr>
                                      <p:to>
                                        <p:strVal val="visible"/>
                                      </p:to>
                                    </p:set>
                                    <p:anim calcmode="lin" valueType="num">
                                      <p:cBhvr additive="base">
                                        <p:cTn id="11" dur="500" fill="hold"/>
                                        <p:tgtEl>
                                          <p:spTgt spid="164"/>
                                        </p:tgtEl>
                                        <p:attrNameLst>
                                          <p:attrName>ppt_x</p:attrName>
                                        </p:attrNameLst>
                                      </p:cBhvr>
                                      <p:tavLst>
                                        <p:tav tm="0">
                                          <p:val>
                                            <p:strVal val="#ppt_x"/>
                                          </p:val>
                                        </p:tav>
                                        <p:tav tm="100000">
                                          <p:val>
                                            <p:strVal val="#ppt_x"/>
                                          </p:val>
                                        </p:tav>
                                      </p:tavLst>
                                    </p:anim>
                                    <p:anim calcmode="lin" valueType="num">
                                      <p:cBhvr additive="base">
                                        <p:cTn id="12" dur="500" fill="hold"/>
                                        <p:tgtEl>
                                          <p:spTgt spid="164"/>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165"/>
                                        </p:tgtEl>
                                        <p:attrNameLst>
                                          <p:attrName>style.visibility</p:attrName>
                                        </p:attrNameLst>
                                      </p:cBhvr>
                                      <p:to>
                                        <p:strVal val="visible"/>
                                      </p:to>
                                    </p:set>
                                    <p:anim calcmode="lin" valueType="num">
                                      <p:cBhvr additive="base">
                                        <p:cTn id="15" dur="500" fill="hold"/>
                                        <p:tgtEl>
                                          <p:spTgt spid="165"/>
                                        </p:tgtEl>
                                        <p:attrNameLst>
                                          <p:attrName>ppt_x</p:attrName>
                                        </p:attrNameLst>
                                      </p:cBhvr>
                                      <p:tavLst>
                                        <p:tav tm="0">
                                          <p:val>
                                            <p:strVal val="#ppt_x"/>
                                          </p:val>
                                        </p:tav>
                                        <p:tav tm="100000">
                                          <p:val>
                                            <p:strVal val="#ppt_x"/>
                                          </p:val>
                                        </p:tav>
                                      </p:tavLst>
                                    </p:anim>
                                    <p:anim calcmode="lin" valueType="num">
                                      <p:cBhvr additive="base">
                                        <p:cTn id="16" dur="500" fill="hold"/>
                                        <p:tgtEl>
                                          <p:spTgt spid="165"/>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166"/>
                                        </p:tgtEl>
                                        <p:attrNameLst>
                                          <p:attrName>style.visibility</p:attrName>
                                        </p:attrNameLst>
                                      </p:cBhvr>
                                      <p:to>
                                        <p:strVal val="visible"/>
                                      </p:to>
                                    </p:set>
                                    <p:anim calcmode="lin" valueType="num">
                                      <p:cBhvr additive="base">
                                        <p:cTn id="19" dur="500" fill="hold"/>
                                        <p:tgtEl>
                                          <p:spTgt spid="166"/>
                                        </p:tgtEl>
                                        <p:attrNameLst>
                                          <p:attrName>ppt_x</p:attrName>
                                        </p:attrNameLst>
                                      </p:cBhvr>
                                      <p:tavLst>
                                        <p:tav tm="0">
                                          <p:val>
                                            <p:strVal val="#ppt_x"/>
                                          </p:val>
                                        </p:tav>
                                        <p:tav tm="100000">
                                          <p:val>
                                            <p:strVal val="#ppt_x"/>
                                          </p:val>
                                        </p:tav>
                                      </p:tavLst>
                                    </p:anim>
                                    <p:anim calcmode="lin" valueType="num">
                                      <p:cBhvr additive="base">
                                        <p:cTn id="20" dur="500" fill="hold"/>
                                        <p:tgtEl>
                                          <p:spTgt spid="166"/>
                                        </p:tgtEl>
                                        <p:attrNameLst>
                                          <p:attrName>ppt_y</p:attrName>
                                        </p:attrNameLst>
                                      </p:cBhvr>
                                      <p:tavLst>
                                        <p:tav tm="0">
                                          <p:val>
                                            <p:strVal val="0-#ppt_h/2"/>
                                          </p:val>
                                        </p:tav>
                                        <p:tav tm="100000">
                                          <p:val>
                                            <p:strVal val="#ppt_y"/>
                                          </p:val>
                                        </p:tav>
                                      </p:tavLst>
                                    </p:anim>
                                  </p:childTnLst>
                                </p:cTn>
                              </p:par>
                              <p:par>
                                <p:cTn id="21" presetID="2" presetClass="entr" presetSubtype="1" fill="hold" nodeType="withEffect">
                                  <p:stCondLst>
                                    <p:cond delay="0"/>
                                  </p:stCondLst>
                                  <p:childTnLst>
                                    <p:set>
                                      <p:cBhvr>
                                        <p:cTn id="22" dur="1" fill="hold">
                                          <p:stCondLst>
                                            <p:cond delay="0"/>
                                          </p:stCondLst>
                                        </p:cTn>
                                        <p:tgtEl>
                                          <p:spTgt spid="168"/>
                                        </p:tgtEl>
                                        <p:attrNameLst>
                                          <p:attrName>style.visibility</p:attrName>
                                        </p:attrNameLst>
                                      </p:cBhvr>
                                      <p:to>
                                        <p:strVal val="visible"/>
                                      </p:to>
                                    </p:set>
                                    <p:anim calcmode="lin" valueType="num">
                                      <p:cBhvr additive="base">
                                        <p:cTn id="23" dur="500" fill="hold"/>
                                        <p:tgtEl>
                                          <p:spTgt spid="168"/>
                                        </p:tgtEl>
                                        <p:attrNameLst>
                                          <p:attrName>ppt_x</p:attrName>
                                        </p:attrNameLst>
                                      </p:cBhvr>
                                      <p:tavLst>
                                        <p:tav tm="0">
                                          <p:val>
                                            <p:strVal val="#ppt_x"/>
                                          </p:val>
                                        </p:tav>
                                        <p:tav tm="100000">
                                          <p:val>
                                            <p:strVal val="#ppt_x"/>
                                          </p:val>
                                        </p:tav>
                                      </p:tavLst>
                                    </p:anim>
                                    <p:anim calcmode="lin" valueType="num">
                                      <p:cBhvr additive="base">
                                        <p:cTn id="24" dur="500" fill="hold"/>
                                        <p:tgtEl>
                                          <p:spTgt spid="168"/>
                                        </p:tgtEl>
                                        <p:attrNameLst>
                                          <p:attrName>ppt_y</p:attrName>
                                        </p:attrNameLst>
                                      </p:cBhvr>
                                      <p:tavLst>
                                        <p:tav tm="0">
                                          <p:val>
                                            <p:strVal val="0-#ppt_h/2"/>
                                          </p:val>
                                        </p:tav>
                                        <p:tav tm="100000">
                                          <p:val>
                                            <p:strVal val="#ppt_y"/>
                                          </p:val>
                                        </p:tav>
                                      </p:tavLst>
                                    </p:anim>
                                  </p:childTnLst>
                                </p:cTn>
                              </p:par>
                              <p:par>
                                <p:cTn id="25" presetID="2" presetClass="entr" presetSubtype="1" fill="hold" nodeType="withEffect">
                                  <p:stCondLst>
                                    <p:cond delay="0"/>
                                  </p:stCondLst>
                                  <p:childTnLst>
                                    <p:set>
                                      <p:cBhvr>
                                        <p:cTn id="26" dur="1" fill="hold">
                                          <p:stCondLst>
                                            <p:cond delay="0"/>
                                          </p:stCondLst>
                                        </p:cTn>
                                        <p:tgtEl>
                                          <p:spTgt spid="169"/>
                                        </p:tgtEl>
                                        <p:attrNameLst>
                                          <p:attrName>style.visibility</p:attrName>
                                        </p:attrNameLst>
                                      </p:cBhvr>
                                      <p:to>
                                        <p:strVal val="visible"/>
                                      </p:to>
                                    </p:set>
                                    <p:anim calcmode="lin" valueType="num">
                                      <p:cBhvr additive="base">
                                        <p:cTn id="27" dur="500" fill="hold"/>
                                        <p:tgtEl>
                                          <p:spTgt spid="169"/>
                                        </p:tgtEl>
                                        <p:attrNameLst>
                                          <p:attrName>ppt_x</p:attrName>
                                        </p:attrNameLst>
                                      </p:cBhvr>
                                      <p:tavLst>
                                        <p:tav tm="0">
                                          <p:val>
                                            <p:strVal val="#ppt_x"/>
                                          </p:val>
                                        </p:tav>
                                        <p:tav tm="100000">
                                          <p:val>
                                            <p:strVal val="#ppt_x"/>
                                          </p:val>
                                        </p:tav>
                                      </p:tavLst>
                                    </p:anim>
                                    <p:anim calcmode="lin" valueType="num">
                                      <p:cBhvr additive="base">
                                        <p:cTn id="28" dur="500" fill="hold"/>
                                        <p:tgtEl>
                                          <p:spTgt spid="169"/>
                                        </p:tgtEl>
                                        <p:attrNameLst>
                                          <p:attrName>ppt_y</p:attrName>
                                        </p:attrNameLst>
                                      </p:cBhvr>
                                      <p:tavLst>
                                        <p:tav tm="0">
                                          <p:val>
                                            <p:strVal val="0-#ppt_h/2"/>
                                          </p:val>
                                        </p:tav>
                                        <p:tav tm="100000">
                                          <p:val>
                                            <p:strVal val="#ppt_y"/>
                                          </p:val>
                                        </p:tav>
                                      </p:tavLst>
                                    </p:anim>
                                  </p:childTnLst>
                                </p:cTn>
                              </p:par>
                              <p:par>
                                <p:cTn id="29" presetID="2" presetClass="entr" presetSubtype="1" fill="hold" nodeType="withEffect">
                                  <p:stCondLst>
                                    <p:cond delay="0"/>
                                  </p:stCondLst>
                                  <p:childTnLst>
                                    <p:set>
                                      <p:cBhvr>
                                        <p:cTn id="30" dur="1" fill="hold">
                                          <p:stCondLst>
                                            <p:cond delay="0"/>
                                          </p:stCondLst>
                                        </p:cTn>
                                        <p:tgtEl>
                                          <p:spTgt spid="170"/>
                                        </p:tgtEl>
                                        <p:attrNameLst>
                                          <p:attrName>style.visibility</p:attrName>
                                        </p:attrNameLst>
                                      </p:cBhvr>
                                      <p:to>
                                        <p:strVal val="visible"/>
                                      </p:to>
                                    </p:set>
                                    <p:anim calcmode="lin" valueType="num">
                                      <p:cBhvr additive="base">
                                        <p:cTn id="31" dur="500" fill="hold"/>
                                        <p:tgtEl>
                                          <p:spTgt spid="170"/>
                                        </p:tgtEl>
                                        <p:attrNameLst>
                                          <p:attrName>ppt_x</p:attrName>
                                        </p:attrNameLst>
                                      </p:cBhvr>
                                      <p:tavLst>
                                        <p:tav tm="0">
                                          <p:val>
                                            <p:strVal val="#ppt_x"/>
                                          </p:val>
                                        </p:tav>
                                        <p:tav tm="100000">
                                          <p:val>
                                            <p:strVal val="#ppt_x"/>
                                          </p:val>
                                        </p:tav>
                                      </p:tavLst>
                                    </p:anim>
                                    <p:anim calcmode="lin" valueType="num">
                                      <p:cBhvr additive="base">
                                        <p:cTn id="32" dur="500" fill="hold"/>
                                        <p:tgtEl>
                                          <p:spTgt spid="170"/>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p:stCondLst>
                                    <p:cond delay="0"/>
                                  </p:stCondLst>
                                  <p:childTnLst>
                                    <p:set>
                                      <p:cBhvr>
                                        <p:cTn id="34" dur="1" fill="hold">
                                          <p:stCondLst>
                                            <p:cond delay="0"/>
                                          </p:stCondLst>
                                        </p:cTn>
                                        <p:tgtEl>
                                          <p:spTgt spid="172"/>
                                        </p:tgtEl>
                                        <p:attrNameLst>
                                          <p:attrName>style.visibility</p:attrName>
                                        </p:attrNameLst>
                                      </p:cBhvr>
                                      <p:to>
                                        <p:strVal val="visible"/>
                                      </p:to>
                                    </p:set>
                                    <p:anim calcmode="lin" valueType="num">
                                      <p:cBhvr additive="base">
                                        <p:cTn id="35" dur="500" fill="hold"/>
                                        <p:tgtEl>
                                          <p:spTgt spid="172"/>
                                        </p:tgtEl>
                                        <p:attrNameLst>
                                          <p:attrName>ppt_x</p:attrName>
                                        </p:attrNameLst>
                                      </p:cBhvr>
                                      <p:tavLst>
                                        <p:tav tm="0">
                                          <p:val>
                                            <p:strVal val="#ppt_x"/>
                                          </p:val>
                                        </p:tav>
                                        <p:tav tm="100000">
                                          <p:val>
                                            <p:strVal val="#ppt_x"/>
                                          </p:val>
                                        </p:tav>
                                      </p:tavLst>
                                    </p:anim>
                                    <p:anim calcmode="lin" valueType="num">
                                      <p:cBhvr additive="base">
                                        <p:cTn id="36" dur="500" fill="hold"/>
                                        <p:tgtEl>
                                          <p:spTgt spid="17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 grpId="0"/>
      <p:bldP spid="165" grpId="0"/>
      <p:bldP spid="166" grpId="0"/>
      <p:bldP spid="17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76"/>
        <p:cNvGrpSpPr/>
        <p:nvPr/>
      </p:nvGrpSpPr>
      <p:grpSpPr>
        <a:xfrm>
          <a:off x="0" y="0"/>
          <a:ext cx="0" cy="0"/>
          <a:chOff x="0" y="0"/>
          <a:chExt cx="0" cy="0"/>
        </a:xfrm>
      </p:grpSpPr>
      <p:pic>
        <p:nvPicPr>
          <p:cNvPr id="177" name="Google Shape;177;p19" descr="image.png"/>
          <p:cNvPicPr preferRelativeResize="0"/>
          <p:nvPr/>
        </p:nvPicPr>
        <p:blipFill rotWithShape="1">
          <a:blip r:embed="rId1"/>
          <a:srcRect/>
          <a:stretch>
            <a:fillRect/>
          </a:stretch>
        </p:blipFill>
        <p:spPr>
          <a:xfrm>
            <a:off x="0" y="-101600"/>
            <a:ext cx="12192000" cy="6858000"/>
          </a:xfrm>
          <a:prstGeom prst="rect">
            <a:avLst/>
          </a:prstGeom>
          <a:noFill/>
          <a:ln>
            <a:noFill/>
          </a:ln>
        </p:spPr>
      </p:pic>
      <p:sp>
        <p:nvSpPr>
          <p:cNvPr id="182" name="Google Shape;182;p19"/>
          <p:cNvSpPr txBox="1"/>
          <p:nvPr/>
        </p:nvSpPr>
        <p:spPr>
          <a:xfrm>
            <a:off x="571500" y="264160"/>
            <a:ext cx="5276850" cy="92329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altLang="en-US" sz="3000" b="1" i="0" u="none" strike="noStrike" cap="none">
                <a:solidFill>
                  <a:srgbClr val="0D3B66"/>
                </a:solidFill>
                <a:latin typeface="Merriweather"/>
                <a:ea typeface="Merriweather"/>
                <a:cs typeface="Merriweather"/>
                <a:sym typeface="Merriweather"/>
              </a:rPr>
              <a:t>4.1-Satellite Subsystems :</a:t>
            </a:r>
            <a:endParaRPr lang="en-US" altLang="en-US" sz="3000" b="1" i="0" u="none" strike="noStrike" cap="none">
              <a:solidFill>
                <a:srgbClr val="0D3B66"/>
              </a:solidFill>
              <a:latin typeface="Merriweather"/>
              <a:ea typeface="Merriweather"/>
              <a:cs typeface="Merriweather"/>
              <a:sym typeface="Merriweather"/>
            </a:endParaRPr>
          </a:p>
          <a:p>
            <a:pPr marL="0" marR="0" lvl="0" indent="0" algn="l" rtl="0">
              <a:spcBef>
                <a:spcPts val="0"/>
              </a:spcBef>
              <a:spcAft>
                <a:spcPts val="0"/>
              </a:spcAft>
              <a:buNone/>
            </a:pPr>
            <a:endParaRPr lang="en-US" altLang="en-US" sz="3000" b="1" i="0" u="none" strike="noStrike" cap="none">
              <a:solidFill>
                <a:srgbClr val="0D3B66"/>
              </a:solidFill>
              <a:latin typeface="Merriweather"/>
              <a:ea typeface="Merriweather"/>
              <a:cs typeface="Merriweather"/>
              <a:sym typeface="Merriweather"/>
            </a:endParaRPr>
          </a:p>
        </p:txBody>
      </p:sp>
      <p:pic>
        <p:nvPicPr>
          <p:cNvPr id="3" name="Picture 2" descr="Screenshot 2025-11-03 234026"/>
          <p:cNvPicPr>
            <a:picLocks noChangeAspect="1"/>
          </p:cNvPicPr>
          <p:nvPr/>
        </p:nvPicPr>
        <p:blipFill>
          <a:blip r:embed="rId2"/>
          <a:stretch>
            <a:fillRect/>
          </a:stretch>
        </p:blipFill>
        <p:spPr>
          <a:xfrm>
            <a:off x="2540635" y="1187450"/>
            <a:ext cx="7110095" cy="4841875"/>
          </a:xfrm>
          <a:prstGeom prst="rect">
            <a:avLst/>
          </a:prstGeom>
        </p:spPr>
      </p:pic>
    </p:spTree>
    <p:custDataLst>
      <p:tags r:id="rId3"/>
    </p:custDataLst>
  </p:cSld>
  <p:clrMapOvr>
    <a:masterClrMapping/>
  </p:clrMapOvr>
  <mc:AlternateContent xmlns:mc="http://schemas.openxmlformats.org/markup-compatibility/2006">
    <mc:Choice xmlns:p14="http://schemas.microsoft.com/office/powerpoint/2010/main" Requires="p14">
      <p:transition spd="slow" p14:dur="1250" advTm="4113">
        <p14:switch dir="r"/>
      </p:transition>
    </mc:Choice>
    <mc:Fallback>
      <p:transition spd="slow" advTm="4113">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30"/>
        <p:cNvGrpSpPr/>
        <p:nvPr/>
      </p:nvGrpSpPr>
      <p:grpSpPr>
        <a:xfrm>
          <a:off x="0" y="0"/>
          <a:ext cx="0" cy="0"/>
          <a:chOff x="0" y="0"/>
          <a:chExt cx="0" cy="0"/>
        </a:xfrm>
      </p:grpSpPr>
      <p:pic>
        <p:nvPicPr>
          <p:cNvPr id="231" name="Google Shape;231;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43" name="Google Shape;243;p22"/>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0D3B66"/>
                </a:solidFill>
                <a:latin typeface="Merriweather"/>
                <a:ea typeface="Merriweather"/>
                <a:cs typeface="Merriweather"/>
                <a:sym typeface="Merriweather"/>
              </a:rPr>
              <a:t>4.2_Satellite Orbits :</a:t>
            </a:r>
            <a:endParaRPr dirty="0"/>
          </a:p>
        </p:txBody>
      </p:sp>
      <p:pic>
        <p:nvPicPr>
          <p:cNvPr id="15" name="Picture 14"/>
          <p:cNvPicPr>
            <a:picLocks noChangeAspect="1"/>
          </p:cNvPicPr>
          <p:nvPr/>
        </p:nvPicPr>
        <p:blipFill rotWithShape="1">
          <a:blip r:embed="rId2">
            <a:extLst>
              <a:ext uri="{28A0092B-C50C-407E-A947-70E740481C1C}">
                <a14:useLocalDpi xmlns:a14="http://schemas.microsoft.com/office/drawing/2010/main" val="0"/>
              </a:ext>
            </a:extLst>
          </a:blip>
          <a:srcRect l="23205" t="31980" r="28096" b="6602"/>
          <a:stretch>
            <a:fillRect/>
          </a:stretch>
        </p:blipFill>
        <p:spPr>
          <a:xfrm>
            <a:off x="2583757" y="1619250"/>
            <a:ext cx="5880941" cy="4171950"/>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16" name="TextBox 15"/>
          <p:cNvSpPr txBox="1"/>
          <p:nvPr/>
        </p:nvSpPr>
        <p:spPr>
          <a:xfrm>
            <a:off x="3983702" y="5889236"/>
            <a:ext cx="2537460" cy="461217"/>
          </a:xfrm>
          <a:prstGeom prst="rect">
            <a:avLst/>
          </a:prstGeom>
          <a:noFill/>
        </p:spPr>
        <p:txBody>
          <a:bodyPr wrap="square" rtlCol="0">
            <a:spAutoFit/>
          </a:bodyPr>
          <a:lstStyle/>
          <a:p>
            <a:pPr algn="ctr"/>
            <a:r>
              <a:rPr lang="en-GB" sz="2395" dirty="0">
                <a:latin typeface="Arabic Typesetting" panose="03020402040406030203" pitchFamily="66" charset="-78"/>
                <a:cs typeface="Arabic Typesetting" panose="03020402040406030203" pitchFamily="66" charset="-78"/>
              </a:rPr>
              <a:t>Form</a:t>
            </a:r>
            <a:r>
              <a:rPr lang="ar-SA" sz="2395" dirty="0">
                <a:latin typeface="Arabic Typesetting" panose="03020402040406030203" pitchFamily="66" charset="-78"/>
                <a:cs typeface="Arabic Typesetting" panose="03020402040406030203" pitchFamily="66" charset="-78"/>
              </a:rPr>
              <a:t> </a:t>
            </a:r>
            <a:r>
              <a:rPr lang="en-GB" sz="2395" dirty="0">
                <a:latin typeface="Arabic Typesetting" panose="03020402040406030203" pitchFamily="66" charset="-78"/>
                <a:cs typeface="Arabic Typesetting" panose="03020402040406030203" pitchFamily="66" charset="-78"/>
              </a:rPr>
              <a:t> a_4.2</a:t>
            </a:r>
            <a:endParaRPr lang="en-GB" sz="2395" dirty="0">
              <a:latin typeface="Arabic Typesetting" panose="03020402040406030203" pitchFamily="66" charset="-78"/>
              <a:cs typeface="Arabic Typesetting" panose="03020402040406030203" pitchFamily="66" charset="-78"/>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250" advTm="1963">
        <p14:switch dir="r"/>
      </p:transition>
    </mc:Choice>
    <mc:Fallback>
      <p:transition spd="slow" advTm="1963">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2"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2)">
                                      <p:cBhvr>
                                        <p:cTn id="7"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47"/>
        <p:cNvGrpSpPr/>
        <p:nvPr/>
      </p:nvGrpSpPr>
      <p:grpSpPr>
        <a:xfrm>
          <a:off x="0" y="0"/>
          <a:ext cx="0" cy="0"/>
          <a:chOff x="0" y="0"/>
          <a:chExt cx="0" cy="0"/>
        </a:xfrm>
      </p:grpSpPr>
      <p:pic>
        <p:nvPicPr>
          <p:cNvPr id="248" name="Google Shape;248;p23" descr="image.png"/>
          <p:cNvPicPr preferRelativeResize="0"/>
          <p:nvPr/>
        </p:nvPicPr>
        <p:blipFill rotWithShape="1">
          <a:blip r:embed="rId1"/>
          <a:srcRect/>
          <a:stretch>
            <a:fillRect/>
          </a:stretch>
        </p:blipFill>
        <p:spPr>
          <a:xfrm>
            <a:off x="-19050" y="0"/>
            <a:ext cx="12192000" cy="6858000"/>
          </a:xfrm>
          <a:prstGeom prst="rect">
            <a:avLst/>
          </a:prstGeom>
          <a:noFill/>
          <a:ln>
            <a:noFill/>
          </a:ln>
        </p:spPr>
      </p:pic>
      <p:sp>
        <p:nvSpPr>
          <p:cNvPr id="260" name="Google Shape;260;p23"/>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a:solidFill>
                  <a:srgbClr val="0D3B66"/>
                </a:solidFill>
                <a:latin typeface="Merriweather"/>
                <a:ea typeface="Merriweather"/>
                <a:cs typeface="Merriweather"/>
                <a:sym typeface="Merriweather"/>
              </a:rPr>
              <a:t>4.3_On-board Processing :</a:t>
            </a:r>
            <a:endParaRPr dirty="0"/>
          </a:p>
        </p:txBody>
      </p:sp>
      <p:pic>
        <p:nvPicPr>
          <p:cNvPr id="15" name="Picture 14"/>
          <p:cNvPicPr>
            <a:picLocks noChangeAspect="1"/>
          </p:cNvPicPr>
          <p:nvPr/>
        </p:nvPicPr>
        <p:blipFill rotWithShape="1">
          <a:blip r:embed="rId2"/>
          <a:srcRect l="30584" t="47185" r="31000" b="32815"/>
          <a:stretch>
            <a:fillRect/>
          </a:stretch>
        </p:blipFill>
        <p:spPr>
          <a:xfrm>
            <a:off x="2103441" y="1619250"/>
            <a:ext cx="7750071" cy="3531870"/>
          </a:xfrm>
          <a:prstGeom prst="rect">
            <a:avLst/>
          </a:prstGeom>
        </p:spPr>
      </p:pic>
      <p:sp>
        <p:nvSpPr>
          <p:cNvPr id="16" name="TextBox 15"/>
          <p:cNvSpPr txBox="1"/>
          <p:nvPr/>
        </p:nvSpPr>
        <p:spPr>
          <a:xfrm>
            <a:off x="5566549" y="5397500"/>
            <a:ext cx="1611352" cy="461940"/>
          </a:xfrm>
          <a:prstGeom prst="rect">
            <a:avLst/>
          </a:prstGeom>
          <a:noFill/>
        </p:spPr>
        <p:txBody>
          <a:bodyPr wrap="square" rtlCol="0">
            <a:spAutoFit/>
          </a:bodyPr>
          <a:lstStyle/>
          <a:p>
            <a:r>
              <a:rPr lang="en-GB" sz="2395" dirty="0">
                <a:latin typeface="Arabic Typesetting" panose="03020402040406030203" pitchFamily="66" charset="-78"/>
                <a:cs typeface="Arabic Typesetting" panose="03020402040406030203" pitchFamily="66" charset="-78"/>
              </a:rPr>
              <a:t>Form</a:t>
            </a:r>
            <a:r>
              <a:rPr lang="ar-SA" sz="2395" dirty="0">
                <a:latin typeface="Arabic Typesetting" panose="03020402040406030203" pitchFamily="66" charset="-78"/>
                <a:cs typeface="Arabic Typesetting" panose="03020402040406030203" pitchFamily="66" charset="-78"/>
              </a:rPr>
              <a:t> </a:t>
            </a:r>
            <a:r>
              <a:rPr lang="en-GB" sz="2395" dirty="0">
                <a:latin typeface="Arabic Typesetting" panose="03020402040406030203" pitchFamily="66" charset="-78"/>
                <a:cs typeface="Arabic Typesetting" panose="03020402040406030203" pitchFamily="66" charset="-78"/>
              </a:rPr>
              <a:t> a_4.3</a:t>
            </a:r>
            <a:endParaRPr lang="en-GB" sz="2395" dirty="0">
              <a:latin typeface="Arabic Typesetting" panose="03020402040406030203" pitchFamily="66" charset="-78"/>
              <a:cs typeface="Arabic Typesetting" panose="03020402040406030203" pitchFamily="66" charset="-78"/>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250" advTm="1600">
        <p14:switch dir="r"/>
      </p:transition>
    </mc:Choice>
    <mc:Fallback>
      <p:transition spd="slow" advTm="16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ox(in)">
                                      <p:cBhvr>
                                        <p:cTn id="7"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0"/>
            <a:ext cx="12193057" cy="6858594"/>
          </a:xfrm>
          <a:prstGeom prst="rect">
            <a:avLst/>
          </a:prstGeom>
        </p:spPr>
      </p:pic>
      <p:sp>
        <p:nvSpPr>
          <p:cNvPr id="5" name="TextBox 4"/>
          <p:cNvSpPr txBox="1"/>
          <p:nvPr/>
        </p:nvSpPr>
        <p:spPr>
          <a:xfrm>
            <a:off x="457198" y="546749"/>
            <a:ext cx="8557490" cy="553998"/>
          </a:xfrm>
          <a:prstGeom prst="rect">
            <a:avLst/>
          </a:prstGeom>
          <a:noFill/>
        </p:spPr>
        <p:txBody>
          <a:bodyPr wrap="square" rtlCol="0">
            <a:spAutoFit/>
          </a:bodyPr>
          <a:lstStyle/>
          <a:p>
            <a:r>
              <a:rPr lang="en-GB" sz="3000" b="1" dirty="0" smtClean="0">
                <a:solidFill>
                  <a:srgbClr val="A01D2E"/>
                </a:solidFill>
                <a:latin typeface="DM Sans" charset="0"/>
              </a:rPr>
              <a:t>5_Baseband </a:t>
            </a:r>
            <a:r>
              <a:rPr lang="en-GB" sz="3000" b="1" dirty="0">
                <a:solidFill>
                  <a:srgbClr val="A01D2E"/>
                </a:solidFill>
                <a:latin typeface="DM Sans" charset="0"/>
              </a:rPr>
              <a:t>signal processing in </a:t>
            </a:r>
            <a:r>
              <a:rPr lang="en-GB" sz="3000" b="1" dirty="0" smtClean="0">
                <a:solidFill>
                  <a:srgbClr val="A01D2E"/>
                </a:solidFill>
                <a:latin typeface="DM Sans" charset="0"/>
              </a:rPr>
              <a:t>satellites.</a:t>
            </a:r>
            <a:endParaRPr lang="en-GB" sz="3000" b="1" dirty="0">
              <a:solidFill>
                <a:srgbClr val="A01D2E"/>
              </a:solidFill>
              <a:latin typeface="DM Sans" charset="0"/>
            </a:endParaRPr>
          </a:p>
        </p:txBody>
      </p:sp>
      <p:sp>
        <p:nvSpPr>
          <p:cNvPr id="6" name="TextBox 5"/>
          <p:cNvSpPr txBox="1"/>
          <p:nvPr/>
        </p:nvSpPr>
        <p:spPr>
          <a:xfrm>
            <a:off x="457198" y="3908607"/>
            <a:ext cx="9227127" cy="553998"/>
          </a:xfrm>
          <a:prstGeom prst="rect">
            <a:avLst/>
          </a:prstGeom>
          <a:noFill/>
        </p:spPr>
        <p:txBody>
          <a:bodyPr wrap="square" rtlCol="0">
            <a:spAutoFit/>
          </a:bodyPr>
          <a:lstStyle/>
          <a:p>
            <a:r>
              <a:rPr lang="en-US" sz="3000" b="1" dirty="0" smtClean="0">
                <a:solidFill>
                  <a:srgbClr val="0A3B66"/>
                </a:solidFill>
                <a:latin typeface="Merriweather" charset="0"/>
                <a:ea typeface="Merriweather" charset="0"/>
                <a:cs typeface="Merriweather" charset="0"/>
              </a:rPr>
              <a:t>5.2_</a:t>
            </a:r>
            <a:r>
              <a:rPr lang="en-GB" sz="3000" b="1" dirty="0">
                <a:solidFill>
                  <a:srgbClr val="0A3B66"/>
                </a:solidFill>
                <a:latin typeface="Merriweather" charset="0"/>
                <a:ea typeface="Merriweather" charset="0"/>
                <a:cs typeface="Merriweather" charset="0"/>
              </a:rPr>
              <a:t>Baseband Processor Location in the </a:t>
            </a:r>
            <a:r>
              <a:rPr lang="en-GB" sz="3000" b="1" dirty="0" smtClean="0">
                <a:solidFill>
                  <a:srgbClr val="0A3B66"/>
                </a:solidFill>
                <a:latin typeface="Merriweather" charset="0"/>
                <a:ea typeface="Merriweather" charset="0"/>
                <a:cs typeface="Merriweather" charset="0"/>
              </a:rPr>
              <a:t>System:</a:t>
            </a:r>
            <a:endParaRPr lang="en-GB" sz="3000" b="1" dirty="0">
              <a:solidFill>
                <a:srgbClr val="0A3B66"/>
              </a:solidFill>
              <a:latin typeface="Merriweather" charset="0"/>
              <a:ea typeface="Merriweather" charset="0"/>
              <a:cs typeface="Merriweather" charset="0"/>
            </a:endParaRPr>
          </a:p>
        </p:txBody>
      </p:sp>
      <p:sp>
        <p:nvSpPr>
          <p:cNvPr id="7" name="TextBox 6"/>
          <p:cNvSpPr txBox="1"/>
          <p:nvPr/>
        </p:nvSpPr>
        <p:spPr>
          <a:xfrm>
            <a:off x="457198" y="4781501"/>
            <a:ext cx="8451273" cy="400110"/>
          </a:xfrm>
          <a:prstGeom prst="rect">
            <a:avLst/>
          </a:prstGeom>
          <a:noFill/>
        </p:spPr>
        <p:txBody>
          <a:bodyPr wrap="square" rtlCol="0">
            <a:spAutoFit/>
          </a:bodyPr>
          <a:lstStyle/>
          <a:p>
            <a:pPr marL="342900" indent="-342900">
              <a:buFont typeface="Wingdings" panose="05000000000000000000" pitchFamily="2" charset="2"/>
              <a:buChar char="Ø"/>
            </a:pPr>
            <a:r>
              <a:rPr lang="en-GB" sz="2000" dirty="0">
                <a:solidFill>
                  <a:schemeClr val="tx1"/>
                </a:solidFill>
                <a:latin typeface="DM Sans" charset="0"/>
              </a:rPr>
              <a:t>Receive Path: Antenna → Demodulator → Baseband </a:t>
            </a:r>
            <a:r>
              <a:rPr lang="en-GB" sz="2000" dirty="0" smtClean="0">
                <a:solidFill>
                  <a:schemeClr val="tx1"/>
                </a:solidFill>
                <a:latin typeface="DM Sans" charset="0"/>
              </a:rPr>
              <a:t>Processor.</a:t>
            </a:r>
            <a:endParaRPr lang="en-GB" sz="2000" dirty="0">
              <a:solidFill>
                <a:schemeClr val="tx1"/>
              </a:solidFill>
              <a:latin typeface="DM Sans" charset="0"/>
            </a:endParaRPr>
          </a:p>
        </p:txBody>
      </p:sp>
      <p:sp>
        <p:nvSpPr>
          <p:cNvPr id="8" name="TextBox 7"/>
          <p:cNvSpPr txBox="1"/>
          <p:nvPr/>
        </p:nvSpPr>
        <p:spPr>
          <a:xfrm>
            <a:off x="457198" y="5343237"/>
            <a:ext cx="10012219" cy="400110"/>
          </a:xfrm>
          <a:prstGeom prst="rect">
            <a:avLst/>
          </a:prstGeom>
          <a:noFill/>
        </p:spPr>
        <p:txBody>
          <a:bodyPr wrap="square" rtlCol="0">
            <a:spAutoFit/>
          </a:bodyPr>
          <a:lstStyle/>
          <a:p>
            <a:pPr marL="285750" indent="-285750">
              <a:buFont typeface="Wingdings" panose="05000000000000000000" pitchFamily="2" charset="2"/>
              <a:buChar char="Ø"/>
            </a:pPr>
            <a:r>
              <a:rPr lang="en-GB" sz="2000" dirty="0">
                <a:solidFill>
                  <a:schemeClr val="tx1"/>
                </a:solidFill>
                <a:latin typeface="DM Sans" charset="0"/>
              </a:rPr>
              <a:t>Transmit Path: Baseband Processor → Modulator → Power Amplifier → Antenna</a:t>
            </a:r>
            <a:endParaRPr lang="en-GB" sz="2000" dirty="0">
              <a:solidFill>
                <a:schemeClr val="tx1"/>
              </a:solidFill>
              <a:latin typeface="DM Sans" charset="0"/>
            </a:endParaRPr>
          </a:p>
        </p:txBody>
      </p:sp>
      <p:sp>
        <p:nvSpPr>
          <p:cNvPr id="9" name="TextBox 8"/>
          <p:cNvSpPr txBox="1"/>
          <p:nvPr/>
        </p:nvSpPr>
        <p:spPr>
          <a:xfrm>
            <a:off x="457198" y="1647496"/>
            <a:ext cx="8737600" cy="1938992"/>
          </a:xfrm>
          <a:prstGeom prst="rect">
            <a:avLst/>
          </a:prstGeom>
          <a:noFill/>
        </p:spPr>
        <p:txBody>
          <a:bodyPr wrap="square" rtlCol="0">
            <a:spAutoFit/>
          </a:bodyPr>
          <a:lstStyle/>
          <a:p>
            <a:r>
              <a:rPr lang="en-US" sz="3000" b="1" dirty="0">
                <a:solidFill>
                  <a:srgbClr val="0A3B66"/>
                </a:solidFill>
                <a:latin typeface="Merriweather" charset="0"/>
                <a:ea typeface="Merriweather" charset="0"/>
                <a:cs typeface="Merriweather" charset="0"/>
              </a:rPr>
              <a:t>5.1_Definition of Baseband </a:t>
            </a:r>
            <a:r>
              <a:rPr lang="en-US" sz="3000" b="1" dirty="0" smtClean="0">
                <a:solidFill>
                  <a:srgbClr val="0A3B66"/>
                </a:solidFill>
                <a:latin typeface="Merriweather" charset="0"/>
                <a:ea typeface="Merriweather" charset="0"/>
                <a:cs typeface="Merriweather" charset="0"/>
              </a:rPr>
              <a:t>Processor:</a:t>
            </a:r>
            <a:endParaRPr lang="en-US" sz="3000" b="1" dirty="0" smtClean="0">
              <a:solidFill>
                <a:srgbClr val="0A3B66"/>
              </a:solidFill>
              <a:latin typeface="Merriweather" charset="0"/>
              <a:ea typeface="Merriweather" charset="0"/>
              <a:cs typeface="Merriweather" charset="0"/>
            </a:endParaRPr>
          </a:p>
          <a:p>
            <a:endParaRPr lang="en-US" sz="3000" b="1" dirty="0" smtClean="0">
              <a:solidFill>
                <a:srgbClr val="0A3B66"/>
              </a:solidFill>
              <a:latin typeface="Merriweather" charset="0"/>
              <a:ea typeface="Merriweather" charset="0"/>
              <a:cs typeface="Merriweather" charset="0"/>
            </a:endParaRPr>
          </a:p>
          <a:p>
            <a:r>
              <a:rPr lang="en-GB" sz="2000" dirty="0">
                <a:solidFill>
                  <a:schemeClr val="tx1"/>
                </a:solidFill>
                <a:latin typeface="Merriweather" charset="0"/>
                <a:ea typeface="Merriweather" charset="0"/>
                <a:cs typeface="Merriweather" charset="0"/>
              </a:rPr>
              <a:t>It is a Digital Processing Unit that works on the signal after it has been dropped into the baseband, i.e., after the carrier has been removed.</a:t>
            </a:r>
            <a:endParaRPr lang="en-GB" sz="2000" dirty="0">
              <a:solidFill>
                <a:schemeClr val="tx1"/>
              </a:solidFill>
              <a:latin typeface="Merriweather" charset="0"/>
              <a:ea typeface="Merriweather" charset="0"/>
              <a:cs typeface="Merriweather"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0-#ppt_w/2"/>
                                          </p:val>
                                        </p:tav>
                                        <p:tav tm="100000">
                                          <p:val>
                                            <p:strVal val="#ppt_x"/>
                                          </p:val>
                                        </p:tav>
                                      </p:tavLst>
                                    </p:anim>
                                    <p:anim calcmode="lin" valueType="num">
                                      <p:cBhvr additive="base">
                                        <p:cTn id="1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0-#ppt_w/2"/>
                                          </p:val>
                                        </p:tav>
                                        <p:tav tm="100000">
                                          <p:val>
                                            <p:strVal val="#ppt_x"/>
                                          </p:val>
                                        </p:tav>
                                      </p:tavLst>
                                    </p:anim>
                                    <p:anim calcmode="lin" valueType="num">
                                      <p:cBhvr additive="base">
                                        <p:cTn id="26"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1+#ppt_w/2"/>
                                          </p:val>
                                        </p:tav>
                                        <p:tav tm="100000">
                                          <p:val>
                                            <p:strVal val="#ppt_x"/>
                                          </p:val>
                                        </p:tav>
                                      </p:tavLst>
                                    </p:anim>
                                    <p:anim calcmode="lin" valueType="num">
                                      <p:cBhvr additive="base">
                                        <p:cTn id="3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1057" y="-594"/>
            <a:ext cx="12193057" cy="6858594"/>
          </a:xfrm>
          <a:prstGeom prst="rect">
            <a:avLst/>
          </a:prstGeom>
        </p:spPr>
      </p:pic>
      <p:sp>
        <p:nvSpPr>
          <p:cNvPr id="5" name="TextBox 4"/>
          <p:cNvSpPr txBox="1"/>
          <p:nvPr/>
        </p:nvSpPr>
        <p:spPr>
          <a:xfrm>
            <a:off x="489527" y="267855"/>
            <a:ext cx="10002982" cy="1323439"/>
          </a:xfrm>
          <a:prstGeom prst="rect">
            <a:avLst/>
          </a:prstGeom>
          <a:noFill/>
        </p:spPr>
        <p:txBody>
          <a:bodyPr wrap="square" rtlCol="0">
            <a:spAutoFit/>
          </a:bodyPr>
          <a:lstStyle/>
          <a:p>
            <a:r>
              <a:rPr lang="en-GB" sz="3000" b="1" dirty="0" smtClean="0">
                <a:solidFill>
                  <a:srgbClr val="0A3B66"/>
                </a:solidFill>
                <a:latin typeface="Merriweather" charset="0"/>
                <a:ea typeface="Merriweather" charset="0"/>
                <a:cs typeface="Merriweather" charset="0"/>
              </a:rPr>
              <a:t>5.3_Its </a:t>
            </a:r>
            <a:r>
              <a:rPr lang="en-GB" sz="3000" b="1" dirty="0">
                <a:solidFill>
                  <a:srgbClr val="0A3B66"/>
                </a:solidFill>
                <a:latin typeface="Merriweather" charset="0"/>
                <a:ea typeface="Merriweather" charset="0"/>
                <a:cs typeface="Merriweather" charset="0"/>
              </a:rPr>
              <a:t>primary function is</a:t>
            </a:r>
            <a:r>
              <a:rPr lang="en-GB" sz="3000" b="1" dirty="0" smtClean="0">
                <a:solidFill>
                  <a:srgbClr val="0A3B66"/>
                </a:solidFill>
                <a:latin typeface="Merriweather" charset="0"/>
                <a:ea typeface="Merriweather" charset="0"/>
                <a:cs typeface="Merriweather" charset="0"/>
              </a:rPr>
              <a:t>:</a:t>
            </a:r>
            <a:endParaRPr lang="en-GB" sz="3000" b="1" dirty="0" smtClean="0">
              <a:solidFill>
                <a:srgbClr val="0A3B66"/>
              </a:solidFill>
              <a:latin typeface="Merriweather" charset="0"/>
              <a:ea typeface="Merriweather" charset="0"/>
              <a:cs typeface="Merriweather" charset="0"/>
            </a:endParaRPr>
          </a:p>
          <a:p>
            <a:endParaRPr lang="en-GB" sz="3000" b="1" dirty="0" smtClean="0">
              <a:solidFill>
                <a:srgbClr val="0A3B66"/>
              </a:solidFill>
              <a:latin typeface="Merriweather" charset="0"/>
              <a:ea typeface="Merriweather" charset="0"/>
              <a:cs typeface="Merriweather" charset="0"/>
            </a:endParaRPr>
          </a:p>
          <a:p>
            <a:r>
              <a:rPr lang="en-GB" sz="2000" dirty="0" smtClean="0">
                <a:solidFill>
                  <a:schemeClr val="tx1"/>
                </a:solidFill>
              </a:rPr>
              <a:t>to </a:t>
            </a:r>
            <a:r>
              <a:rPr lang="en-GB" sz="2000" dirty="0">
                <a:solidFill>
                  <a:schemeClr val="tx1"/>
                </a:solidFill>
              </a:rPr>
              <a:t>process and improve digital data, correct errors, and reshape it before resending it</a:t>
            </a:r>
            <a:r>
              <a:rPr lang="en-GB" dirty="0"/>
              <a:t>.</a:t>
            </a:r>
            <a:endParaRPr lang="en-GB" dirty="0"/>
          </a:p>
        </p:txBody>
      </p:sp>
      <p:sp>
        <p:nvSpPr>
          <p:cNvPr id="6" name="TextBox 5"/>
          <p:cNvSpPr txBox="1"/>
          <p:nvPr/>
        </p:nvSpPr>
        <p:spPr>
          <a:xfrm>
            <a:off x="397640" y="1859743"/>
            <a:ext cx="10094869" cy="1015663"/>
          </a:xfrm>
          <a:prstGeom prst="rect">
            <a:avLst/>
          </a:prstGeom>
          <a:noFill/>
        </p:spPr>
        <p:txBody>
          <a:bodyPr wrap="square" rtlCol="0">
            <a:spAutoFit/>
          </a:bodyPr>
          <a:lstStyle/>
          <a:p>
            <a:r>
              <a:rPr lang="en-US" sz="3000" b="1" dirty="0" smtClean="0">
                <a:solidFill>
                  <a:srgbClr val="0A3B66"/>
                </a:solidFill>
                <a:latin typeface="Merriweather" charset="0"/>
                <a:ea typeface="Merriweather" charset="0"/>
                <a:cs typeface="Merriweather" charset="0"/>
              </a:rPr>
              <a:t>5.4_</a:t>
            </a:r>
            <a:r>
              <a:rPr lang="en-GB" sz="3000" b="1" dirty="0">
                <a:solidFill>
                  <a:srgbClr val="0A3B66"/>
                </a:solidFill>
                <a:latin typeface="Merriweather" charset="0"/>
                <a:ea typeface="Merriweather" charset="0"/>
                <a:cs typeface="Merriweather" charset="0"/>
              </a:rPr>
              <a:t>The difference between Bent-Pipe and Baseband </a:t>
            </a:r>
            <a:r>
              <a:rPr lang="en-GB" sz="3000" b="1" dirty="0" smtClean="0">
                <a:solidFill>
                  <a:srgbClr val="0A3B66"/>
                </a:solidFill>
                <a:latin typeface="Merriweather" charset="0"/>
                <a:ea typeface="Merriweather" charset="0"/>
                <a:cs typeface="Merriweather" charset="0"/>
              </a:rPr>
              <a:t>Processing.</a:t>
            </a:r>
            <a:endParaRPr lang="en-GB" sz="3000" b="1" dirty="0">
              <a:solidFill>
                <a:srgbClr val="0A3B66"/>
              </a:solidFill>
              <a:latin typeface="Merriweather" charset="0"/>
              <a:ea typeface="Merriweather" charset="0"/>
              <a:cs typeface="Merriweather" charset="0"/>
            </a:endParaRPr>
          </a:p>
        </p:txBody>
      </p:sp>
      <p:graphicFrame>
        <p:nvGraphicFramePr>
          <p:cNvPr id="9" name="Table 8"/>
          <p:cNvGraphicFramePr>
            <a:graphicFrameLocks noGrp="1"/>
          </p:cNvGraphicFramePr>
          <p:nvPr/>
        </p:nvGraphicFramePr>
        <p:xfrm>
          <a:off x="489527" y="3143853"/>
          <a:ext cx="10592130" cy="3267831"/>
        </p:xfrm>
        <a:graphic>
          <a:graphicData uri="http://schemas.openxmlformats.org/drawingml/2006/table">
            <a:tbl>
              <a:tblPr firstRow="1" firstCol="1" bandRow="1">
                <a:tableStyleId>{5C22544A-7EE6-4342-B048-85BDC9FD1C3A}</a:tableStyleId>
              </a:tblPr>
              <a:tblGrid>
                <a:gridCol w="5073073"/>
                <a:gridCol w="5519057"/>
              </a:tblGrid>
              <a:tr h="916821">
                <a:tc>
                  <a:txBody>
                    <a:bodyPr/>
                    <a:lstStyle/>
                    <a:p>
                      <a:pPr marL="0" marR="0" algn="ctr" rtl="1">
                        <a:lnSpc>
                          <a:spcPct val="107000"/>
                        </a:lnSpc>
                        <a:spcBef>
                          <a:spcPts val="0"/>
                        </a:spcBef>
                        <a:spcAft>
                          <a:spcPts val="0"/>
                        </a:spcAft>
                      </a:pPr>
                      <a:r>
                        <a:rPr lang="en-GB" sz="2800" b="0" dirty="0">
                          <a:solidFill>
                            <a:srgbClr val="333333"/>
                          </a:solidFill>
                          <a:effectLst/>
                        </a:rPr>
                        <a:t>Bent-Pipe Satellite</a:t>
                      </a:r>
                      <a:endParaRPr lang="en-GB" sz="2800" b="0" dirty="0">
                        <a:solidFill>
                          <a:srgbClr val="333333"/>
                        </a:solidFill>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solidFill>
                      <a:schemeClr val="bg1">
                        <a:lumMod val="65000"/>
                      </a:schemeClr>
                    </a:solidFill>
                  </a:tcPr>
                </a:tc>
                <a:tc>
                  <a:txBody>
                    <a:bodyPr/>
                    <a:lstStyle/>
                    <a:p>
                      <a:pPr marL="0" marR="0" algn="ctr" rtl="1">
                        <a:lnSpc>
                          <a:spcPct val="107000"/>
                        </a:lnSpc>
                        <a:spcBef>
                          <a:spcPts val="0"/>
                        </a:spcBef>
                        <a:spcAft>
                          <a:spcPts val="0"/>
                        </a:spcAft>
                      </a:pPr>
                      <a:r>
                        <a:rPr lang="en-GB" sz="1200" dirty="0">
                          <a:effectLst/>
                        </a:rPr>
                        <a:t>      </a:t>
                      </a:r>
                      <a:r>
                        <a:rPr lang="en-GB" sz="2800" b="0" dirty="0">
                          <a:solidFill>
                            <a:srgbClr val="333333"/>
                          </a:solidFill>
                          <a:effectLst/>
                        </a:rPr>
                        <a:t>Baseband Processor Satellite</a:t>
                      </a:r>
                      <a:endParaRPr lang="en-GB" sz="2800" b="0" dirty="0">
                        <a:solidFill>
                          <a:srgbClr val="333333"/>
                        </a:solidFill>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solidFill>
                      <a:schemeClr val="bg1">
                        <a:lumMod val="85000"/>
                      </a:schemeClr>
                    </a:solidFill>
                  </a:tcPr>
                </a:tc>
              </a:tr>
              <a:tr h="470202">
                <a:tc>
                  <a:txBody>
                    <a:bodyPr/>
                    <a:lstStyle/>
                    <a:p>
                      <a:pPr marL="0" marR="0" algn="l" rtl="1">
                        <a:lnSpc>
                          <a:spcPct val="107000"/>
                        </a:lnSpc>
                        <a:spcBef>
                          <a:spcPts val="0"/>
                        </a:spcBef>
                        <a:spcAft>
                          <a:spcPts val="0"/>
                        </a:spcAft>
                      </a:pPr>
                      <a:r>
                        <a:rPr lang="en-GB" sz="1200" dirty="0" smtClean="0">
                          <a:solidFill>
                            <a:schemeClr val="tx1"/>
                          </a:solidFill>
                          <a:effectLst/>
                        </a:rPr>
                        <a:t>      </a:t>
                      </a:r>
                      <a:r>
                        <a:rPr lang="en-GB" sz="2400" b="0" dirty="0" smtClean="0">
                          <a:solidFill>
                            <a:srgbClr val="333333"/>
                          </a:solidFill>
                          <a:effectLst/>
                          <a:latin typeface="Merriweather" charset="0"/>
                          <a:ea typeface="Merriweather" charset="0"/>
                          <a:cs typeface="Merriweather" charset="0"/>
                        </a:rPr>
                        <a:t>Amplify only</a:t>
                      </a:r>
                      <a:endParaRPr lang="en-GB" sz="2400" b="0" dirty="0">
                        <a:solidFill>
                          <a:srgbClr val="333333"/>
                        </a:solidFill>
                        <a:effectLst/>
                        <a:latin typeface="Merriweather" charset="0"/>
                        <a:ea typeface="Merriweather" charset="0"/>
                        <a:cs typeface="Merriweather" charset="0"/>
                      </a:endParaRPr>
                    </a:p>
                  </a:txBody>
                  <a:tcPr marL="9525" marR="9525" marT="9525" marB="9525" anchor="ctr">
                    <a:solidFill>
                      <a:schemeClr val="bg1">
                        <a:lumMod val="65000"/>
                      </a:schemeClr>
                    </a:solidFill>
                  </a:tcPr>
                </a:tc>
                <a:tc>
                  <a:txBody>
                    <a:bodyPr/>
                    <a:lstStyle/>
                    <a:p>
                      <a:pPr marL="0" marR="0" lvl="3" algn="l" rtl="1">
                        <a:lnSpc>
                          <a:spcPct val="107000"/>
                        </a:lnSpc>
                        <a:spcBef>
                          <a:spcPts val="0"/>
                        </a:spcBef>
                        <a:spcAft>
                          <a:spcPts val="0"/>
                        </a:spcAft>
                      </a:pPr>
                      <a:r>
                        <a:rPr lang="en-GB" sz="2400" b="1" dirty="0" smtClean="0">
                          <a:solidFill>
                            <a:srgbClr val="333333"/>
                          </a:solidFill>
                          <a:effectLst/>
                          <a:latin typeface="Calibri" panose="020F0502020204030204" pitchFamily="34" charset="0"/>
                          <a:ea typeface="Calibri" panose="020F0502020204030204" pitchFamily="34" charset="0"/>
                          <a:cs typeface="Arial" panose="020B0604020202020204" pitchFamily="34" charset="0"/>
                        </a:rPr>
                        <a:t>    </a:t>
                      </a:r>
                      <a:r>
                        <a:rPr lang="en-GB" sz="2200" b="0" dirty="0" smtClean="0">
                          <a:solidFill>
                            <a:srgbClr val="333333"/>
                          </a:solidFill>
                          <a:effectLst/>
                          <a:latin typeface="Merriweather" charset="0"/>
                          <a:ea typeface="Merriweather" charset="0"/>
                          <a:cs typeface="Merriweather" charset="0"/>
                        </a:rPr>
                        <a:t>Intelligent processing</a:t>
                      </a:r>
                      <a:endParaRPr lang="en-GB" sz="2200" b="0" dirty="0">
                        <a:solidFill>
                          <a:srgbClr val="333333"/>
                        </a:solidFill>
                        <a:effectLst/>
                        <a:latin typeface="Merriweather" charset="0"/>
                        <a:ea typeface="Merriweather" charset="0"/>
                        <a:cs typeface="Merriweather" charset="0"/>
                      </a:endParaRPr>
                    </a:p>
                  </a:txBody>
                  <a:tcPr marL="9525" marR="9525" marT="9525" marB="9525" anchor="ctr">
                    <a:solidFill>
                      <a:schemeClr val="bg1">
                        <a:lumMod val="85000"/>
                      </a:schemeClr>
                    </a:solidFill>
                  </a:tcPr>
                </a:tc>
              </a:tr>
              <a:tr h="470202">
                <a:tc>
                  <a:txBody>
                    <a:bodyPr/>
                    <a:lstStyle/>
                    <a:p>
                      <a:pPr marL="0" marR="0" algn="l" rtl="1">
                        <a:lnSpc>
                          <a:spcPct val="107000"/>
                        </a:lnSpc>
                        <a:spcBef>
                          <a:spcPts val="0"/>
                        </a:spcBef>
                        <a:spcAft>
                          <a:spcPts val="0"/>
                        </a:spcAft>
                      </a:pPr>
                      <a:r>
                        <a:rPr lang="en-GB" sz="2200" dirty="0" smtClean="0">
                          <a:solidFill>
                            <a:schemeClr val="tx1"/>
                          </a:solidFill>
                          <a:effectLst/>
                          <a:latin typeface="Merriweather" charset="0"/>
                          <a:ea typeface="Merriweather" charset="0"/>
                          <a:cs typeface="Merriweather" charset="0"/>
                        </a:rPr>
                        <a:t>   </a:t>
                      </a:r>
                      <a:r>
                        <a:rPr lang="en-GB" sz="2200" b="0" dirty="0" smtClean="0">
                          <a:solidFill>
                            <a:srgbClr val="333333"/>
                          </a:solidFill>
                          <a:effectLst/>
                          <a:latin typeface="Merriweather" charset="0"/>
                          <a:ea typeface="Merriweather" charset="0"/>
                          <a:cs typeface="Merriweather" charset="0"/>
                        </a:rPr>
                        <a:t>No debugging</a:t>
                      </a:r>
                      <a:endParaRPr lang="en-GB" sz="2200" b="0" dirty="0">
                        <a:solidFill>
                          <a:srgbClr val="333333"/>
                        </a:solidFill>
                        <a:effectLst/>
                        <a:latin typeface="Merriweather" charset="0"/>
                        <a:ea typeface="Merriweather" charset="0"/>
                        <a:cs typeface="Merriweather" charset="0"/>
                      </a:endParaRPr>
                    </a:p>
                  </a:txBody>
                  <a:tcPr marL="9525" marR="9525" marT="9525" marB="9525" anchor="ctr">
                    <a:solidFill>
                      <a:schemeClr val="bg1">
                        <a:lumMod val="65000"/>
                      </a:schemeClr>
                    </a:solidFill>
                  </a:tcPr>
                </a:tc>
                <a:tc>
                  <a:txBody>
                    <a:bodyPr/>
                    <a:lstStyle/>
                    <a:p>
                      <a:pPr marL="0" marR="0" algn="l" rtl="1">
                        <a:lnSpc>
                          <a:spcPct val="107000"/>
                        </a:lnSpc>
                        <a:spcBef>
                          <a:spcPts val="0"/>
                        </a:spcBef>
                        <a:spcAft>
                          <a:spcPts val="0"/>
                        </a:spcAft>
                      </a:pPr>
                      <a:r>
                        <a:rPr lang="en-GB" sz="2400" b="1" dirty="0" smtClean="0">
                          <a:solidFill>
                            <a:srgbClr val="333333"/>
                          </a:solidFill>
                          <a:effectLst/>
                          <a:latin typeface="Calibri" panose="020F0502020204030204" pitchFamily="34" charset="0"/>
                          <a:ea typeface="Calibri" panose="020F0502020204030204" pitchFamily="34" charset="0"/>
                          <a:cs typeface="Arial" panose="020B0604020202020204" pitchFamily="34" charset="0"/>
                        </a:rPr>
                        <a:t>    </a:t>
                      </a:r>
                      <a:r>
                        <a:rPr lang="en-GB" sz="2200" b="0" dirty="0" smtClean="0">
                          <a:solidFill>
                            <a:srgbClr val="333333"/>
                          </a:solidFill>
                          <a:effectLst/>
                          <a:latin typeface="Merriweather" charset="0"/>
                          <a:ea typeface="Merriweather" charset="0"/>
                          <a:cs typeface="Merriweather" charset="0"/>
                        </a:rPr>
                        <a:t>Correction of errors</a:t>
                      </a:r>
                      <a:endParaRPr lang="en-GB" sz="2200" b="0" dirty="0">
                        <a:solidFill>
                          <a:srgbClr val="333333"/>
                        </a:solidFill>
                        <a:effectLst/>
                        <a:latin typeface="Merriweather" charset="0"/>
                        <a:ea typeface="Merriweather" charset="0"/>
                        <a:cs typeface="Merriweather" charset="0"/>
                      </a:endParaRPr>
                    </a:p>
                  </a:txBody>
                  <a:tcPr marL="9525" marR="9525" marT="9525" marB="9525" anchor="ctr">
                    <a:solidFill>
                      <a:schemeClr val="bg1">
                        <a:lumMod val="85000"/>
                      </a:schemeClr>
                    </a:solidFill>
                  </a:tcPr>
                </a:tc>
              </a:tr>
              <a:tr h="470202">
                <a:tc>
                  <a:txBody>
                    <a:bodyPr/>
                    <a:lstStyle/>
                    <a:p>
                      <a:pPr marL="0" marR="0" algn="l" rtl="1">
                        <a:lnSpc>
                          <a:spcPct val="107000"/>
                        </a:lnSpc>
                        <a:spcBef>
                          <a:spcPts val="0"/>
                        </a:spcBef>
                        <a:spcAft>
                          <a:spcPts val="0"/>
                        </a:spcAft>
                      </a:pPr>
                      <a:r>
                        <a:rPr lang="en-GB" sz="2400" dirty="0" smtClean="0">
                          <a:solidFill>
                            <a:srgbClr val="333333"/>
                          </a:solidFill>
                          <a:effectLst/>
                          <a:latin typeface="Merriweather" charset="0"/>
                          <a:ea typeface="Merriweather" charset="0"/>
                          <a:cs typeface="Merriweather" charset="0"/>
                        </a:rPr>
                        <a:t>   </a:t>
                      </a:r>
                      <a:r>
                        <a:rPr lang="en-GB" sz="2400" b="0" dirty="0" smtClean="0">
                          <a:solidFill>
                            <a:srgbClr val="333333"/>
                          </a:solidFill>
                          <a:effectLst/>
                          <a:latin typeface="Merriweather" charset="0"/>
                          <a:ea typeface="Merriweather" charset="0"/>
                          <a:cs typeface="Merriweather" charset="0"/>
                        </a:rPr>
                        <a:t>No switching</a:t>
                      </a:r>
                      <a:endParaRPr lang="en-GB" sz="2400" b="0" dirty="0">
                        <a:solidFill>
                          <a:srgbClr val="333333"/>
                        </a:solidFill>
                        <a:effectLst/>
                        <a:latin typeface="Merriweather" charset="0"/>
                        <a:ea typeface="Merriweather" charset="0"/>
                        <a:cs typeface="Merriweather" charset="0"/>
                      </a:endParaRPr>
                    </a:p>
                  </a:txBody>
                  <a:tcPr marL="9525" marR="9525" marT="9525" marB="9525" anchor="ctr">
                    <a:solidFill>
                      <a:schemeClr val="bg1">
                        <a:lumMod val="65000"/>
                      </a:schemeClr>
                    </a:solidFill>
                  </a:tcPr>
                </a:tc>
                <a:tc>
                  <a:txBody>
                    <a:bodyPr/>
                    <a:lstStyle/>
                    <a:p>
                      <a:pPr marL="0" marR="0" algn="l" rtl="1">
                        <a:lnSpc>
                          <a:spcPct val="107000"/>
                        </a:lnSpc>
                        <a:spcBef>
                          <a:spcPts val="0"/>
                        </a:spcBef>
                        <a:spcAft>
                          <a:spcPts val="0"/>
                        </a:spcAft>
                      </a:pPr>
                      <a:r>
                        <a:rPr lang="en-GB" sz="2200" b="1" dirty="0" smtClean="0">
                          <a:solidFill>
                            <a:srgbClr val="333333"/>
                          </a:solidFill>
                          <a:effectLst/>
                          <a:latin typeface="Merriweather" charset="0"/>
                          <a:ea typeface="Merriweather" charset="0"/>
                          <a:cs typeface="Merriweather" charset="0"/>
                        </a:rPr>
                        <a:t>    </a:t>
                      </a:r>
                      <a:r>
                        <a:rPr lang="en-GB" sz="2200" b="0" dirty="0" smtClean="0">
                          <a:solidFill>
                            <a:srgbClr val="333333"/>
                          </a:solidFill>
                          <a:effectLst/>
                          <a:latin typeface="Merriweather" charset="0"/>
                          <a:ea typeface="Merriweather" charset="0"/>
                          <a:cs typeface="Merriweather" charset="0"/>
                        </a:rPr>
                        <a:t>Switching</a:t>
                      </a:r>
                      <a:endParaRPr lang="en-GB" sz="2200" b="0" dirty="0">
                        <a:solidFill>
                          <a:srgbClr val="333333"/>
                        </a:solidFill>
                        <a:effectLst/>
                        <a:latin typeface="Merriweather" charset="0"/>
                        <a:ea typeface="Merriweather" charset="0"/>
                        <a:cs typeface="Merriweather" charset="0"/>
                      </a:endParaRPr>
                    </a:p>
                  </a:txBody>
                  <a:tcPr marL="9525" marR="9525" marT="9525" marB="9525" anchor="ctr">
                    <a:solidFill>
                      <a:schemeClr val="bg1">
                        <a:lumMod val="85000"/>
                      </a:schemeClr>
                    </a:solidFill>
                  </a:tcPr>
                </a:tc>
              </a:tr>
              <a:tr h="470202">
                <a:tc>
                  <a:txBody>
                    <a:bodyPr/>
                    <a:lstStyle/>
                    <a:p>
                      <a:pPr marL="0" marR="0" algn="l" rtl="1">
                        <a:lnSpc>
                          <a:spcPct val="107000"/>
                        </a:lnSpc>
                        <a:spcBef>
                          <a:spcPts val="0"/>
                        </a:spcBef>
                        <a:spcAft>
                          <a:spcPts val="0"/>
                        </a:spcAft>
                      </a:pPr>
                      <a:r>
                        <a:rPr lang="en-GB" sz="2200" b="0" dirty="0" smtClean="0">
                          <a:solidFill>
                            <a:srgbClr val="333333"/>
                          </a:solidFill>
                          <a:effectLst/>
                          <a:latin typeface="Calibri" panose="020F0502020204030204" pitchFamily="34" charset="0"/>
                          <a:ea typeface="Calibri" panose="020F0502020204030204" pitchFamily="34" charset="0"/>
                          <a:cs typeface="Arial" panose="020B0604020202020204" pitchFamily="34" charset="0"/>
                        </a:rPr>
                        <a:t>   </a:t>
                      </a:r>
                      <a:r>
                        <a:rPr lang="en-GB" sz="2200" b="0" dirty="0" smtClean="0">
                          <a:solidFill>
                            <a:srgbClr val="333333"/>
                          </a:solidFill>
                          <a:effectLst/>
                          <a:latin typeface="Merriweather" charset="0"/>
                          <a:ea typeface="Merriweather" charset="0"/>
                          <a:cs typeface="Merriweather" charset="0"/>
                        </a:rPr>
                        <a:t>Simple</a:t>
                      </a:r>
                      <a:endParaRPr lang="en-GB" sz="2200" b="0" dirty="0">
                        <a:solidFill>
                          <a:srgbClr val="333333"/>
                        </a:solidFill>
                        <a:effectLst/>
                        <a:latin typeface="Merriweather" charset="0"/>
                        <a:ea typeface="Merriweather" charset="0"/>
                        <a:cs typeface="Merriweather" charset="0"/>
                      </a:endParaRPr>
                    </a:p>
                  </a:txBody>
                  <a:tcPr marL="9525" marR="9525" marT="9525" marB="9525" anchor="ctr">
                    <a:solidFill>
                      <a:schemeClr val="bg1">
                        <a:lumMod val="65000"/>
                      </a:schemeClr>
                    </a:solidFill>
                  </a:tcPr>
                </a:tc>
                <a:tc>
                  <a:txBody>
                    <a:bodyPr/>
                    <a:lstStyle/>
                    <a:p>
                      <a:pPr marL="0" marR="0" algn="l" rtl="1">
                        <a:lnSpc>
                          <a:spcPct val="107000"/>
                        </a:lnSpc>
                        <a:spcBef>
                          <a:spcPts val="0"/>
                        </a:spcBef>
                        <a:spcAft>
                          <a:spcPts val="0"/>
                        </a:spcAft>
                      </a:pPr>
                      <a:r>
                        <a:rPr lang="en-GB" sz="2200" dirty="0" smtClean="0">
                          <a:solidFill>
                            <a:schemeClr val="tx1"/>
                          </a:solidFill>
                          <a:effectLst/>
                          <a:latin typeface="Merriweather" charset="0"/>
                          <a:ea typeface="Merriweather" charset="0"/>
                          <a:cs typeface="Merriweather" charset="0"/>
                        </a:rPr>
                        <a:t>    </a:t>
                      </a:r>
                      <a:r>
                        <a:rPr lang="en-GB" sz="2200" dirty="0" smtClean="0">
                          <a:solidFill>
                            <a:srgbClr val="333333"/>
                          </a:solidFill>
                          <a:effectLst/>
                          <a:latin typeface="Merriweather" charset="0"/>
                          <a:ea typeface="Merriweather" charset="0"/>
                          <a:cs typeface="Merriweather" charset="0"/>
                        </a:rPr>
                        <a:t>Complicated</a:t>
                      </a:r>
                      <a:endParaRPr lang="en-GB" sz="2200" dirty="0">
                        <a:solidFill>
                          <a:srgbClr val="333333"/>
                        </a:solidFill>
                        <a:effectLst/>
                        <a:latin typeface="Merriweather" charset="0"/>
                        <a:ea typeface="Merriweather" charset="0"/>
                        <a:cs typeface="Merriweather" charset="0"/>
                      </a:endParaRPr>
                    </a:p>
                  </a:txBody>
                  <a:tcPr marL="9525" marR="9525" marT="9525" marB="9525" anchor="ctr">
                    <a:solidFill>
                      <a:schemeClr val="bg1">
                        <a:lumMod val="85000"/>
                      </a:schemeClr>
                    </a:solidFill>
                  </a:tcPr>
                </a:tc>
              </a:tr>
              <a:tr h="470202">
                <a:tc>
                  <a:txBody>
                    <a:bodyPr/>
                    <a:lstStyle/>
                    <a:p>
                      <a:pPr marL="0" marR="0" algn="l" rtl="1">
                        <a:lnSpc>
                          <a:spcPct val="107000"/>
                        </a:lnSpc>
                        <a:spcBef>
                          <a:spcPts val="0"/>
                        </a:spcBef>
                        <a:spcAft>
                          <a:spcPts val="0"/>
                        </a:spcAft>
                      </a:pPr>
                      <a:r>
                        <a:rPr lang="en-GB" sz="2200" b="0" dirty="0" smtClean="0">
                          <a:solidFill>
                            <a:schemeClr val="tx1"/>
                          </a:solidFill>
                          <a:effectLst/>
                          <a:latin typeface="Merriweather" charset="0"/>
                          <a:ea typeface="Merriweather" charset="0"/>
                          <a:cs typeface="Merriweather" charset="0"/>
                        </a:rPr>
                        <a:t>   </a:t>
                      </a:r>
                      <a:r>
                        <a:rPr lang="en-GB" sz="2200" b="0" dirty="0" smtClean="0">
                          <a:solidFill>
                            <a:srgbClr val="333333"/>
                          </a:solidFill>
                          <a:effectLst/>
                          <a:latin typeface="Merriweather" charset="0"/>
                          <a:ea typeface="Merriweather" charset="0"/>
                          <a:cs typeface="Merriweather" charset="0"/>
                        </a:rPr>
                        <a:t>Less delay</a:t>
                      </a:r>
                      <a:endParaRPr lang="en-GB" sz="2200" b="0" dirty="0">
                        <a:solidFill>
                          <a:srgbClr val="333333"/>
                        </a:solidFill>
                        <a:effectLst/>
                        <a:latin typeface="Merriweather" charset="0"/>
                        <a:ea typeface="Merriweather" charset="0"/>
                        <a:cs typeface="Merriweather" charset="0"/>
                      </a:endParaRPr>
                    </a:p>
                  </a:txBody>
                  <a:tcPr marL="9525" marR="9525" marT="9525" marB="9525" anchor="ctr">
                    <a:solidFill>
                      <a:schemeClr val="bg1">
                        <a:lumMod val="65000"/>
                      </a:schemeClr>
                    </a:solidFill>
                  </a:tcPr>
                </a:tc>
                <a:tc>
                  <a:txBody>
                    <a:bodyPr/>
                    <a:lstStyle/>
                    <a:p>
                      <a:pPr marL="0" marR="0" algn="l" rtl="1">
                        <a:lnSpc>
                          <a:spcPct val="107000"/>
                        </a:lnSpc>
                        <a:spcBef>
                          <a:spcPts val="0"/>
                        </a:spcBef>
                        <a:spcAft>
                          <a:spcPts val="0"/>
                        </a:spcAft>
                      </a:pPr>
                      <a:r>
                        <a:rPr lang="en-GB" sz="2200" dirty="0" smtClean="0">
                          <a:solidFill>
                            <a:srgbClr val="333333"/>
                          </a:solidFill>
                          <a:effectLst/>
                          <a:latin typeface="Calibri" panose="020F0502020204030204" pitchFamily="34" charset="0"/>
                          <a:ea typeface="Calibri" panose="020F0502020204030204" pitchFamily="34" charset="0"/>
                          <a:cs typeface="Arial" panose="020B0604020202020204" pitchFamily="34" charset="0"/>
                        </a:rPr>
                        <a:t>     More delay</a:t>
                      </a:r>
                      <a:endParaRPr lang="en-GB" sz="2200" dirty="0">
                        <a:solidFill>
                          <a:srgbClr val="333333"/>
                        </a:solidFill>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solidFill>
                      <a:schemeClr val="bg1">
                        <a:lumMod val="85000"/>
                      </a:schemeClr>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1+#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37"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outVertical)">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1057" y="0"/>
            <a:ext cx="12193057" cy="6858594"/>
          </a:xfrm>
          <a:prstGeom prst="rect">
            <a:avLst/>
          </a:prstGeom>
        </p:spPr>
      </p:pic>
      <p:sp>
        <p:nvSpPr>
          <p:cNvPr id="5" name="TextBox 4"/>
          <p:cNvSpPr txBox="1"/>
          <p:nvPr/>
        </p:nvSpPr>
        <p:spPr>
          <a:xfrm>
            <a:off x="620485" y="609599"/>
            <a:ext cx="9916886" cy="1015663"/>
          </a:xfrm>
          <a:prstGeom prst="rect">
            <a:avLst/>
          </a:prstGeom>
          <a:noFill/>
        </p:spPr>
        <p:txBody>
          <a:bodyPr wrap="square" rtlCol="0">
            <a:spAutoFit/>
          </a:bodyPr>
          <a:lstStyle/>
          <a:p>
            <a:r>
              <a:rPr lang="en-GB" sz="3000" b="1" dirty="0" smtClean="0">
                <a:solidFill>
                  <a:srgbClr val="0A3B66"/>
                </a:solidFill>
                <a:latin typeface="Merriweather" charset="0"/>
                <a:ea typeface="Merriweather" charset="0"/>
                <a:cs typeface="Merriweather" charset="0"/>
              </a:rPr>
              <a:t>5.5_The </a:t>
            </a:r>
            <a:r>
              <a:rPr lang="en-GB" sz="3000" b="1" dirty="0">
                <a:solidFill>
                  <a:srgbClr val="0A3B66"/>
                </a:solidFill>
                <a:latin typeface="Merriweather" charset="0"/>
                <a:ea typeface="Merriweather" charset="0"/>
                <a:cs typeface="Merriweather" charset="0"/>
              </a:rPr>
              <a:t>importance of the Baseband Processor in modern satellite </a:t>
            </a:r>
            <a:r>
              <a:rPr lang="en-GB" sz="3000" b="1" dirty="0" smtClean="0">
                <a:solidFill>
                  <a:srgbClr val="0A3B66"/>
                </a:solidFill>
                <a:latin typeface="Merriweather" charset="0"/>
                <a:ea typeface="Merriweather" charset="0"/>
                <a:cs typeface="Merriweather" charset="0"/>
              </a:rPr>
              <a:t>communications:</a:t>
            </a:r>
            <a:endParaRPr lang="en-GB" sz="3000" b="1" dirty="0">
              <a:solidFill>
                <a:srgbClr val="0A3B66"/>
              </a:solidFill>
              <a:latin typeface="Merriweather" charset="0"/>
              <a:ea typeface="Merriweather" charset="0"/>
              <a:cs typeface="Merriweather" charset="0"/>
            </a:endParaRPr>
          </a:p>
        </p:txBody>
      </p:sp>
      <p:sp>
        <p:nvSpPr>
          <p:cNvPr id="6" name="TextBox 5"/>
          <p:cNvSpPr txBox="1"/>
          <p:nvPr/>
        </p:nvSpPr>
        <p:spPr>
          <a:xfrm>
            <a:off x="620485" y="2234861"/>
            <a:ext cx="5671457" cy="2015936"/>
          </a:xfrm>
          <a:prstGeom prst="rect">
            <a:avLst/>
          </a:prstGeom>
          <a:noFill/>
        </p:spPr>
        <p:txBody>
          <a:bodyPr wrap="square" rtlCol="0">
            <a:spAutoFit/>
          </a:bodyPr>
          <a:lstStyle/>
          <a:p>
            <a:r>
              <a:rPr lang="en-GB" sz="2500" dirty="0">
                <a:solidFill>
                  <a:schemeClr val="tx1"/>
                </a:solidFill>
              </a:rPr>
              <a:t>• Enable smart satellites.</a:t>
            </a:r>
            <a:endParaRPr lang="en-GB" sz="2500" dirty="0">
              <a:solidFill>
                <a:schemeClr val="tx1"/>
              </a:solidFill>
            </a:endParaRPr>
          </a:p>
          <a:p>
            <a:r>
              <a:rPr lang="en-GB" sz="2500" dirty="0">
                <a:solidFill>
                  <a:schemeClr val="tx1"/>
                </a:solidFill>
              </a:rPr>
              <a:t>• Support 5G NTN</a:t>
            </a:r>
            <a:endParaRPr lang="en-GB" sz="2500" dirty="0">
              <a:solidFill>
                <a:schemeClr val="tx1"/>
              </a:solidFill>
            </a:endParaRPr>
          </a:p>
          <a:p>
            <a:r>
              <a:rPr lang="en-GB" sz="2500" dirty="0">
                <a:solidFill>
                  <a:schemeClr val="tx1"/>
                </a:solidFill>
              </a:rPr>
              <a:t>• Increased spectral efficiency</a:t>
            </a:r>
            <a:endParaRPr lang="en-GB" sz="2500" dirty="0">
              <a:solidFill>
                <a:schemeClr val="tx1"/>
              </a:solidFill>
            </a:endParaRPr>
          </a:p>
          <a:p>
            <a:r>
              <a:rPr lang="en-GB" sz="2500" dirty="0">
                <a:solidFill>
                  <a:schemeClr val="tx1"/>
                </a:solidFill>
              </a:rPr>
              <a:t>• Improving Quality of Service (</a:t>
            </a:r>
            <a:r>
              <a:rPr lang="en-GB" sz="2500" dirty="0" err="1">
                <a:solidFill>
                  <a:schemeClr val="tx1"/>
                </a:solidFill>
              </a:rPr>
              <a:t>QoS</a:t>
            </a:r>
            <a:r>
              <a:rPr lang="en-GB" sz="2500" dirty="0">
                <a:solidFill>
                  <a:schemeClr val="tx1"/>
                </a:solidFill>
              </a:rPr>
              <a:t>)</a:t>
            </a:r>
            <a:endParaRPr lang="en-GB" sz="2500" dirty="0">
              <a:solidFill>
                <a:schemeClr val="tx1"/>
              </a:solidFill>
            </a:endParaRPr>
          </a:p>
          <a:p>
            <a:r>
              <a:rPr lang="en-GB" sz="2500" dirty="0">
                <a:solidFill>
                  <a:schemeClr val="tx1"/>
                </a:solidFill>
              </a:rPr>
              <a:t>• Reduce BER and Packet Loss</a:t>
            </a:r>
            <a:endParaRPr lang="en-GB" sz="2500"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78"/>
        <p:cNvGrpSpPr/>
        <p:nvPr/>
      </p:nvGrpSpPr>
      <p:grpSpPr>
        <a:xfrm>
          <a:off x="0" y="0"/>
          <a:ext cx="0" cy="0"/>
          <a:chOff x="0" y="0"/>
          <a:chExt cx="0" cy="0"/>
        </a:xfrm>
      </p:grpSpPr>
      <p:pic>
        <p:nvPicPr>
          <p:cNvPr id="279" name="Google Shape;279;p25"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80" name="Google Shape;280;p25"/>
          <p:cNvSpPr txBox="1"/>
          <p:nvPr/>
        </p:nvSpPr>
        <p:spPr>
          <a:xfrm>
            <a:off x="295275" y="2208907"/>
            <a:ext cx="11601450" cy="1143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i="0" u="none" strike="noStrike" cap="none" dirty="0" smtClean="0">
                <a:solidFill>
                  <a:srgbClr val="A01D2E"/>
                </a:solidFill>
                <a:latin typeface="Merriweather"/>
                <a:ea typeface="Merriweather"/>
                <a:cs typeface="Merriweather"/>
                <a:sym typeface="Merriweather"/>
              </a:rPr>
              <a:t>6_Implementation </a:t>
            </a:r>
            <a:r>
              <a:rPr lang="en-US" sz="3600" b="1" i="0" u="none" strike="noStrike" cap="none" dirty="0">
                <a:solidFill>
                  <a:srgbClr val="A01D2E"/>
                </a:solidFill>
                <a:latin typeface="Merriweather"/>
                <a:ea typeface="Merriweather"/>
                <a:cs typeface="Merriweather"/>
                <a:sym typeface="Merriweather"/>
              </a:rPr>
              <a:t>Smart Transponder Architecture :</a:t>
            </a:r>
            <a:endParaRPr dirty="0"/>
          </a:p>
        </p:txBody>
      </p:sp>
      <p:sp>
        <p:nvSpPr>
          <p:cNvPr id="281" name="Google Shape;281;p25"/>
          <p:cNvSpPr/>
          <p:nvPr/>
        </p:nvSpPr>
        <p:spPr>
          <a:xfrm>
            <a:off x="5619750" y="3828157"/>
            <a:ext cx="952500" cy="47625"/>
          </a:xfrm>
          <a:prstGeom prst="rect">
            <a:avLst/>
          </a:prstGeom>
          <a:solidFill>
            <a:srgbClr val="A01D2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82" name="Google Shape;282;p25"/>
          <p:cNvSpPr txBox="1"/>
          <p:nvPr/>
        </p:nvSpPr>
        <p:spPr>
          <a:xfrm>
            <a:off x="3562350" y="4161532"/>
            <a:ext cx="5067300" cy="4875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b="1" i="0" u="none" strike="noStrike" cap="none" dirty="0">
                <a:solidFill>
                  <a:srgbClr val="0D3B66"/>
                </a:solidFill>
                <a:latin typeface="DM Sans"/>
                <a:ea typeface="DM Sans"/>
                <a:cs typeface="DM Sans"/>
                <a:sym typeface="DM Sans"/>
              </a:rPr>
              <a:t>Main Components &amp; Architecture</a:t>
            </a:r>
            <a:endParaRPr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50" advTm="2532">
        <p14:switch dir="r"/>
      </p:transition>
    </mc:Choice>
    <mc:Fallback>
      <p:transition spd="slow" advTm="253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0">
                                            <p:txEl>
                                              <p:pRg st="0" end="0"/>
                                            </p:txEl>
                                          </p:spTgt>
                                        </p:tgtEl>
                                        <p:attrNameLst>
                                          <p:attrName>style.visibility</p:attrName>
                                        </p:attrNameLst>
                                      </p:cBhvr>
                                      <p:to>
                                        <p:strVal val="visible"/>
                                      </p:to>
                                    </p:set>
                                    <p:animEffect transition="in" filter="fade">
                                      <p:cBhvr>
                                        <p:cTn id="7" dur="1000"/>
                                        <p:tgtEl>
                                          <p:spTgt spid="280">
                                            <p:txEl>
                                              <p:pRg st="0" end="0"/>
                                            </p:txEl>
                                          </p:spTgt>
                                        </p:tgtEl>
                                      </p:cBhvr>
                                    </p:animEffect>
                                    <p:anim calcmode="lin" valueType="num">
                                      <p:cBhvr>
                                        <p:cTn id="8" dur="1000" fill="hold"/>
                                        <p:tgtEl>
                                          <p:spTgt spid="28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8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82"/>
                                        </p:tgtEl>
                                        <p:attrNameLst>
                                          <p:attrName>style.visibility</p:attrName>
                                        </p:attrNameLst>
                                      </p:cBhvr>
                                      <p:to>
                                        <p:strVal val="visible"/>
                                      </p:to>
                                    </p:set>
                                    <p:animEffect transition="in" filter="fade">
                                      <p:cBhvr>
                                        <p:cTn id="14" dur="1000"/>
                                        <p:tgtEl>
                                          <p:spTgt spid="282"/>
                                        </p:tgtEl>
                                      </p:cBhvr>
                                    </p:animEffect>
                                    <p:anim calcmode="lin" valueType="num">
                                      <p:cBhvr>
                                        <p:cTn id="15" dur="1000" fill="hold"/>
                                        <p:tgtEl>
                                          <p:spTgt spid="282"/>
                                        </p:tgtEl>
                                        <p:attrNameLst>
                                          <p:attrName>ppt_x</p:attrName>
                                        </p:attrNameLst>
                                      </p:cBhvr>
                                      <p:tavLst>
                                        <p:tav tm="0">
                                          <p:val>
                                            <p:strVal val="#ppt_x"/>
                                          </p:val>
                                        </p:tav>
                                        <p:tav tm="100000">
                                          <p:val>
                                            <p:strVal val="#ppt_x"/>
                                          </p:val>
                                        </p:tav>
                                      </p:tavLst>
                                    </p:anim>
                                    <p:anim calcmode="lin" valueType="num">
                                      <p:cBhvr>
                                        <p:cTn id="16" dur="1000" fill="hold"/>
                                        <p:tgtEl>
                                          <p:spTgt spid="28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 grpId="0" build="p"/>
      <p:bldP spid="28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286"/>
        <p:cNvGrpSpPr/>
        <p:nvPr/>
      </p:nvGrpSpPr>
      <p:grpSpPr>
        <a:xfrm>
          <a:off x="0" y="0"/>
          <a:ext cx="0" cy="0"/>
          <a:chOff x="0" y="0"/>
          <a:chExt cx="0" cy="0"/>
        </a:xfrm>
      </p:grpSpPr>
      <p:pic>
        <p:nvPicPr>
          <p:cNvPr id="287" name="Google Shape;287;p26" descr="image.png"/>
          <p:cNvPicPr preferRelativeResize="0"/>
          <p:nvPr/>
        </p:nvPicPr>
        <p:blipFill rotWithShape="1">
          <a:blip r:embed="rId1"/>
          <a:srcRect/>
          <a:stretch>
            <a:fillRect/>
          </a:stretch>
        </p:blipFill>
        <p:spPr>
          <a:xfrm>
            <a:off x="0" y="-172720"/>
            <a:ext cx="12192000" cy="6858000"/>
          </a:xfrm>
          <a:prstGeom prst="rect">
            <a:avLst/>
          </a:prstGeom>
          <a:noFill/>
          <a:ln>
            <a:noFill/>
          </a:ln>
        </p:spPr>
      </p:pic>
      <p:sp>
        <p:nvSpPr>
          <p:cNvPr id="288" name="Google Shape;288;p26"/>
          <p:cNvSpPr txBox="1"/>
          <p:nvPr/>
        </p:nvSpPr>
        <p:spPr>
          <a:xfrm>
            <a:off x="571500" y="2390923"/>
            <a:ext cx="11049000" cy="44319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GB" sz="1800" b="1" i="0" u="none" strike="noStrike" cap="none" dirty="0" smtClean="0">
                <a:solidFill>
                  <a:srgbClr val="333333"/>
                </a:solidFill>
                <a:latin typeface="DM Sans"/>
                <a:ea typeface="DM Sans"/>
                <a:cs typeface="DM Sans"/>
                <a:sym typeface="DM Sans"/>
              </a:rPr>
              <a:t>5.1_</a:t>
            </a:r>
            <a:r>
              <a:rPr lang="en-US" sz="1800" b="1" i="0" u="none" strike="noStrike" cap="none" dirty="0" smtClean="0">
                <a:solidFill>
                  <a:srgbClr val="333333"/>
                </a:solidFill>
                <a:latin typeface="DM Sans"/>
                <a:ea typeface="DM Sans"/>
                <a:cs typeface="DM Sans"/>
                <a:sym typeface="DM Sans"/>
              </a:rPr>
              <a:t>Main </a:t>
            </a:r>
            <a:r>
              <a:rPr lang="en-US" sz="1800" b="1" i="0" u="none" strike="noStrike" cap="none" dirty="0">
                <a:solidFill>
                  <a:srgbClr val="333333"/>
                </a:solidFill>
                <a:latin typeface="DM Sans"/>
                <a:ea typeface="DM Sans"/>
                <a:cs typeface="DM Sans"/>
                <a:sym typeface="DM Sans"/>
              </a:rPr>
              <a:t>Components:</a:t>
            </a:r>
            <a:endParaRPr dirty="0"/>
          </a:p>
        </p:txBody>
      </p:sp>
      <p:sp>
        <p:nvSpPr>
          <p:cNvPr id="289" name="Google Shape;289;p26"/>
          <p:cNvSpPr txBox="1"/>
          <p:nvPr/>
        </p:nvSpPr>
        <p:spPr>
          <a:xfrm>
            <a:off x="952500" y="3042344"/>
            <a:ext cx="4953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333333"/>
                </a:solidFill>
                <a:latin typeface="DM Sans"/>
                <a:ea typeface="DM Sans"/>
                <a:cs typeface="DM Sans"/>
                <a:sym typeface="DM Sans"/>
              </a:rPr>
              <a:t>Duplexer</a:t>
            </a:r>
            <a:endParaRPr dirty="0"/>
          </a:p>
        </p:txBody>
      </p:sp>
      <p:sp>
        <p:nvSpPr>
          <p:cNvPr id="290" name="Google Shape;290;p26"/>
          <p:cNvSpPr txBox="1"/>
          <p:nvPr/>
        </p:nvSpPr>
        <p:spPr>
          <a:xfrm>
            <a:off x="6667500" y="3042344"/>
            <a:ext cx="4953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333333"/>
                </a:solidFill>
                <a:latin typeface="DM Sans"/>
                <a:ea typeface="DM Sans"/>
                <a:cs typeface="DM Sans"/>
                <a:sym typeface="DM Sans"/>
              </a:rPr>
              <a:t>Band pass Filter</a:t>
            </a:r>
            <a:endParaRPr lang="en-US" sz="1800" b="0" i="0" u="none" strike="noStrike" cap="none">
              <a:solidFill>
                <a:srgbClr val="333333"/>
              </a:solidFill>
              <a:latin typeface="DM Sans"/>
              <a:ea typeface="DM Sans"/>
              <a:cs typeface="DM Sans"/>
              <a:sym typeface="DM Sans"/>
            </a:endParaRPr>
          </a:p>
        </p:txBody>
      </p:sp>
      <p:sp>
        <p:nvSpPr>
          <p:cNvPr id="291" name="Google Shape;291;p26"/>
          <p:cNvSpPr txBox="1"/>
          <p:nvPr/>
        </p:nvSpPr>
        <p:spPr>
          <a:xfrm>
            <a:off x="952500" y="3693765"/>
            <a:ext cx="4953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333333"/>
                </a:solidFill>
                <a:latin typeface="DM Sans"/>
                <a:ea typeface="DM Sans"/>
                <a:cs typeface="DM Sans"/>
                <a:sym typeface="DM Sans"/>
              </a:rPr>
              <a:t>LNA</a:t>
            </a:r>
            <a:endParaRPr dirty="0"/>
          </a:p>
        </p:txBody>
      </p:sp>
      <p:sp>
        <p:nvSpPr>
          <p:cNvPr id="292" name="Google Shape;292;p26"/>
          <p:cNvSpPr txBox="1"/>
          <p:nvPr/>
        </p:nvSpPr>
        <p:spPr>
          <a:xfrm>
            <a:off x="6667500" y="3693765"/>
            <a:ext cx="4953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333333"/>
                </a:solidFill>
                <a:latin typeface="DM Sans"/>
                <a:ea typeface="DM Sans"/>
                <a:cs typeface="DM Sans"/>
                <a:sym typeface="DM Sans"/>
              </a:rPr>
              <a:t>Mixer</a:t>
            </a:r>
            <a:endParaRPr lang="en-US" sz="1800" b="0" i="0" u="none" strike="noStrike" cap="none">
              <a:solidFill>
                <a:srgbClr val="333333"/>
              </a:solidFill>
              <a:latin typeface="DM Sans"/>
              <a:ea typeface="DM Sans"/>
              <a:cs typeface="DM Sans"/>
              <a:sym typeface="DM Sans"/>
            </a:endParaRPr>
          </a:p>
        </p:txBody>
      </p:sp>
      <p:sp>
        <p:nvSpPr>
          <p:cNvPr id="293" name="Google Shape;293;p26"/>
          <p:cNvSpPr txBox="1"/>
          <p:nvPr/>
        </p:nvSpPr>
        <p:spPr>
          <a:xfrm>
            <a:off x="952500" y="4345185"/>
            <a:ext cx="4953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333333"/>
                </a:solidFill>
                <a:latin typeface="DM Sans"/>
                <a:ea typeface="DM Sans"/>
                <a:cs typeface="DM Sans"/>
                <a:sym typeface="DM Sans"/>
              </a:rPr>
              <a:t>IF Amplifier</a:t>
            </a:r>
            <a:endParaRPr lang="en-US" sz="1800" b="0" i="0" u="none" strike="noStrike" cap="none">
              <a:solidFill>
                <a:srgbClr val="333333"/>
              </a:solidFill>
              <a:latin typeface="DM Sans"/>
              <a:ea typeface="DM Sans"/>
              <a:cs typeface="DM Sans"/>
              <a:sym typeface="DM Sans"/>
            </a:endParaRPr>
          </a:p>
        </p:txBody>
      </p:sp>
      <p:sp>
        <p:nvSpPr>
          <p:cNvPr id="294" name="Google Shape;294;p26"/>
          <p:cNvSpPr txBox="1"/>
          <p:nvPr/>
        </p:nvSpPr>
        <p:spPr>
          <a:xfrm>
            <a:off x="6667500" y="4345185"/>
            <a:ext cx="4953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333333"/>
                </a:solidFill>
                <a:latin typeface="DM Sans"/>
                <a:ea typeface="DM Sans"/>
                <a:cs typeface="DM Sans"/>
                <a:sym typeface="DM Sans"/>
              </a:rPr>
              <a:t>IMUX</a:t>
            </a:r>
            <a:endParaRPr lang="en-US" sz="1800" b="0" i="0" u="none" strike="noStrike" cap="none">
              <a:solidFill>
                <a:srgbClr val="333333"/>
              </a:solidFill>
              <a:latin typeface="DM Sans"/>
              <a:ea typeface="DM Sans"/>
              <a:cs typeface="DM Sans"/>
              <a:sym typeface="DM Sans"/>
            </a:endParaRPr>
          </a:p>
        </p:txBody>
      </p:sp>
      <p:sp>
        <p:nvSpPr>
          <p:cNvPr id="295" name="Google Shape;295;p26"/>
          <p:cNvSpPr txBox="1"/>
          <p:nvPr/>
        </p:nvSpPr>
        <p:spPr>
          <a:xfrm>
            <a:off x="952500" y="4996606"/>
            <a:ext cx="4953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333333"/>
                </a:solidFill>
                <a:latin typeface="DM Sans"/>
                <a:ea typeface="DM Sans"/>
                <a:cs typeface="DM Sans"/>
                <a:sym typeface="DM Sans"/>
              </a:rPr>
              <a:t>HPA</a:t>
            </a:r>
            <a:endParaRPr lang="en-US" sz="1800" b="0" i="0" u="none" strike="noStrike" cap="none">
              <a:solidFill>
                <a:srgbClr val="333333"/>
              </a:solidFill>
              <a:latin typeface="DM Sans"/>
              <a:ea typeface="DM Sans"/>
              <a:cs typeface="DM Sans"/>
              <a:sym typeface="DM Sans"/>
            </a:endParaRPr>
          </a:p>
        </p:txBody>
      </p:sp>
      <p:sp>
        <p:nvSpPr>
          <p:cNvPr id="296" name="Google Shape;296;p26"/>
          <p:cNvSpPr txBox="1"/>
          <p:nvPr/>
        </p:nvSpPr>
        <p:spPr>
          <a:xfrm>
            <a:off x="6667500" y="4996606"/>
            <a:ext cx="49530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333333"/>
                </a:solidFill>
                <a:latin typeface="DM Sans"/>
                <a:ea typeface="DM Sans"/>
                <a:cs typeface="DM Sans"/>
                <a:sym typeface="DM Sans"/>
              </a:rPr>
              <a:t>OMUX</a:t>
            </a:r>
            <a:endParaRPr lang="en-US" sz="1800" b="0" i="0" u="none" strike="noStrike" cap="none">
              <a:solidFill>
                <a:srgbClr val="333333"/>
              </a:solidFill>
              <a:latin typeface="DM Sans"/>
              <a:ea typeface="DM Sans"/>
              <a:cs typeface="DM Sans"/>
              <a:sym typeface="DM Sans"/>
            </a:endParaRPr>
          </a:p>
        </p:txBody>
      </p:sp>
      <p:pic>
        <p:nvPicPr>
          <p:cNvPr id="297" name="Google Shape;297;p26" descr="image.png"/>
          <p:cNvPicPr preferRelativeResize="0"/>
          <p:nvPr/>
        </p:nvPicPr>
        <p:blipFill rotWithShape="1">
          <a:blip r:embed="rId2"/>
          <a:srcRect/>
          <a:stretch>
            <a:fillRect/>
          </a:stretch>
        </p:blipFill>
        <p:spPr>
          <a:xfrm>
            <a:off x="571500" y="3089969"/>
            <a:ext cx="228600" cy="228600"/>
          </a:xfrm>
          <a:prstGeom prst="rect">
            <a:avLst/>
          </a:prstGeom>
          <a:noFill/>
          <a:ln>
            <a:noFill/>
          </a:ln>
        </p:spPr>
      </p:pic>
      <p:pic>
        <p:nvPicPr>
          <p:cNvPr id="298" name="Google Shape;298;p26" descr="image.png"/>
          <p:cNvPicPr preferRelativeResize="0"/>
          <p:nvPr/>
        </p:nvPicPr>
        <p:blipFill rotWithShape="1">
          <a:blip r:embed="rId3"/>
          <a:srcRect/>
          <a:stretch>
            <a:fillRect/>
          </a:stretch>
        </p:blipFill>
        <p:spPr>
          <a:xfrm>
            <a:off x="6286500" y="3089969"/>
            <a:ext cx="228600" cy="228600"/>
          </a:xfrm>
          <a:prstGeom prst="rect">
            <a:avLst/>
          </a:prstGeom>
          <a:noFill/>
          <a:ln>
            <a:noFill/>
          </a:ln>
        </p:spPr>
      </p:pic>
      <p:pic>
        <p:nvPicPr>
          <p:cNvPr id="299" name="Google Shape;299;p26" descr="image.png"/>
          <p:cNvPicPr preferRelativeResize="0"/>
          <p:nvPr/>
        </p:nvPicPr>
        <p:blipFill rotWithShape="1">
          <a:blip r:embed="rId4"/>
          <a:srcRect/>
          <a:stretch>
            <a:fillRect/>
          </a:stretch>
        </p:blipFill>
        <p:spPr>
          <a:xfrm>
            <a:off x="571500" y="3741390"/>
            <a:ext cx="285750" cy="228600"/>
          </a:xfrm>
          <a:prstGeom prst="rect">
            <a:avLst/>
          </a:prstGeom>
          <a:noFill/>
          <a:ln>
            <a:noFill/>
          </a:ln>
        </p:spPr>
      </p:pic>
      <p:pic>
        <p:nvPicPr>
          <p:cNvPr id="300" name="Google Shape;300;p26" descr="image.png"/>
          <p:cNvPicPr preferRelativeResize="0"/>
          <p:nvPr/>
        </p:nvPicPr>
        <p:blipFill rotWithShape="1">
          <a:blip r:embed="rId5"/>
          <a:srcRect/>
          <a:stretch>
            <a:fillRect/>
          </a:stretch>
        </p:blipFill>
        <p:spPr>
          <a:xfrm>
            <a:off x="6286500" y="3741390"/>
            <a:ext cx="228600" cy="228600"/>
          </a:xfrm>
          <a:prstGeom prst="rect">
            <a:avLst/>
          </a:prstGeom>
          <a:noFill/>
          <a:ln>
            <a:noFill/>
          </a:ln>
        </p:spPr>
      </p:pic>
      <p:pic>
        <p:nvPicPr>
          <p:cNvPr id="301" name="Google Shape;301;p26" descr="image.png"/>
          <p:cNvPicPr preferRelativeResize="0"/>
          <p:nvPr/>
        </p:nvPicPr>
        <p:blipFill rotWithShape="1">
          <a:blip r:embed="rId6"/>
          <a:srcRect/>
          <a:stretch>
            <a:fillRect/>
          </a:stretch>
        </p:blipFill>
        <p:spPr>
          <a:xfrm>
            <a:off x="571500" y="4392810"/>
            <a:ext cx="228600" cy="228600"/>
          </a:xfrm>
          <a:prstGeom prst="rect">
            <a:avLst/>
          </a:prstGeom>
          <a:noFill/>
          <a:ln>
            <a:noFill/>
          </a:ln>
        </p:spPr>
      </p:pic>
      <p:pic>
        <p:nvPicPr>
          <p:cNvPr id="302" name="Google Shape;302;p26" descr="image.png"/>
          <p:cNvPicPr preferRelativeResize="0"/>
          <p:nvPr/>
        </p:nvPicPr>
        <p:blipFill rotWithShape="1">
          <a:blip r:embed="rId7"/>
          <a:srcRect/>
          <a:stretch>
            <a:fillRect/>
          </a:stretch>
        </p:blipFill>
        <p:spPr>
          <a:xfrm>
            <a:off x="6286500" y="4392810"/>
            <a:ext cx="257175" cy="228600"/>
          </a:xfrm>
          <a:prstGeom prst="rect">
            <a:avLst/>
          </a:prstGeom>
          <a:noFill/>
          <a:ln>
            <a:noFill/>
          </a:ln>
        </p:spPr>
      </p:pic>
      <p:pic>
        <p:nvPicPr>
          <p:cNvPr id="303" name="Google Shape;303;p26" descr="image.png"/>
          <p:cNvPicPr preferRelativeResize="0"/>
          <p:nvPr/>
        </p:nvPicPr>
        <p:blipFill rotWithShape="1">
          <a:blip r:embed="rId8"/>
          <a:srcRect/>
          <a:stretch>
            <a:fillRect/>
          </a:stretch>
        </p:blipFill>
        <p:spPr>
          <a:xfrm>
            <a:off x="571500" y="5044231"/>
            <a:ext cx="200025" cy="228600"/>
          </a:xfrm>
          <a:prstGeom prst="rect">
            <a:avLst/>
          </a:prstGeom>
          <a:noFill/>
          <a:ln>
            <a:noFill/>
          </a:ln>
        </p:spPr>
      </p:pic>
      <p:pic>
        <p:nvPicPr>
          <p:cNvPr id="304" name="Google Shape;304;p26" descr="image.png"/>
          <p:cNvPicPr preferRelativeResize="0"/>
          <p:nvPr/>
        </p:nvPicPr>
        <p:blipFill rotWithShape="1">
          <a:blip r:embed="rId9"/>
          <a:srcRect/>
          <a:stretch>
            <a:fillRect/>
          </a:stretch>
        </p:blipFill>
        <p:spPr>
          <a:xfrm>
            <a:off x="6286500" y="5044231"/>
            <a:ext cx="285750" cy="228600"/>
          </a:xfrm>
          <a:prstGeom prst="rect">
            <a:avLst/>
          </a:prstGeom>
          <a:noFill/>
          <a:ln>
            <a:noFill/>
          </a:ln>
        </p:spPr>
      </p:pic>
      <p:sp>
        <p:nvSpPr>
          <p:cNvPr id="305" name="Google Shape;305;p26"/>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smtClean="0">
                <a:solidFill>
                  <a:srgbClr val="0D3B66"/>
                </a:solidFill>
                <a:latin typeface="Merriweather"/>
                <a:ea typeface="Merriweather"/>
                <a:cs typeface="Merriweather"/>
                <a:sym typeface="Merriweather"/>
              </a:rPr>
              <a:t>6_Implementation </a:t>
            </a:r>
            <a:r>
              <a:rPr lang="en-US" sz="3000" b="1" i="0" u="none" strike="noStrike" cap="none" dirty="0">
                <a:solidFill>
                  <a:srgbClr val="0D3B66"/>
                </a:solidFill>
                <a:latin typeface="Merriweather"/>
                <a:ea typeface="Merriweather"/>
                <a:cs typeface="Merriweather"/>
                <a:sym typeface="Merriweather"/>
              </a:rPr>
              <a:t>Smart Transponder Architecture :</a:t>
            </a:r>
            <a:endParaRPr dirty="0"/>
          </a:p>
        </p:txBody>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1250" advTm="976">
        <p14:switch dir="r"/>
      </p:transition>
    </mc:Choice>
    <mc:Fallback>
      <p:transition spd="slow" advTm="976">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287"/>
                                        </p:tgtEl>
                                        <p:attrNameLst>
                                          <p:attrName>style.visibility</p:attrName>
                                        </p:attrNameLst>
                                      </p:cBhvr>
                                      <p:to>
                                        <p:strVal val="visible"/>
                                      </p:to>
                                    </p:set>
                                    <p:anim calcmode="lin" valueType="num">
                                      <p:cBhvr additive="base">
                                        <p:cTn id="7" dur="500" fill="hold"/>
                                        <p:tgtEl>
                                          <p:spTgt spid="287"/>
                                        </p:tgtEl>
                                        <p:attrNameLst>
                                          <p:attrName>ppt_x</p:attrName>
                                        </p:attrNameLst>
                                      </p:cBhvr>
                                      <p:tavLst>
                                        <p:tav tm="0">
                                          <p:val>
                                            <p:strVal val="0-#ppt_w/2"/>
                                          </p:val>
                                        </p:tav>
                                        <p:tav tm="100000">
                                          <p:val>
                                            <p:strVal val="#ppt_x"/>
                                          </p:val>
                                        </p:tav>
                                      </p:tavLst>
                                    </p:anim>
                                    <p:anim calcmode="lin" valueType="num">
                                      <p:cBhvr additive="base">
                                        <p:cTn id="8" dur="500" fill="hold"/>
                                        <p:tgtEl>
                                          <p:spTgt spid="287"/>
                                        </p:tgtEl>
                                        <p:attrNameLst>
                                          <p:attrName>ppt_y</p:attrName>
                                        </p:attrNameLst>
                                      </p:cBhvr>
                                      <p:tavLst>
                                        <p:tav tm="0">
                                          <p:val>
                                            <p:strVal val="0-#ppt_h/2"/>
                                          </p:val>
                                        </p:tav>
                                        <p:tav tm="100000">
                                          <p:val>
                                            <p:strVal val="#ppt_y"/>
                                          </p:val>
                                        </p:tav>
                                      </p:tavLst>
                                    </p:anim>
                                  </p:childTnLst>
                                </p:cTn>
                              </p:par>
                              <p:par>
                                <p:cTn id="9" presetID="2" presetClass="entr" presetSubtype="9" fill="hold" grpId="0" nodeType="withEffect">
                                  <p:stCondLst>
                                    <p:cond delay="0"/>
                                  </p:stCondLst>
                                  <p:childTnLst>
                                    <p:set>
                                      <p:cBhvr>
                                        <p:cTn id="10" dur="1" fill="hold">
                                          <p:stCondLst>
                                            <p:cond delay="0"/>
                                          </p:stCondLst>
                                        </p:cTn>
                                        <p:tgtEl>
                                          <p:spTgt spid="288"/>
                                        </p:tgtEl>
                                        <p:attrNameLst>
                                          <p:attrName>style.visibility</p:attrName>
                                        </p:attrNameLst>
                                      </p:cBhvr>
                                      <p:to>
                                        <p:strVal val="visible"/>
                                      </p:to>
                                    </p:set>
                                    <p:anim calcmode="lin" valueType="num">
                                      <p:cBhvr additive="base">
                                        <p:cTn id="11" dur="500" fill="hold"/>
                                        <p:tgtEl>
                                          <p:spTgt spid="288"/>
                                        </p:tgtEl>
                                        <p:attrNameLst>
                                          <p:attrName>ppt_x</p:attrName>
                                        </p:attrNameLst>
                                      </p:cBhvr>
                                      <p:tavLst>
                                        <p:tav tm="0">
                                          <p:val>
                                            <p:strVal val="0-#ppt_w/2"/>
                                          </p:val>
                                        </p:tav>
                                        <p:tav tm="100000">
                                          <p:val>
                                            <p:strVal val="#ppt_x"/>
                                          </p:val>
                                        </p:tav>
                                      </p:tavLst>
                                    </p:anim>
                                    <p:anim calcmode="lin" valueType="num">
                                      <p:cBhvr additive="base">
                                        <p:cTn id="12" dur="500" fill="hold"/>
                                        <p:tgtEl>
                                          <p:spTgt spid="288"/>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stCondLst>
                                    <p:cond delay="0"/>
                                  </p:stCondLst>
                                  <p:childTnLst>
                                    <p:set>
                                      <p:cBhvr>
                                        <p:cTn id="14" dur="1" fill="hold">
                                          <p:stCondLst>
                                            <p:cond delay="0"/>
                                          </p:stCondLst>
                                        </p:cTn>
                                        <p:tgtEl>
                                          <p:spTgt spid="289"/>
                                        </p:tgtEl>
                                        <p:attrNameLst>
                                          <p:attrName>style.visibility</p:attrName>
                                        </p:attrNameLst>
                                      </p:cBhvr>
                                      <p:to>
                                        <p:strVal val="visible"/>
                                      </p:to>
                                    </p:set>
                                    <p:anim calcmode="lin" valueType="num">
                                      <p:cBhvr additive="base">
                                        <p:cTn id="15" dur="500" fill="hold"/>
                                        <p:tgtEl>
                                          <p:spTgt spid="289"/>
                                        </p:tgtEl>
                                        <p:attrNameLst>
                                          <p:attrName>ppt_x</p:attrName>
                                        </p:attrNameLst>
                                      </p:cBhvr>
                                      <p:tavLst>
                                        <p:tav tm="0">
                                          <p:val>
                                            <p:strVal val="0-#ppt_w/2"/>
                                          </p:val>
                                        </p:tav>
                                        <p:tav tm="100000">
                                          <p:val>
                                            <p:strVal val="#ppt_x"/>
                                          </p:val>
                                        </p:tav>
                                      </p:tavLst>
                                    </p:anim>
                                    <p:anim calcmode="lin" valueType="num">
                                      <p:cBhvr additive="base">
                                        <p:cTn id="16" dur="500" fill="hold"/>
                                        <p:tgtEl>
                                          <p:spTgt spid="289"/>
                                        </p:tgtEl>
                                        <p:attrNameLst>
                                          <p:attrName>ppt_y</p:attrName>
                                        </p:attrNameLst>
                                      </p:cBhvr>
                                      <p:tavLst>
                                        <p:tav tm="0">
                                          <p:val>
                                            <p:strVal val="0-#ppt_h/2"/>
                                          </p:val>
                                        </p:tav>
                                        <p:tav tm="100000">
                                          <p:val>
                                            <p:strVal val="#ppt_y"/>
                                          </p:val>
                                        </p:tav>
                                      </p:tavLst>
                                    </p:anim>
                                  </p:childTnLst>
                                </p:cTn>
                              </p:par>
                              <p:par>
                                <p:cTn id="17" presetID="2" presetClass="entr" presetSubtype="9" fill="hold" grpId="0" nodeType="withEffect">
                                  <p:stCondLst>
                                    <p:cond delay="0"/>
                                  </p:stCondLst>
                                  <p:childTnLst>
                                    <p:set>
                                      <p:cBhvr>
                                        <p:cTn id="18" dur="1" fill="hold">
                                          <p:stCondLst>
                                            <p:cond delay="0"/>
                                          </p:stCondLst>
                                        </p:cTn>
                                        <p:tgtEl>
                                          <p:spTgt spid="290"/>
                                        </p:tgtEl>
                                        <p:attrNameLst>
                                          <p:attrName>style.visibility</p:attrName>
                                        </p:attrNameLst>
                                      </p:cBhvr>
                                      <p:to>
                                        <p:strVal val="visible"/>
                                      </p:to>
                                    </p:set>
                                    <p:anim calcmode="lin" valueType="num">
                                      <p:cBhvr additive="base">
                                        <p:cTn id="19" dur="500" fill="hold"/>
                                        <p:tgtEl>
                                          <p:spTgt spid="290"/>
                                        </p:tgtEl>
                                        <p:attrNameLst>
                                          <p:attrName>ppt_x</p:attrName>
                                        </p:attrNameLst>
                                      </p:cBhvr>
                                      <p:tavLst>
                                        <p:tav tm="0">
                                          <p:val>
                                            <p:strVal val="0-#ppt_w/2"/>
                                          </p:val>
                                        </p:tav>
                                        <p:tav tm="100000">
                                          <p:val>
                                            <p:strVal val="#ppt_x"/>
                                          </p:val>
                                        </p:tav>
                                      </p:tavLst>
                                    </p:anim>
                                    <p:anim calcmode="lin" valueType="num">
                                      <p:cBhvr additive="base">
                                        <p:cTn id="20" dur="500" fill="hold"/>
                                        <p:tgtEl>
                                          <p:spTgt spid="290"/>
                                        </p:tgtEl>
                                        <p:attrNameLst>
                                          <p:attrName>ppt_y</p:attrName>
                                        </p:attrNameLst>
                                      </p:cBhvr>
                                      <p:tavLst>
                                        <p:tav tm="0">
                                          <p:val>
                                            <p:strVal val="0-#ppt_h/2"/>
                                          </p:val>
                                        </p:tav>
                                        <p:tav tm="100000">
                                          <p:val>
                                            <p:strVal val="#ppt_y"/>
                                          </p:val>
                                        </p:tav>
                                      </p:tavLst>
                                    </p:anim>
                                  </p:childTnLst>
                                </p:cTn>
                              </p:par>
                              <p:par>
                                <p:cTn id="21" presetID="2" presetClass="entr" presetSubtype="9" fill="hold" grpId="0" nodeType="withEffect">
                                  <p:stCondLst>
                                    <p:cond delay="0"/>
                                  </p:stCondLst>
                                  <p:childTnLst>
                                    <p:set>
                                      <p:cBhvr>
                                        <p:cTn id="22" dur="1" fill="hold">
                                          <p:stCondLst>
                                            <p:cond delay="0"/>
                                          </p:stCondLst>
                                        </p:cTn>
                                        <p:tgtEl>
                                          <p:spTgt spid="291"/>
                                        </p:tgtEl>
                                        <p:attrNameLst>
                                          <p:attrName>style.visibility</p:attrName>
                                        </p:attrNameLst>
                                      </p:cBhvr>
                                      <p:to>
                                        <p:strVal val="visible"/>
                                      </p:to>
                                    </p:set>
                                    <p:anim calcmode="lin" valueType="num">
                                      <p:cBhvr additive="base">
                                        <p:cTn id="23" dur="500" fill="hold"/>
                                        <p:tgtEl>
                                          <p:spTgt spid="291"/>
                                        </p:tgtEl>
                                        <p:attrNameLst>
                                          <p:attrName>ppt_x</p:attrName>
                                        </p:attrNameLst>
                                      </p:cBhvr>
                                      <p:tavLst>
                                        <p:tav tm="0">
                                          <p:val>
                                            <p:strVal val="0-#ppt_w/2"/>
                                          </p:val>
                                        </p:tav>
                                        <p:tav tm="100000">
                                          <p:val>
                                            <p:strVal val="#ppt_x"/>
                                          </p:val>
                                        </p:tav>
                                      </p:tavLst>
                                    </p:anim>
                                    <p:anim calcmode="lin" valueType="num">
                                      <p:cBhvr additive="base">
                                        <p:cTn id="24" dur="500" fill="hold"/>
                                        <p:tgtEl>
                                          <p:spTgt spid="291"/>
                                        </p:tgtEl>
                                        <p:attrNameLst>
                                          <p:attrName>ppt_y</p:attrName>
                                        </p:attrNameLst>
                                      </p:cBhvr>
                                      <p:tavLst>
                                        <p:tav tm="0">
                                          <p:val>
                                            <p:strVal val="0-#ppt_h/2"/>
                                          </p:val>
                                        </p:tav>
                                        <p:tav tm="100000">
                                          <p:val>
                                            <p:strVal val="#ppt_y"/>
                                          </p:val>
                                        </p:tav>
                                      </p:tavLst>
                                    </p:anim>
                                  </p:childTnLst>
                                </p:cTn>
                              </p:par>
                              <p:par>
                                <p:cTn id="25" presetID="2" presetClass="entr" presetSubtype="9" fill="hold" grpId="0" nodeType="withEffect">
                                  <p:stCondLst>
                                    <p:cond delay="0"/>
                                  </p:stCondLst>
                                  <p:childTnLst>
                                    <p:set>
                                      <p:cBhvr>
                                        <p:cTn id="26" dur="1" fill="hold">
                                          <p:stCondLst>
                                            <p:cond delay="0"/>
                                          </p:stCondLst>
                                        </p:cTn>
                                        <p:tgtEl>
                                          <p:spTgt spid="292"/>
                                        </p:tgtEl>
                                        <p:attrNameLst>
                                          <p:attrName>style.visibility</p:attrName>
                                        </p:attrNameLst>
                                      </p:cBhvr>
                                      <p:to>
                                        <p:strVal val="visible"/>
                                      </p:to>
                                    </p:set>
                                    <p:anim calcmode="lin" valueType="num">
                                      <p:cBhvr additive="base">
                                        <p:cTn id="27" dur="500" fill="hold"/>
                                        <p:tgtEl>
                                          <p:spTgt spid="292"/>
                                        </p:tgtEl>
                                        <p:attrNameLst>
                                          <p:attrName>ppt_x</p:attrName>
                                        </p:attrNameLst>
                                      </p:cBhvr>
                                      <p:tavLst>
                                        <p:tav tm="0">
                                          <p:val>
                                            <p:strVal val="0-#ppt_w/2"/>
                                          </p:val>
                                        </p:tav>
                                        <p:tav tm="100000">
                                          <p:val>
                                            <p:strVal val="#ppt_x"/>
                                          </p:val>
                                        </p:tav>
                                      </p:tavLst>
                                    </p:anim>
                                    <p:anim calcmode="lin" valueType="num">
                                      <p:cBhvr additive="base">
                                        <p:cTn id="28" dur="500" fill="hold"/>
                                        <p:tgtEl>
                                          <p:spTgt spid="292"/>
                                        </p:tgtEl>
                                        <p:attrNameLst>
                                          <p:attrName>ppt_y</p:attrName>
                                        </p:attrNameLst>
                                      </p:cBhvr>
                                      <p:tavLst>
                                        <p:tav tm="0">
                                          <p:val>
                                            <p:strVal val="0-#ppt_h/2"/>
                                          </p:val>
                                        </p:tav>
                                        <p:tav tm="100000">
                                          <p:val>
                                            <p:strVal val="#ppt_y"/>
                                          </p:val>
                                        </p:tav>
                                      </p:tavLst>
                                    </p:anim>
                                  </p:childTnLst>
                                </p:cTn>
                              </p:par>
                              <p:par>
                                <p:cTn id="29" presetID="2" presetClass="entr" presetSubtype="9" fill="hold" grpId="0" nodeType="withEffect">
                                  <p:stCondLst>
                                    <p:cond delay="0"/>
                                  </p:stCondLst>
                                  <p:childTnLst>
                                    <p:set>
                                      <p:cBhvr>
                                        <p:cTn id="30" dur="1" fill="hold">
                                          <p:stCondLst>
                                            <p:cond delay="0"/>
                                          </p:stCondLst>
                                        </p:cTn>
                                        <p:tgtEl>
                                          <p:spTgt spid="293"/>
                                        </p:tgtEl>
                                        <p:attrNameLst>
                                          <p:attrName>style.visibility</p:attrName>
                                        </p:attrNameLst>
                                      </p:cBhvr>
                                      <p:to>
                                        <p:strVal val="visible"/>
                                      </p:to>
                                    </p:set>
                                    <p:anim calcmode="lin" valueType="num">
                                      <p:cBhvr additive="base">
                                        <p:cTn id="31" dur="500" fill="hold"/>
                                        <p:tgtEl>
                                          <p:spTgt spid="293"/>
                                        </p:tgtEl>
                                        <p:attrNameLst>
                                          <p:attrName>ppt_x</p:attrName>
                                        </p:attrNameLst>
                                      </p:cBhvr>
                                      <p:tavLst>
                                        <p:tav tm="0">
                                          <p:val>
                                            <p:strVal val="0-#ppt_w/2"/>
                                          </p:val>
                                        </p:tav>
                                        <p:tav tm="100000">
                                          <p:val>
                                            <p:strVal val="#ppt_x"/>
                                          </p:val>
                                        </p:tav>
                                      </p:tavLst>
                                    </p:anim>
                                    <p:anim calcmode="lin" valueType="num">
                                      <p:cBhvr additive="base">
                                        <p:cTn id="32" dur="500" fill="hold"/>
                                        <p:tgtEl>
                                          <p:spTgt spid="293"/>
                                        </p:tgtEl>
                                        <p:attrNameLst>
                                          <p:attrName>ppt_y</p:attrName>
                                        </p:attrNameLst>
                                      </p:cBhvr>
                                      <p:tavLst>
                                        <p:tav tm="0">
                                          <p:val>
                                            <p:strVal val="0-#ppt_h/2"/>
                                          </p:val>
                                        </p:tav>
                                        <p:tav tm="100000">
                                          <p:val>
                                            <p:strVal val="#ppt_y"/>
                                          </p:val>
                                        </p:tav>
                                      </p:tavLst>
                                    </p:anim>
                                  </p:childTnLst>
                                </p:cTn>
                              </p:par>
                              <p:par>
                                <p:cTn id="33" presetID="2" presetClass="entr" presetSubtype="9" fill="hold" grpId="0" nodeType="withEffect">
                                  <p:stCondLst>
                                    <p:cond delay="0"/>
                                  </p:stCondLst>
                                  <p:childTnLst>
                                    <p:set>
                                      <p:cBhvr>
                                        <p:cTn id="34" dur="1" fill="hold">
                                          <p:stCondLst>
                                            <p:cond delay="0"/>
                                          </p:stCondLst>
                                        </p:cTn>
                                        <p:tgtEl>
                                          <p:spTgt spid="294"/>
                                        </p:tgtEl>
                                        <p:attrNameLst>
                                          <p:attrName>style.visibility</p:attrName>
                                        </p:attrNameLst>
                                      </p:cBhvr>
                                      <p:to>
                                        <p:strVal val="visible"/>
                                      </p:to>
                                    </p:set>
                                    <p:anim calcmode="lin" valueType="num">
                                      <p:cBhvr additive="base">
                                        <p:cTn id="35" dur="500" fill="hold"/>
                                        <p:tgtEl>
                                          <p:spTgt spid="294"/>
                                        </p:tgtEl>
                                        <p:attrNameLst>
                                          <p:attrName>ppt_x</p:attrName>
                                        </p:attrNameLst>
                                      </p:cBhvr>
                                      <p:tavLst>
                                        <p:tav tm="0">
                                          <p:val>
                                            <p:strVal val="0-#ppt_w/2"/>
                                          </p:val>
                                        </p:tav>
                                        <p:tav tm="100000">
                                          <p:val>
                                            <p:strVal val="#ppt_x"/>
                                          </p:val>
                                        </p:tav>
                                      </p:tavLst>
                                    </p:anim>
                                    <p:anim calcmode="lin" valueType="num">
                                      <p:cBhvr additive="base">
                                        <p:cTn id="36" dur="500" fill="hold"/>
                                        <p:tgtEl>
                                          <p:spTgt spid="294"/>
                                        </p:tgtEl>
                                        <p:attrNameLst>
                                          <p:attrName>ppt_y</p:attrName>
                                        </p:attrNameLst>
                                      </p:cBhvr>
                                      <p:tavLst>
                                        <p:tav tm="0">
                                          <p:val>
                                            <p:strVal val="0-#ppt_h/2"/>
                                          </p:val>
                                        </p:tav>
                                        <p:tav tm="100000">
                                          <p:val>
                                            <p:strVal val="#ppt_y"/>
                                          </p:val>
                                        </p:tav>
                                      </p:tavLst>
                                    </p:anim>
                                  </p:childTnLst>
                                </p:cTn>
                              </p:par>
                              <p:par>
                                <p:cTn id="37" presetID="2" presetClass="entr" presetSubtype="9" fill="hold" grpId="0" nodeType="withEffect">
                                  <p:stCondLst>
                                    <p:cond delay="0"/>
                                  </p:stCondLst>
                                  <p:childTnLst>
                                    <p:set>
                                      <p:cBhvr>
                                        <p:cTn id="38" dur="1" fill="hold">
                                          <p:stCondLst>
                                            <p:cond delay="0"/>
                                          </p:stCondLst>
                                        </p:cTn>
                                        <p:tgtEl>
                                          <p:spTgt spid="295"/>
                                        </p:tgtEl>
                                        <p:attrNameLst>
                                          <p:attrName>style.visibility</p:attrName>
                                        </p:attrNameLst>
                                      </p:cBhvr>
                                      <p:to>
                                        <p:strVal val="visible"/>
                                      </p:to>
                                    </p:set>
                                    <p:anim calcmode="lin" valueType="num">
                                      <p:cBhvr additive="base">
                                        <p:cTn id="39" dur="500" fill="hold"/>
                                        <p:tgtEl>
                                          <p:spTgt spid="295"/>
                                        </p:tgtEl>
                                        <p:attrNameLst>
                                          <p:attrName>ppt_x</p:attrName>
                                        </p:attrNameLst>
                                      </p:cBhvr>
                                      <p:tavLst>
                                        <p:tav tm="0">
                                          <p:val>
                                            <p:strVal val="0-#ppt_w/2"/>
                                          </p:val>
                                        </p:tav>
                                        <p:tav tm="100000">
                                          <p:val>
                                            <p:strVal val="#ppt_x"/>
                                          </p:val>
                                        </p:tav>
                                      </p:tavLst>
                                    </p:anim>
                                    <p:anim calcmode="lin" valueType="num">
                                      <p:cBhvr additive="base">
                                        <p:cTn id="40" dur="500" fill="hold"/>
                                        <p:tgtEl>
                                          <p:spTgt spid="295"/>
                                        </p:tgtEl>
                                        <p:attrNameLst>
                                          <p:attrName>ppt_y</p:attrName>
                                        </p:attrNameLst>
                                      </p:cBhvr>
                                      <p:tavLst>
                                        <p:tav tm="0">
                                          <p:val>
                                            <p:strVal val="0-#ppt_h/2"/>
                                          </p:val>
                                        </p:tav>
                                        <p:tav tm="100000">
                                          <p:val>
                                            <p:strVal val="#ppt_y"/>
                                          </p:val>
                                        </p:tav>
                                      </p:tavLst>
                                    </p:anim>
                                  </p:childTnLst>
                                </p:cTn>
                              </p:par>
                              <p:par>
                                <p:cTn id="41" presetID="2" presetClass="entr" presetSubtype="9" fill="hold" grpId="0" nodeType="withEffect">
                                  <p:stCondLst>
                                    <p:cond delay="0"/>
                                  </p:stCondLst>
                                  <p:childTnLst>
                                    <p:set>
                                      <p:cBhvr>
                                        <p:cTn id="42" dur="1" fill="hold">
                                          <p:stCondLst>
                                            <p:cond delay="0"/>
                                          </p:stCondLst>
                                        </p:cTn>
                                        <p:tgtEl>
                                          <p:spTgt spid="296"/>
                                        </p:tgtEl>
                                        <p:attrNameLst>
                                          <p:attrName>style.visibility</p:attrName>
                                        </p:attrNameLst>
                                      </p:cBhvr>
                                      <p:to>
                                        <p:strVal val="visible"/>
                                      </p:to>
                                    </p:set>
                                    <p:anim calcmode="lin" valueType="num">
                                      <p:cBhvr additive="base">
                                        <p:cTn id="43" dur="500" fill="hold"/>
                                        <p:tgtEl>
                                          <p:spTgt spid="296"/>
                                        </p:tgtEl>
                                        <p:attrNameLst>
                                          <p:attrName>ppt_x</p:attrName>
                                        </p:attrNameLst>
                                      </p:cBhvr>
                                      <p:tavLst>
                                        <p:tav tm="0">
                                          <p:val>
                                            <p:strVal val="0-#ppt_w/2"/>
                                          </p:val>
                                        </p:tav>
                                        <p:tav tm="100000">
                                          <p:val>
                                            <p:strVal val="#ppt_x"/>
                                          </p:val>
                                        </p:tav>
                                      </p:tavLst>
                                    </p:anim>
                                    <p:anim calcmode="lin" valueType="num">
                                      <p:cBhvr additive="base">
                                        <p:cTn id="44" dur="500" fill="hold"/>
                                        <p:tgtEl>
                                          <p:spTgt spid="296"/>
                                        </p:tgtEl>
                                        <p:attrNameLst>
                                          <p:attrName>ppt_y</p:attrName>
                                        </p:attrNameLst>
                                      </p:cBhvr>
                                      <p:tavLst>
                                        <p:tav tm="0">
                                          <p:val>
                                            <p:strVal val="0-#ppt_h/2"/>
                                          </p:val>
                                        </p:tav>
                                        <p:tav tm="100000">
                                          <p:val>
                                            <p:strVal val="#ppt_y"/>
                                          </p:val>
                                        </p:tav>
                                      </p:tavLst>
                                    </p:anim>
                                  </p:childTnLst>
                                </p:cTn>
                              </p:par>
                              <p:par>
                                <p:cTn id="45" presetID="2" presetClass="entr" presetSubtype="9" fill="hold" nodeType="withEffect">
                                  <p:stCondLst>
                                    <p:cond delay="0"/>
                                  </p:stCondLst>
                                  <p:childTnLst>
                                    <p:set>
                                      <p:cBhvr>
                                        <p:cTn id="46" dur="1" fill="hold">
                                          <p:stCondLst>
                                            <p:cond delay="0"/>
                                          </p:stCondLst>
                                        </p:cTn>
                                        <p:tgtEl>
                                          <p:spTgt spid="297"/>
                                        </p:tgtEl>
                                        <p:attrNameLst>
                                          <p:attrName>style.visibility</p:attrName>
                                        </p:attrNameLst>
                                      </p:cBhvr>
                                      <p:to>
                                        <p:strVal val="visible"/>
                                      </p:to>
                                    </p:set>
                                    <p:anim calcmode="lin" valueType="num">
                                      <p:cBhvr additive="base">
                                        <p:cTn id="47" dur="500" fill="hold"/>
                                        <p:tgtEl>
                                          <p:spTgt spid="297"/>
                                        </p:tgtEl>
                                        <p:attrNameLst>
                                          <p:attrName>ppt_x</p:attrName>
                                        </p:attrNameLst>
                                      </p:cBhvr>
                                      <p:tavLst>
                                        <p:tav tm="0">
                                          <p:val>
                                            <p:strVal val="0-#ppt_w/2"/>
                                          </p:val>
                                        </p:tav>
                                        <p:tav tm="100000">
                                          <p:val>
                                            <p:strVal val="#ppt_x"/>
                                          </p:val>
                                        </p:tav>
                                      </p:tavLst>
                                    </p:anim>
                                    <p:anim calcmode="lin" valueType="num">
                                      <p:cBhvr additive="base">
                                        <p:cTn id="48" dur="500" fill="hold"/>
                                        <p:tgtEl>
                                          <p:spTgt spid="297"/>
                                        </p:tgtEl>
                                        <p:attrNameLst>
                                          <p:attrName>ppt_y</p:attrName>
                                        </p:attrNameLst>
                                      </p:cBhvr>
                                      <p:tavLst>
                                        <p:tav tm="0">
                                          <p:val>
                                            <p:strVal val="0-#ppt_h/2"/>
                                          </p:val>
                                        </p:tav>
                                        <p:tav tm="100000">
                                          <p:val>
                                            <p:strVal val="#ppt_y"/>
                                          </p:val>
                                        </p:tav>
                                      </p:tavLst>
                                    </p:anim>
                                  </p:childTnLst>
                                </p:cTn>
                              </p:par>
                              <p:par>
                                <p:cTn id="49" presetID="2" presetClass="entr" presetSubtype="9" fill="hold" nodeType="withEffect">
                                  <p:stCondLst>
                                    <p:cond delay="0"/>
                                  </p:stCondLst>
                                  <p:childTnLst>
                                    <p:set>
                                      <p:cBhvr>
                                        <p:cTn id="50" dur="1" fill="hold">
                                          <p:stCondLst>
                                            <p:cond delay="0"/>
                                          </p:stCondLst>
                                        </p:cTn>
                                        <p:tgtEl>
                                          <p:spTgt spid="298"/>
                                        </p:tgtEl>
                                        <p:attrNameLst>
                                          <p:attrName>style.visibility</p:attrName>
                                        </p:attrNameLst>
                                      </p:cBhvr>
                                      <p:to>
                                        <p:strVal val="visible"/>
                                      </p:to>
                                    </p:set>
                                    <p:anim calcmode="lin" valueType="num">
                                      <p:cBhvr additive="base">
                                        <p:cTn id="51" dur="500" fill="hold"/>
                                        <p:tgtEl>
                                          <p:spTgt spid="298"/>
                                        </p:tgtEl>
                                        <p:attrNameLst>
                                          <p:attrName>ppt_x</p:attrName>
                                        </p:attrNameLst>
                                      </p:cBhvr>
                                      <p:tavLst>
                                        <p:tav tm="0">
                                          <p:val>
                                            <p:strVal val="0-#ppt_w/2"/>
                                          </p:val>
                                        </p:tav>
                                        <p:tav tm="100000">
                                          <p:val>
                                            <p:strVal val="#ppt_x"/>
                                          </p:val>
                                        </p:tav>
                                      </p:tavLst>
                                    </p:anim>
                                    <p:anim calcmode="lin" valueType="num">
                                      <p:cBhvr additive="base">
                                        <p:cTn id="52" dur="500" fill="hold"/>
                                        <p:tgtEl>
                                          <p:spTgt spid="298"/>
                                        </p:tgtEl>
                                        <p:attrNameLst>
                                          <p:attrName>ppt_y</p:attrName>
                                        </p:attrNameLst>
                                      </p:cBhvr>
                                      <p:tavLst>
                                        <p:tav tm="0">
                                          <p:val>
                                            <p:strVal val="0-#ppt_h/2"/>
                                          </p:val>
                                        </p:tav>
                                        <p:tav tm="100000">
                                          <p:val>
                                            <p:strVal val="#ppt_y"/>
                                          </p:val>
                                        </p:tav>
                                      </p:tavLst>
                                    </p:anim>
                                  </p:childTnLst>
                                </p:cTn>
                              </p:par>
                              <p:par>
                                <p:cTn id="53" presetID="2" presetClass="entr" presetSubtype="9" fill="hold" nodeType="withEffect">
                                  <p:stCondLst>
                                    <p:cond delay="0"/>
                                  </p:stCondLst>
                                  <p:childTnLst>
                                    <p:set>
                                      <p:cBhvr>
                                        <p:cTn id="54" dur="1" fill="hold">
                                          <p:stCondLst>
                                            <p:cond delay="0"/>
                                          </p:stCondLst>
                                        </p:cTn>
                                        <p:tgtEl>
                                          <p:spTgt spid="299"/>
                                        </p:tgtEl>
                                        <p:attrNameLst>
                                          <p:attrName>style.visibility</p:attrName>
                                        </p:attrNameLst>
                                      </p:cBhvr>
                                      <p:to>
                                        <p:strVal val="visible"/>
                                      </p:to>
                                    </p:set>
                                    <p:anim calcmode="lin" valueType="num">
                                      <p:cBhvr additive="base">
                                        <p:cTn id="55" dur="500" fill="hold"/>
                                        <p:tgtEl>
                                          <p:spTgt spid="299"/>
                                        </p:tgtEl>
                                        <p:attrNameLst>
                                          <p:attrName>ppt_x</p:attrName>
                                        </p:attrNameLst>
                                      </p:cBhvr>
                                      <p:tavLst>
                                        <p:tav tm="0">
                                          <p:val>
                                            <p:strVal val="0-#ppt_w/2"/>
                                          </p:val>
                                        </p:tav>
                                        <p:tav tm="100000">
                                          <p:val>
                                            <p:strVal val="#ppt_x"/>
                                          </p:val>
                                        </p:tav>
                                      </p:tavLst>
                                    </p:anim>
                                    <p:anim calcmode="lin" valueType="num">
                                      <p:cBhvr additive="base">
                                        <p:cTn id="56" dur="500" fill="hold"/>
                                        <p:tgtEl>
                                          <p:spTgt spid="299"/>
                                        </p:tgtEl>
                                        <p:attrNameLst>
                                          <p:attrName>ppt_y</p:attrName>
                                        </p:attrNameLst>
                                      </p:cBhvr>
                                      <p:tavLst>
                                        <p:tav tm="0">
                                          <p:val>
                                            <p:strVal val="0-#ppt_h/2"/>
                                          </p:val>
                                        </p:tav>
                                        <p:tav tm="100000">
                                          <p:val>
                                            <p:strVal val="#ppt_y"/>
                                          </p:val>
                                        </p:tav>
                                      </p:tavLst>
                                    </p:anim>
                                  </p:childTnLst>
                                </p:cTn>
                              </p:par>
                              <p:par>
                                <p:cTn id="57" presetID="2" presetClass="entr" presetSubtype="9" fill="hold" nodeType="withEffect">
                                  <p:stCondLst>
                                    <p:cond delay="0"/>
                                  </p:stCondLst>
                                  <p:childTnLst>
                                    <p:set>
                                      <p:cBhvr>
                                        <p:cTn id="58" dur="1" fill="hold">
                                          <p:stCondLst>
                                            <p:cond delay="0"/>
                                          </p:stCondLst>
                                        </p:cTn>
                                        <p:tgtEl>
                                          <p:spTgt spid="300"/>
                                        </p:tgtEl>
                                        <p:attrNameLst>
                                          <p:attrName>style.visibility</p:attrName>
                                        </p:attrNameLst>
                                      </p:cBhvr>
                                      <p:to>
                                        <p:strVal val="visible"/>
                                      </p:to>
                                    </p:set>
                                    <p:anim calcmode="lin" valueType="num">
                                      <p:cBhvr additive="base">
                                        <p:cTn id="59" dur="500" fill="hold"/>
                                        <p:tgtEl>
                                          <p:spTgt spid="300"/>
                                        </p:tgtEl>
                                        <p:attrNameLst>
                                          <p:attrName>ppt_x</p:attrName>
                                        </p:attrNameLst>
                                      </p:cBhvr>
                                      <p:tavLst>
                                        <p:tav tm="0">
                                          <p:val>
                                            <p:strVal val="0-#ppt_w/2"/>
                                          </p:val>
                                        </p:tav>
                                        <p:tav tm="100000">
                                          <p:val>
                                            <p:strVal val="#ppt_x"/>
                                          </p:val>
                                        </p:tav>
                                      </p:tavLst>
                                    </p:anim>
                                    <p:anim calcmode="lin" valueType="num">
                                      <p:cBhvr additive="base">
                                        <p:cTn id="60" dur="500" fill="hold"/>
                                        <p:tgtEl>
                                          <p:spTgt spid="300"/>
                                        </p:tgtEl>
                                        <p:attrNameLst>
                                          <p:attrName>ppt_y</p:attrName>
                                        </p:attrNameLst>
                                      </p:cBhvr>
                                      <p:tavLst>
                                        <p:tav tm="0">
                                          <p:val>
                                            <p:strVal val="0-#ppt_h/2"/>
                                          </p:val>
                                        </p:tav>
                                        <p:tav tm="100000">
                                          <p:val>
                                            <p:strVal val="#ppt_y"/>
                                          </p:val>
                                        </p:tav>
                                      </p:tavLst>
                                    </p:anim>
                                  </p:childTnLst>
                                </p:cTn>
                              </p:par>
                              <p:par>
                                <p:cTn id="61" presetID="2" presetClass="entr" presetSubtype="9" fill="hold" nodeType="withEffect">
                                  <p:stCondLst>
                                    <p:cond delay="0"/>
                                  </p:stCondLst>
                                  <p:childTnLst>
                                    <p:set>
                                      <p:cBhvr>
                                        <p:cTn id="62" dur="1" fill="hold">
                                          <p:stCondLst>
                                            <p:cond delay="0"/>
                                          </p:stCondLst>
                                        </p:cTn>
                                        <p:tgtEl>
                                          <p:spTgt spid="301"/>
                                        </p:tgtEl>
                                        <p:attrNameLst>
                                          <p:attrName>style.visibility</p:attrName>
                                        </p:attrNameLst>
                                      </p:cBhvr>
                                      <p:to>
                                        <p:strVal val="visible"/>
                                      </p:to>
                                    </p:set>
                                    <p:anim calcmode="lin" valueType="num">
                                      <p:cBhvr additive="base">
                                        <p:cTn id="63" dur="500" fill="hold"/>
                                        <p:tgtEl>
                                          <p:spTgt spid="301"/>
                                        </p:tgtEl>
                                        <p:attrNameLst>
                                          <p:attrName>ppt_x</p:attrName>
                                        </p:attrNameLst>
                                      </p:cBhvr>
                                      <p:tavLst>
                                        <p:tav tm="0">
                                          <p:val>
                                            <p:strVal val="0-#ppt_w/2"/>
                                          </p:val>
                                        </p:tav>
                                        <p:tav tm="100000">
                                          <p:val>
                                            <p:strVal val="#ppt_x"/>
                                          </p:val>
                                        </p:tav>
                                      </p:tavLst>
                                    </p:anim>
                                    <p:anim calcmode="lin" valueType="num">
                                      <p:cBhvr additive="base">
                                        <p:cTn id="64" dur="500" fill="hold"/>
                                        <p:tgtEl>
                                          <p:spTgt spid="301"/>
                                        </p:tgtEl>
                                        <p:attrNameLst>
                                          <p:attrName>ppt_y</p:attrName>
                                        </p:attrNameLst>
                                      </p:cBhvr>
                                      <p:tavLst>
                                        <p:tav tm="0">
                                          <p:val>
                                            <p:strVal val="0-#ppt_h/2"/>
                                          </p:val>
                                        </p:tav>
                                        <p:tav tm="100000">
                                          <p:val>
                                            <p:strVal val="#ppt_y"/>
                                          </p:val>
                                        </p:tav>
                                      </p:tavLst>
                                    </p:anim>
                                  </p:childTnLst>
                                </p:cTn>
                              </p:par>
                              <p:par>
                                <p:cTn id="65" presetID="2" presetClass="entr" presetSubtype="9" fill="hold" nodeType="withEffect">
                                  <p:stCondLst>
                                    <p:cond delay="0"/>
                                  </p:stCondLst>
                                  <p:childTnLst>
                                    <p:set>
                                      <p:cBhvr>
                                        <p:cTn id="66" dur="1" fill="hold">
                                          <p:stCondLst>
                                            <p:cond delay="0"/>
                                          </p:stCondLst>
                                        </p:cTn>
                                        <p:tgtEl>
                                          <p:spTgt spid="302"/>
                                        </p:tgtEl>
                                        <p:attrNameLst>
                                          <p:attrName>style.visibility</p:attrName>
                                        </p:attrNameLst>
                                      </p:cBhvr>
                                      <p:to>
                                        <p:strVal val="visible"/>
                                      </p:to>
                                    </p:set>
                                    <p:anim calcmode="lin" valueType="num">
                                      <p:cBhvr additive="base">
                                        <p:cTn id="67" dur="500" fill="hold"/>
                                        <p:tgtEl>
                                          <p:spTgt spid="302"/>
                                        </p:tgtEl>
                                        <p:attrNameLst>
                                          <p:attrName>ppt_x</p:attrName>
                                        </p:attrNameLst>
                                      </p:cBhvr>
                                      <p:tavLst>
                                        <p:tav tm="0">
                                          <p:val>
                                            <p:strVal val="0-#ppt_w/2"/>
                                          </p:val>
                                        </p:tav>
                                        <p:tav tm="100000">
                                          <p:val>
                                            <p:strVal val="#ppt_x"/>
                                          </p:val>
                                        </p:tav>
                                      </p:tavLst>
                                    </p:anim>
                                    <p:anim calcmode="lin" valueType="num">
                                      <p:cBhvr additive="base">
                                        <p:cTn id="68" dur="500" fill="hold"/>
                                        <p:tgtEl>
                                          <p:spTgt spid="302"/>
                                        </p:tgtEl>
                                        <p:attrNameLst>
                                          <p:attrName>ppt_y</p:attrName>
                                        </p:attrNameLst>
                                      </p:cBhvr>
                                      <p:tavLst>
                                        <p:tav tm="0">
                                          <p:val>
                                            <p:strVal val="0-#ppt_h/2"/>
                                          </p:val>
                                        </p:tav>
                                        <p:tav tm="100000">
                                          <p:val>
                                            <p:strVal val="#ppt_y"/>
                                          </p:val>
                                        </p:tav>
                                      </p:tavLst>
                                    </p:anim>
                                  </p:childTnLst>
                                </p:cTn>
                              </p:par>
                              <p:par>
                                <p:cTn id="69" presetID="2" presetClass="entr" presetSubtype="9" fill="hold" nodeType="withEffect">
                                  <p:stCondLst>
                                    <p:cond delay="0"/>
                                  </p:stCondLst>
                                  <p:childTnLst>
                                    <p:set>
                                      <p:cBhvr>
                                        <p:cTn id="70" dur="1" fill="hold">
                                          <p:stCondLst>
                                            <p:cond delay="0"/>
                                          </p:stCondLst>
                                        </p:cTn>
                                        <p:tgtEl>
                                          <p:spTgt spid="303"/>
                                        </p:tgtEl>
                                        <p:attrNameLst>
                                          <p:attrName>style.visibility</p:attrName>
                                        </p:attrNameLst>
                                      </p:cBhvr>
                                      <p:to>
                                        <p:strVal val="visible"/>
                                      </p:to>
                                    </p:set>
                                    <p:anim calcmode="lin" valueType="num">
                                      <p:cBhvr additive="base">
                                        <p:cTn id="71" dur="500" fill="hold"/>
                                        <p:tgtEl>
                                          <p:spTgt spid="303"/>
                                        </p:tgtEl>
                                        <p:attrNameLst>
                                          <p:attrName>ppt_x</p:attrName>
                                        </p:attrNameLst>
                                      </p:cBhvr>
                                      <p:tavLst>
                                        <p:tav tm="0">
                                          <p:val>
                                            <p:strVal val="0-#ppt_w/2"/>
                                          </p:val>
                                        </p:tav>
                                        <p:tav tm="100000">
                                          <p:val>
                                            <p:strVal val="#ppt_x"/>
                                          </p:val>
                                        </p:tav>
                                      </p:tavLst>
                                    </p:anim>
                                    <p:anim calcmode="lin" valueType="num">
                                      <p:cBhvr additive="base">
                                        <p:cTn id="72" dur="500" fill="hold"/>
                                        <p:tgtEl>
                                          <p:spTgt spid="303"/>
                                        </p:tgtEl>
                                        <p:attrNameLst>
                                          <p:attrName>ppt_y</p:attrName>
                                        </p:attrNameLst>
                                      </p:cBhvr>
                                      <p:tavLst>
                                        <p:tav tm="0">
                                          <p:val>
                                            <p:strVal val="0-#ppt_h/2"/>
                                          </p:val>
                                        </p:tav>
                                        <p:tav tm="100000">
                                          <p:val>
                                            <p:strVal val="#ppt_y"/>
                                          </p:val>
                                        </p:tav>
                                      </p:tavLst>
                                    </p:anim>
                                  </p:childTnLst>
                                </p:cTn>
                              </p:par>
                              <p:par>
                                <p:cTn id="73" presetID="2" presetClass="entr" presetSubtype="9" fill="hold" nodeType="withEffect">
                                  <p:stCondLst>
                                    <p:cond delay="0"/>
                                  </p:stCondLst>
                                  <p:childTnLst>
                                    <p:set>
                                      <p:cBhvr>
                                        <p:cTn id="74" dur="1" fill="hold">
                                          <p:stCondLst>
                                            <p:cond delay="0"/>
                                          </p:stCondLst>
                                        </p:cTn>
                                        <p:tgtEl>
                                          <p:spTgt spid="304"/>
                                        </p:tgtEl>
                                        <p:attrNameLst>
                                          <p:attrName>style.visibility</p:attrName>
                                        </p:attrNameLst>
                                      </p:cBhvr>
                                      <p:to>
                                        <p:strVal val="visible"/>
                                      </p:to>
                                    </p:set>
                                    <p:anim calcmode="lin" valueType="num">
                                      <p:cBhvr additive="base">
                                        <p:cTn id="75" dur="500" fill="hold"/>
                                        <p:tgtEl>
                                          <p:spTgt spid="304"/>
                                        </p:tgtEl>
                                        <p:attrNameLst>
                                          <p:attrName>ppt_x</p:attrName>
                                        </p:attrNameLst>
                                      </p:cBhvr>
                                      <p:tavLst>
                                        <p:tav tm="0">
                                          <p:val>
                                            <p:strVal val="0-#ppt_w/2"/>
                                          </p:val>
                                        </p:tav>
                                        <p:tav tm="100000">
                                          <p:val>
                                            <p:strVal val="#ppt_x"/>
                                          </p:val>
                                        </p:tav>
                                      </p:tavLst>
                                    </p:anim>
                                    <p:anim calcmode="lin" valueType="num">
                                      <p:cBhvr additive="base">
                                        <p:cTn id="76" dur="500" fill="hold"/>
                                        <p:tgtEl>
                                          <p:spTgt spid="304"/>
                                        </p:tgtEl>
                                        <p:attrNameLst>
                                          <p:attrName>ppt_y</p:attrName>
                                        </p:attrNameLst>
                                      </p:cBhvr>
                                      <p:tavLst>
                                        <p:tav tm="0">
                                          <p:val>
                                            <p:strVal val="0-#ppt_h/2"/>
                                          </p:val>
                                        </p:tav>
                                        <p:tav tm="100000">
                                          <p:val>
                                            <p:strVal val="#ppt_y"/>
                                          </p:val>
                                        </p:tav>
                                      </p:tavLst>
                                    </p:anim>
                                  </p:childTnLst>
                                </p:cTn>
                              </p:par>
                              <p:par>
                                <p:cTn id="77" presetID="2" presetClass="entr" presetSubtype="9" fill="hold" grpId="0" nodeType="withEffect">
                                  <p:stCondLst>
                                    <p:cond delay="0"/>
                                  </p:stCondLst>
                                  <p:childTnLst>
                                    <p:set>
                                      <p:cBhvr>
                                        <p:cTn id="78" dur="1" fill="hold">
                                          <p:stCondLst>
                                            <p:cond delay="0"/>
                                          </p:stCondLst>
                                        </p:cTn>
                                        <p:tgtEl>
                                          <p:spTgt spid="305"/>
                                        </p:tgtEl>
                                        <p:attrNameLst>
                                          <p:attrName>style.visibility</p:attrName>
                                        </p:attrNameLst>
                                      </p:cBhvr>
                                      <p:to>
                                        <p:strVal val="visible"/>
                                      </p:to>
                                    </p:set>
                                    <p:anim calcmode="lin" valueType="num">
                                      <p:cBhvr additive="base">
                                        <p:cTn id="79" dur="500" fill="hold"/>
                                        <p:tgtEl>
                                          <p:spTgt spid="305"/>
                                        </p:tgtEl>
                                        <p:attrNameLst>
                                          <p:attrName>ppt_x</p:attrName>
                                        </p:attrNameLst>
                                      </p:cBhvr>
                                      <p:tavLst>
                                        <p:tav tm="0">
                                          <p:val>
                                            <p:strVal val="0-#ppt_w/2"/>
                                          </p:val>
                                        </p:tav>
                                        <p:tav tm="100000">
                                          <p:val>
                                            <p:strVal val="#ppt_x"/>
                                          </p:val>
                                        </p:tav>
                                      </p:tavLst>
                                    </p:anim>
                                    <p:anim calcmode="lin" valueType="num">
                                      <p:cBhvr additive="base">
                                        <p:cTn id="80" dur="500" fill="hold"/>
                                        <p:tgtEl>
                                          <p:spTgt spid="30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8" grpId="0"/>
      <p:bldP spid="289" grpId="0"/>
      <p:bldP spid="290" grpId="0"/>
      <p:bldP spid="291" grpId="0"/>
      <p:bldP spid="292" grpId="0"/>
      <p:bldP spid="293" grpId="0"/>
      <p:bldP spid="294" grpId="0"/>
      <p:bldP spid="295" grpId="0"/>
      <p:bldP spid="296" grpId="0"/>
      <p:bldP spid="305"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09"/>
        <p:cNvGrpSpPr/>
        <p:nvPr/>
      </p:nvGrpSpPr>
      <p:grpSpPr>
        <a:xfrm>
          <a:off x="0" y="0"/>
          <a:ext cx="0" cy="0"/>
          <a:chOff x="0" y="0"/>
          <a:chExt cx="0" cy="0"/>
        </a:xfrm>
      </p:grpSpPr>
      <p:pic>
        <p:nvPicPr>
          <p:cNvPr id="310" name="Google Shape;310;p27"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320" name="Google Shape;320;p27"/>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smtClean="0">
                <a:solidFill>
                  <a:srgbClr val="0D3B66"/>
                </a:solidFill>
                <a:latin typeface="Merriweather"/>
                <a:ea typeface="Merriweather"/>
                <a:cs typeface="Merriweather"/>
                <a:sym typeface="Merriweather"/>
              </a:rPr>
              <a:t>5.2_Transponder </a:t>
            </a:r>
            <a:r>
              <a:rPr lang="en-US" sz="3000" b="1" i="0" u="none" strike="noStrike" cap="none" dirty="0">
                <a:solidFill>
                  <a:srgbClr val="0D3B66"/>
                </a:solidFill>
                <a:latin typeface="Merriweather"/>
                <a:ea typeface="Merriweather"/>
                <a:cs typeface="Merriweather"/>
                <a:sym typeface="Merriweather"/>
              </a:rPr>
              <a:t>Architecture :</a:t>
            </a:r>
            <a:endParaRPr dirty="0"/>
          </a:p>
        </p:txBody>
      </p:sp>
      <p:pic>
        <p:nvPicPr>
          <p:cNvPr id="13" name="Picture 12"/>
          <p:cNvPicPr>
            <a:picLocks noChangeAspect="1"/>
          </p:cNvPicPr>
          <p:nvPr/>
        </p:nvPicPr>
        <p:blipFill rotWithShape="1">
          <a:blip r:embed="rId2"/>
          <a:srcRect l="11154" t="38091" r="38205" b="1282"/>
          <a:stretch>
            <a:fillRect/>
          </a:stretch>
        </p:blipFill>
        <p:spPr>
          <a:xfrm>
            <a:off x="2704731" y="1403788"/>
            <a:ext cx="6926949" cy="4664731"/>
          </a:xfrm>
          <a:prstGeom prst="rect">
            <a:avLst/>
          </a:prstGeom>
          <a:ln w="38100" cap="sq">
            <a:solidFill>
              <a:srgbClr val="000000"/>
            </a:solidFill>
            <a:prstDash val="solid"/>
            <a:miter lim="800000"/>
            <a:headEnd/>
            <a:tailEnd/>
          </a:ln>
          <a:effectLst>
            <a:outerShdw blurRad="50800" dist="38100" dir="2700000" algn="tl" rotWithShape="0">
              <a:srgbClr val="000000">
                <a:alpha val="43000"/>
              </a:srgbClr>
            </a:outerShdw>
          </a:effectLst>
        </p:spPr>
      </p:pic>
      <p:sp>
        <p:nvSpPr>
          <p:cNvPr id="14" name="TextBox 13"/>
          <p:cNvSpPr txBox="1"/>
          <p:nvPr/>
        </p:nvSpPr>
        <p:spPr>
          <a:xfrm>
            <a:off x="5070763" y="6232651"/>
            <a:ext cx="1534160" cy="461217"/>
          </a:xfrm>
          <a:prstGeom prst="rect">
            <a:avLst/>
          </a:prstGeom>
          <a:noFill/>
        </p:spPr>
        <p:txBody>
          <a:bodyPr wrap="square" rtlCol="0">
            <a:spAutoFit/>
          </a:bodyPr>
          <a:lstStyle/>
          <a:p>
            <a:pPr algn="ctr"/>
            <a:r>
              <a:rPr lang="en-GB" sz="2395" dirty="0">
                <a:latin typeface="Arabic Typesetting" panose="03020402040406030203" pitchFamily="66" charset="-78"/>
                <a:cs typeface="Arabic Typesetting" panose="03020402040406030203" pitchFamily="66" charset="-78"/>
              </a:rPr>
              <a:t>Form</a:t>
            </a:r>
            <a:r>
              <a:rPr lang="ar-SA" sz="2395" dirty="0">
                <a:latin typeface="Arabic Typesetting" panose="03020402040406030203" pitchFamily="66" charset="-78"/>
                <a:cs typeface="Arabic Typesetting" panose="03020402040406030203" pitchFamily="66" charset="-78"/>
              </a:rPr>
              <a:t> </a:t>
            </a:r>
            <a:r>
              <a:rPr lang="en-GB" sz="2395" dirty="0">
                <a:latin typeface="Arabic Typesetting" panose="03020402040406030203" pitchFamily="66" charset="-78"/>
                <a:cs typeface="Arabic Typesetting" panose="03020402040406030203" pitchFamily="66" charset="-78"/>
              </a:rPr>
              <a:t>1-3.2</a:t>
            </a:r>
            <a:endParaRPr lang="en-GB" sz="2395" dirty="0">
              <a:latin typeface="Arabic Typesetting" panose="03020402040406030203" pitchFamily="66" charset="-78"/>
              <a:cs typeface="Arabic Typesetting" panose="03020402040406030203" pitchFamily="66" charset="-78"/>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250" advTm="2653">
        <p14:switch dir="r"/>
      </p:transition>
    </mc:Choice>
    <mc:Fallback>
      <p:transition spd="slow" advTm="2653">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4)">
                                      <p:cBhvr>
                                        <p:cTn id="7"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0"/>
            <a:ext cx="12193057" cy="6858594"/>
          </a:xfrm>
          <a:prstGeom prst="rect">
            <a:avLst/>
          </a:prstGeom>
        </p:spPr>
      </p:pic>
      <p:sp>
        <p:nvSpPr>
          <p:cNvPr id="6" name="TextBox 5"/>
          <p:cNvSpPr txBox="1"/>
          <p:nvPr/>
        </p:nvSpPr>
        <p:spPr>
          <a:xfrm>
            <a:off x="580504" y="460997"/>
            <a:ext cx="11032045" cy="1015663"/>
          </a:xfrm>
          <a:prstGeom prst="rect">
            <a:avLst/>
          </a:prstGeom>
          <a:noFill/>
        </p:spPr>
        <p:txBody>
          <a:bodyPr wrap="square" rtlCol="0">
            <a:spAutoFit/>
          </a:bodyPr>
          <a:lstStyle/>
          <a:p>
            <a:r>
              <a:rPr lang="en-GB" sz="3000" b="1" dirty="0">
                <a:solidFill>
                  <a:srgbClr val="0A3B66"/>
                </a:solidFill>
                <a:latin typeface="Merriweather" charset="0"/>
                <a:ea typeface="Merriweather" charset="0"/>
                <a:cs typeface="Merriweather" charset="0"/>
              </a:rPr>
              <a:t>7_Types of digital modulation techniques used in satellites</a:t>
            </a:r>
            <a:endParaRPr lang="en-GB" sz="3000" b="1" dirty="0">
              <a:solidFill>
                <a:srgbClr val="0A3B66"/>
              </a:solidFill>
              <a:latin typeface="Merriweather" charset="0"/>
              <a:ea typeface="Merriweather" charset="0"/>
              <a:cs typeface="Merriweather" charset="0"/>
            </a:endParaRPr>
          </a:p>
        </p:txBody>
      </p:sp>
      <p:sp>
        <p:nvSpPr>
          <p:cNvPr id="8" name="Text Placeholder 7"/>
          <p:cNvSpPr>
            <a:spLocks noGrp="1"/>
          </p:cNvSpPr>
          <p:nvPr>
            <p:ph type="body" idx="1"/>
          </p:nvPr>
        </p:nvSpPr>
        <p:spPr>
          <a:xfrm>
            <a:off x="261258" y="1937657"/>
            <a:ext cx="5316614" cy="4525963"/>
          </a:xfrm>
        </p:spPr>
        <p:txBody>
          <a:bodyPr>
            <a:normAutofit/>
          </a:bodyPr>
          <a:lstStyle/>
          <a:p>
            <a:pPr marL="50800" indent="0">
              <a:buNone/>
            </a:pPr>
            <a:r>
              <a:rPr lang="en-GB" sz="2400" dirty="0">
                <a:solidFill>
                  <a:schemeClr val="tx1"/>
                </a:solidFill>
                <a:latin typeface="DM Sans" charset="0"/>
              </a:rPr>
              <a:t>BPSK (Binary Phase Shift Keying</a:t>
            </a:r>
            <a:r>
              <a:rPr lang="en-GB" sz="2400" dirty="0" smtClean="0">
                <a:solidFill>
                  <a:schemeClr val="tx1"/>
                </a:solidFill>
                <a:latin typeface="DM Sans" charset="0"/>
              </a:rPr>
              <a:t>).</a:t>
            </a:r>
            <a:endParaRPr lang="en-GB" sz="2400" dirty="0" smtClean="0">
              <a:solidFill>
                <a:schemeClr val="tx1"/>
              </a:solidFill>
              <a:latin typeface="DM Sans" charset="0"/>
            </a:endParaRPr>
          </a:p>
          <a:p>
            <a:pPr marL="50800" indent="0">
              <a:buNone/>
            </a:pPr>
            <a:endParaRPr lang="en-GB" sz="2400" dirty="0">
              <a:solidFill>
                <a:schemeClr val="tx1"/>
              </a:solidFill>
              <a:latin typeface="DM Sans" charset="0"/>
            </a:endParaRPr>
          </a:p>
          <a:p>
            <a:pPr marL="50800" indent="0">
              <a:buNone/>
            </a:pPr>
            <a:r>
              <a:rPr lang="en-GB" sz="2400" dirty="0" smtClean="0">
                <a:solidFill>
                  <a:schemeClr val="tx1"/>
                </a:solidFill>
                <a:latin typeface="DM Sans" charset="0"/>
              </a:rPr>
              <a:t>QPSK </a:t>
            </a:r>
            <a:r>
              <a:rPr lang="en-GB" sz="2400" dirty="0">
                <a:solidFill>
                  <a:schemeClr val="tx1"/>
                </a:solidFill>
                <a:latin typeface="DM Sans" charset="0"/>
              </a:rPr>
              <a:t>(Quadrature Phase Shift Keying</a:t>
            </a:r>
            <a:r>
              <a:rPr lang="en-GB" sz="2400" dirty="0" smtClean="0">
                <a:solidFill>
                  <a:schemeClr val="tx1"/>
                </a:solidFill>
                <a:latin typeface="DM Sans" charset="0"/>
              </a:rPr>
              <a:t>).</a:t>
            </a:r>
            <a:endParaRPr lang="en-GB" sz="2400" dirty="0">
              <a:solidFill>
                <a:schemeClr val="tx1"/>
              </a:solidFill>
              <a:latin typeface="DM Sans" charset="0"/>
            </a:endParaRPr>
          </a:p>
          <a:p>
            <a:pPr marL="50800" indent="0">
              <a:buNone/>
            </a:pPr>
            <a:endParaRPr lang="en-GB" sz="2400" dirty="0" smtClean="0">
              <a:solidFill>
                <a:schemeClr val="tx1"/>
              </a:solidFill>
              <a:latin typeface="DM Sans" charset="0"/>
            </a:endParaRPr>
          </a:p>
          <a:p>
            <a:pPr marL="50800" indent="0">
              <a:buNone/>
            </a:pPr>
            <a:r>
              <a:rPr lang="en-GB" sz="2400" dirty="0" smtClean="0">
                <a:solidFill>
                  <a:schemeClr val="tx1"/>
                </a:solidFill>
                <a:latin typeface="DM Sans" charset="0"/>
              </a:rPr>
              <a:t>8PSK </a:t>
            </a:r>
            <a:r>
              <a:rPr lang="en-GB" sz="2400" dirty="0">
                <a:solidFill>
                  <a:schemeClr val="tx1"/>
                </a:solidFill>
                <a:latin typeface="DM Sans" charset="0"/>
              </a:rPr>
              <a:t>(8-Phase Shift Keying</a:t>
            </a:r>
            <a:r>
              <a:rPr lang="en-GB" sz="2400" dirty="0" smtClean="0">
                <a:solidFill>
                  <a:schemeClr val="tx1"/>
                </a:solidFill>
                <a:latin typeface="DM Sans" charset="0"/>
              </a:rPr>
              <a:t>).</a:t>
            </a:r>
            <a:endParaRPr lang="en-GB" sz="2400" dirty="0">
              <a:solidFill>
                <a:schemeClr val="tx1"/>
              </a:solidFill>
              <a:latin typeface="DM Sans" charset="0"/>
            </a:endParaRPr>
          </a:p>
          <a:p>
            <a:pPr marL="50800" indent="0">
              <a:buNone/>
            </a:pPr>
            <a:endParaRPr lang="en-GB" sz="2400" dirty="0" smtClean="0">
              <a:solidFill>
                <a:schemeClr val="tx1"/>
              </a:solidFill>
              <a:latin typeface="DM Sans" charset="0"/>
            </a:endParaRPr>
          </a:p>
          <a:p>
            <a:pPr marL="50800" indent="0">
              <a:buNone/>
            </a:pPr>
            <a:r>
              <a:rPr lang="en-GB" sz="2400" dirty="0" smtClean="0">
                <a:solidFill>
                  <a:schemeClr val="tx1"/>
                </a:solidFill>
                <a:latin typeface="DM Sans" charset="0"/>
              </a:rPr>
              <a:t>FSK </a:t>
            </a:r>
            <a:r>
              <a:rPr lang="en-GB" sz="2400" dirty="0">
                <a:solidFill>
                  <a:schemeClr val="tx1"/>
                </a:solidFill>
                <a:latin typeface="DM Sans" charset="0"/>
              </a:rPr>
              <a:t>(Frequency Shift Keying</a:t>
            </a:r>
            <a:r>
              <a:rPr lang="en-GB" sz="2400" dirty="0" smtClean="0">
                <a:solidFill>
                  <a:schemeClr val="tx1"/>
                </a:solidFill>
                <a:latin typeface="DM Sans" charset="0"/>
              </a:rPr>
              <a:t>).</a:t>
            </a:r>
            <a:endParaRPr lang="en-GB" sz="2400" dirty="0">
              <a:solidFill>
                <a:schemeClr val="tx1"/>
              </a:solidFill>
              <a:latin typeface="DM Sans" charset="0"/>
            </a:endParaRPr>
          </a:p>
        </p:txBody>
      </p:sp>
      <p:sp>
        <p:nvSpPr>
          <p:cNvPr id="9" name="Text Placeholder 8"/>
          <p:cNvSpPr>
            <a:spLocks noGrp="1"/>
          </p:cNvSpPr>
          <p:nvPr>
            <p:ph type="body" idx="2"/>
          </p:nvPr>
        </p:nvSpPr>
        <p:spPr>
          <a:xfrm>
            <a:off x="5577871" y="1937657"/>
            <a:ext cx="6254899" cy="4525963"/>
          </a:xfrm>
        </p:spPr>
        <p:txBody>
          <a:bodyPr>
            <a:normAutofit lnSpcReduction="10000"/>
          </a:bodyPr>
          <a:lstStyle/>
          <a:p>
            <a:pPr marL="50800" indent="0">
              <a:buNone/>
            </a:pPr>
            <a:r>
              <a:rPr lang="en-GB" dirty="0">
                <a:solidFill>
                  <a:schemeClr val="tx1"/>
                </a:solidFill>
                <a:latin typeface="DM Sans" charset="0"/>
              </a:rPr>
              <a:t>QAM (Quadrature Amplitude Modulation</a:t>
            </a:r>
            <a:r>
              <a:rPr lang="en-GB" dirty="0" smtClean="0">
                <a:solidFill>
                  <a:schemeClr val="tx1"/>
                </a:solidFill>
                <a:latin typeface="DM Sans" charset="0"/>
              </a:rPr>
              <a:t>).</a:t>
            </a:r>
            <a:endParaRPr lang="en-GB" dirty="0" smtClean="0">
              <a:solidFill>
                <a:schemeClr val="tx1"/>
              </a:solidFill>
              <a:latin typeface="DM Sans" charset="0"/>
            </a:endParaRPr>
          </a:p>
          <a:p>
            <a:pPr marL="50800" indent="0">
              <a:buNone/>
            </a:pPr>
            <a:endParaRPr lang="en-GB" dirty="0">
              <a:solidFill>
                <a:schemeClr val="tx1"/>
              </a:solidFill>
              <a:latin typeface="DM Sans" charset="0"/>
            </a:endParaRPr>
          </a:p>
          <a:p>
            <a:pPr marL="50800" indent="0">
              <a:buNone/>
            </a:pPr>
            <a:r>
              <a:rPr lang="en-GB" dirty="0" smtClean="0">
                <a:solidFill>
                  <a:schemeClr val="tx1"/>
                </a:solidFill>
                <a:latin typeface="DM Sans" charset="0"/>
              </a:rPr>
              <a:t>16-QAM</a:t>
            </a:r>
            <a:endParaRPr lang="en-GB" dirty="0" smtClean="0">
              <a:solidFill>
                <a:schemeClr val="tx1"/>
              </a:solidFill>
              <a:latin typeface="DM Sans" charset="0"/>
            </a:endParaRPr>
          </a:p>
          <a:p>
            <a:pPr marL="50800" indent="0">
              <a:buNone/>
            </a:pPr>
            <a:endParaRPr lang="en-GB" dirty="0">
              <a:solidFill>
                <a:schemeClr val="tx1"/>
              </a:solidFill>
              <a:latin typeface="DM Sans" charset="0"/>
            </a:endParaRPr>
          </a:p>
          <a:p>
            <a:pPr marL="50800" indent="0">
              <a:buNone/>
            </a:pPr>
            <a:r>
              <a:rPr lang="en-GB" dirty="0" smtClean="0">
                <a:solidFill>
                  <a:schemeClr val="tx1"/>
                </a:solidFill>
                <a:latin typeface="DM Sans" charset="0"/>
              </a:rPr>
              <a:t>64-QAM</a:t>
            </a:r>
            <a:endParaRPr lang="en-GB" dirty="0" smtClean="0">
              <a:solidFill>
                <a:schemeClr val="tx1"/>
              </a:solidFill>
              <a:latin typeface="DM Sans" charset="0"/>
            </a:endParaRPr>
          </a:p>
          <a:p>
            <a:pPr marL="50800" indent="0">
              <a:buNone/>
            </a:pPr>
            <a:endParaRPr lang="en-GB" dirty="0">
              <a:solidFill>
                <a:schemeClr val="tx1"/>
              </a:solidFill>
              <a:latin typeface="DM Sans" charset="0"/>
            </a:endParaRPr>
          </a:p>
          <a:p>
            <a:pPr marL="50800" indent="0">
              <a:buNone/>
            </a:pPr>
            <a:r>
              <a:rPr lang="en-GB" dirty="0">
                <a:solidFill>
                  <a:schemeClr val="tx1"/>
                </a:solidFill>
                <a:latin typeface="DM Sans" charset="0"/>
              </a:rPr>
              <a:t>256QAM</a:t>
            </a:r>
            <a:endParaRPr lang="en-GB" dirty="0">
              <a:solidFill>
                <a:schemeClr val="tx1"/>
              </a:solidFill>
              <a:latin typeface="DM Sans"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 calcmode="lin" valueType="num">
                                      <p:cBhvr additive="base">
                                        <p:cTn id="25" dur="500" fill="hold"/>
                                        <p:tgtEl>
                                          <p:spTgt spid="8">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anim calcmode="lin" valueType="num">
                                      <p:cBhvr additive="base">
                                        <p:cTn id="31" dur="500" fill="hold"/>
                                        <p:tgtEl>
                                          <p:spTgt spid="8">
                                            <p:txEl>
                                              <p:pRg st="6" end="6"/>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9">
                                            <p:txEl>
                                              <p:pRg st="0" end="0"/>
                                            </p:txEl>
                                          </p:spTgt>
                                        </p:tgtEl>
                                        <p:attrNameLst>
                                          <p:attrName>style.visibility</p:attrName>
                                        </p:attrNameLst>
                                      </p:cBhvr>
                                      <p:to>
                                        <p:strVal val="visible"/>
                                      </p:to>
                                    </p:set>
                                    <p:anim calcmode="lin" valueType="num">
                                      <p:cBhvr additive="base">
                                        <p:cTn id="37" dur="50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9">
                                            <p:txEl>
                                              <p:pRg st="2" end="2"/>
                                            </p:txEl>
                                          </p:spTgt>
                                        </p:tgtEl>
                                        <p:attrNameLst>
                                          <p:attrName>style.visibility</p:attrName>
                                        </p:attrNameLst>
                                      </p:cBhvr>
                                      <p:to>
                                        <p:strVal val="visible"/>
                                      </p:to>
                                    </p:set>
                                    <p:anim calcmode="lin" valueType="num">
                                      <p:cBhvr additive="base">
                                        <p:cTn id="43" dur="500" fill="hold"/>
                                        <p:tgtEl>
                                          <p:spTgt spid="9">
                                            <p:txEl>
                                              <p:pRg st="2" end="2"/>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9">
                                            <p:txEl>
                                              <p:pRg st="4" end="4"/>
                                            </p:txEl>
                                          </p:spTgt>
                                        </p:tgtEl>
                                        <p:attrNameLst>
                                          <p:attrName>style.visibility</p:attrName>
                                        </p:attrNameLst>
                                      </p:cBhvr>
                                      <p:to>
                                        <p:strVal val="visible"/>
                                      </p:to>
                                    </p:set>
                                    <p:anim calcmode="lin" valueType="num">
                                      <p:cBhvr additive="base">
                                        <p:cTn id="49" dur="500" fill="hold"/>
                                        <p:tgtEl>
                                          <p:spTgt spid="9">
                                            <p:txEl>
                                              <p:pRg st="4" end="4"/>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9">
                                            <p:txEl>
                                              <p:pRg st="6" end="6"/>
                                            </p:txEl>
                                          </p:spTgt>
                                        </p:tgtEl>
                                        <p:attrNameLst>
                                          <p:attrName>style.visibility</p:attrName>
                                        </p:attrNameLst>
                                      </p:cBhvr>
                                      <p:to>
                                        <p:strVal val="visible"/>
                                      </p:to>
                                    </p:set>
                                    <p:anim calcmode="lin" valueType="num">
                                      <p:cBhvr additive="base">
                                        <p:cTn id="55" dur="500" fill="hold"/>
                                        <p:tgtEl>
                                          <p:spTgt spid="9">
                                            <p:txEl>
                                              <p:pRg st="6" end="6"/>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build="p"/>
      <p:bldP spid="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529" y="-297"/>
            <a:ext cx="12193057" cy="6858594"/>
          </a:xfrm>
          <a:prstGeom prst="rect">
            <a:avLst/>
          </a:prstGeom>
        </p:spPr>
      </p:pic>
      <p:sp>
        <p:nvSpPr>
          <p:cNvPr id="5" name="TextBox 4"/>
          <p:cNvSpPr txBox="1"/>
          <p:nvPr/>
        </p:nvSpPr>
        <p:spPr>
          <a:xfrm>
            <a:off x="757381" y="479914"/>
            <a:ext cx="5874327" cy="553998"/>
          </a:xfrm>
          <a:prstGeom prst="rect">
            <a:avLst/>
          </a:prstGeom>
          <a:noFill/>
        </p:spPr>
        <p:txBody>
          <a:bodyPr wrap="square" rtlCol="0">
            <a:spAutoFit/>
          </a:bodyPr>
          <a:lstStyle/>
          <a:p>
            <a:r>
              <a:rPr lang="en-US" sz="3000" b="1" dirty="0" smtClean="0">
                <a:solidFill>
                  <a:srgbClr val="0A3B66"/>
                </a:solidFill>
                <a:latin typeface="Merriweather" charset="0"/>
                <a:ea typeface="Merriweather" charset="0"/>
              </a:rPr>
              <a:t>8</a:t>
            </a:r>
            <a:r>
              <a:rPr lang="en-US" sz="3000" b="1" dirty="0" smtClean="0">
                <a:solidFill>
                  <a:srgbClr val="0A3B66"/>
                </a:solidFill>
                <a:latin typeface="Merriweather" charset="0"/>
                <a:ea typeface="Merriweather" charset="0"/>
                <a:cs typeface="Merriweather" charset="0"/>
              </a:rPr>
              <a:t>_Basic </a:t>
            </a:r>
            <a:r>
              <a:rPr lang="en-US" sz="3000" b="1" dirty="0">
                <a:solidFill>
                  <a:srgbClr val="0A3B66"/>
                </a:solidFill>
                <a:latin typeface="Merriweather" charset="0"/>
                <a:ea typeface="Merriweather" charset="0"/>
                <a:cs typeface="Merriweather" charset="0"/>
              </a:rPr>
              <a:t>I/Q representation</a:t>
            </a:r>
            <a:endParaRPr lang="en-GB" sz="3000" b="1" dirty="0">
              <a:solidFill>
                <a:srgbClr val="0A3B66"/>
              </a:solidFill>
              <a:latin typeface="Merriweather" charset="0"/>
              <a:ea typeface="Merriweather" charset="0"/>
              <a:cs typeface="Merriweather" charset="0"/>
            </a:endParaRPr>
          </a:p>
        </p:txBody>
      </p:sp>
      <p:sp>
        <p:nvSpPr>
          <p:cNvPr id="3" name="TextBox 2"/>
          <p:cNvSpPr txBox="1"/>
          <p:nvPr/>
        </p:nvSpPr>
        <p:spPr>
          <a:xfrm>
            <a:off x="535709" y="1514123"/>
            <a:ext cx="10649527" cy="1938992"/>
          </a:xfrm>
          <a:prstGeom prst="rect">
            <a:avLst/>
          </a:prstGeom>
          <a:noFill/>
        </p:spPr>
        <p:txBody>
          <a:bodyPr wrap="square" rtlCol="0">
            <a:spAutoFit/>
          </a:bodyPr>
          <a:lstStyle/>
          <a:p>
            <a:r>
              <a:rPr lang="en-GB" sz="2400" dirty="0"/>
              <a:t>The concept of I/Q (In-phase and Quadrature) representation is used as a basis for signal representation and efficient data transmission. This representation allows data to be transmitted at double the rate using limited bandwidth, making it the cornerstone of most digital wireless communications systems such as Wi-Fi, mobile phones, and digital broadcasting systems.</a:t>
            </a:r>
            <a:endParaRPr lang="en-GB" sz="2400" dirty="0"/>
          </a:p>
        </p:txBody>
      </p:sp>
      <p:sp>
        <p:nvSpPr>
          <p:cNvPr id="6" name="TextBox 5"/>
          <p:cNvSpPr txBox="1"/>
          <p:nvPr/>
        </p:nvSpPr>
        <p:spPr>
          <a:xfrm>
            <a:off x="840509" y="3842327"/>
            <a:ext cx="9818255" cy="2031325"/>
          </a:xfrm>
          <a:prstGeom prst="rect">
            <a:avLst/>
          </a:prstGeom>
          <a:noFill/>
        </p:spPr>
        <p:txBody>
          <a:bodyPr wrap="square" rtlCol="0">
            <a:spAutoFit/>
          </a:bodyPr>
          <a:lstStyle/>
          <a:p>
            <a:r>
              <a:rPr lang="en-US" sz="3200" dirty="0" smtClean="0">
                <a:solidFill>
                  <a:srgbClr val="0A3B66"/>
                </a:solidFill>
                <a:latin typeface="DM Sans" charset="0"/>
                <a:ea typeface="Merriweather" charset="0"/>
              </a:rPr>
              <a:t>8.1</a:t>
            </a:r>
            <a:r>
              <a:rPr lang="en-US" sz="3200" dirty="0" smtClean="0">
                <a:solidFill>
                  <a:srgbClr val="0A3B66"/>
                </a:solidFill>
                <a:latin typeface="DM Sans" charset="0"/>
                <a:ea typeface="Merriweather" charset="0"/>
                <a:cs typeface="Merriweather" charset="0"/>
              </a:rPr>
              <a:t>_</a:t>
            </a:r>
            <a:r>
              <a:rPr lang="en-GB" sz="3200" dirty="0" smtClean="0">
                <a:solidFill>
                  <a:srgbClr val="0A3B66"/>
                </a:solidFill>
                <a:latin typeface="DM Sans" charset="0"/>
                <a:ea typeface="Merriweather" charset="0"/>
                <a:cs typeface="Merriweather" charset="0"/>
              </a:rPr>
              <a:t>Mathematical basis:</a:t>
            </a:r>
            <a:endParaRPr lang="en-GB" sz="1600" dirty="0" smtClean="0">
              <a:solidFill>
                <a:srgbClr val="0A3B66"/>
              </a:solidFill>
              <a:latin typeface="DM Sans" charset="0"/>
              <a:ea typeface="Merriweather" charset="0"/>
              <a:cs typeface="Merriweather" charset="0"/>
            </a:endParaRPr>
          </a:p>
          <a:p>
            <a:endParaRPr lang="en-GB" dirty="0" smtClean="0">
              <a:solidFill>
                <a:schemeClr val="tx1"/>
              </a:solidFill>
              <a:latin typeface="DM Sans" charset="0"/>
              <a:ea typeface="Merriweather" charset="0"/>
              <a:cs typeface="Merriweather" charset="0"/>
            </a:endParaRPr>
          </a:p>
          <a:p>
            <a:r>
              <a:rPr lang="en-GB" sz="2400" dirty="0">
                <a:solidFill>
                  <a:schemeClr val="tx1"/>
                </a:solidFill>
                <a:latin typeface="DM Sans" charset="0"/>
                <a:ea typeface="Merriweather" charset="0"/>
                <a:cs typeface="Merriweather" charset="0"/>
              </a:rPr>
              <a:t>Representing the signal using the two orthogonal components I (in phase) and Q (in quadrature) depends on the cardinality</a:t>
            </a:r>
            <a:endParaRPr lang="en-GB" sz="2400" dirty="0" smtClean="0">
              <a:solidFill>
                <a:schemeClr val="tx1"/>
              </a:solidFill>
              <a:latin typeface="DM Sans" charset="0"/>
              <a:ea typeface="Merriweather" charset="0"/>
              <a:cs typeface="Merriweather" charset="0"/>
            </a:endParaRPr>
          </a:p>
          <a:p>
            <a:r>
              <a:rPr lang="en-US" sz="3200" dirty="0" smtClean="0">
                <a:solidFill>
                  <a:srgbClr val="0A3B66"/>
                </a:solidFill>
                <a:latin typeface="DM Sans" charset="0"/>
                <a:ea typeface="Merriweather" charset="0"/>
                <a:cs typeface="Merriweather" charset="0"/>
              </a:rPr>
              <a:t>	</a:t>
            </a:r>
            <a:r>
              <a:rPr lang="fr-FR" sz="3200" dirty="0">
                <a:solidFill>
                  <a:srgbClr val="A01D2E"/>
                </a:solidFill>
                <a:latin typeface="DM Sans" charset="0"/>
                <a:ea typeface="Merriweather" charset="0"/>
                <a:cs typeface="Merriweather" charset="0"/>
              </a:rPr>
              <a:t>s(t) = I(t)·cos(2π</a:t>
            </a:r>
            <a:r>
              <a:rPr lang="fr-FR" sz="3200" dirty="0" err="1">
                <a:solidFill>
                  <a:srgbClr val="A01D2E"/>
                </a:solidFill>
                <a:latin typeface="DM Sans" charset="0"/>
                <a:ea typeface="Merriweather" charset="0"/>
                <a:cs typeface="Merriweather" charset="0"/>
              </a:rPr>
              <a:t>f₀t</a:t>
            </a:r>
            <a:r>
              <a:rPr lang="fr-FR" sz="3200" dirty="0">
                <a:solidFill>
                  <a:srgbClr val="A01D2E"/>
                </a:solidFill>
                <a:latin typeface="DM Sans" charset="0"/>
                <a:ea typeface="Merriweather" charset="0"/>
                <a:cs typeface="Merriweather" charset="0"/>
              </a:rPr>
              <a:t>) - Q(t)·sin(2π</a:t>
            </a:r>
            <a:r>
              <a:rPr lang="fr-FR" sz="3200" dirty="0" err="1">
                <a:solidFill>
                  <a:srgbClr val="A01D2E"/>
                </a:solidFill>
                <a:latin typeface="DM Sans" charset="0"/>
                <a:ea typeface="Merriweather" charset="0"/>
                <a:cs typeface="Merriweather" charset="0"/>
              </a:rPr>
              <a:t>f₀t</a:t>
            </a:r>
            <a:r>
              <a:rPr lang="fr-FR" sz="3200" dirty="0">
                <a:solidFill>
                  <a:srgbClr val="A01D2E"/>
                </a:solidFill>
                <a:latin typeface="DM Sans" charset="0"/>
                <a:ea typeface="Merriweather" charset="0"/>
                <a:cs typeface="Merriweather" charset="0"/>
              </a:rPr>
              <a:t>)</a:t>
            </a:r>
            <a:endParaRPr lang="en-GB" sz="3200" dirty="0">
              <a:solidFill>
                <a:srgbClr val="A01D2E"/>
              </a:solidFill>
              <a:latin typeface="DM Sans" charset="0"/>
              <a:ea typeface="Merriweather" charset="0"/>
              <a:cs typeface="Merriweather"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1057" y="-594"/>
            <a:ext cx="12193057" cy="6858594"/>
          </a:xfrm>
          <a:prstGeom prst="rect">
            <a:avLst/>
          </a:prstGeom>
        </p:spPr>
      </p:pic>
      <p:sp>
        <p:nvSpPr>
          <p:cNvPr id="3" name="Text Placeholder 2"/>
          <p:cNvSpPr>
            <a:spLocks noGrp="1"/>
          </p:cNvSpPr>
          <p:nvPr>
            <p:ph type="body" idx="1"/>
          </p:nvPr>
        </p:nvSpPr>
        <p:spPr>
          <a:xfrm>
            <a:off x="397164" y="1046018"/>
            <a:ext cx="5107709" cy="4525963"/>
          </a:xfrm>
        </p:spPr>
        <p:txBody>
          <a:bodyPr>
            <a:normAutofit/>
          </a:bodyPr>
          <a:lstStyle/>
          <a:p>
            <a:pPr marL="50800" indent="0">
              <a:buNone/>
            </a:pPr>
            <a:r>
              <a:rPr lang="en-GB" b="1" dirty="0">
                <a:solidFill>
                  <a:srgbClr val="0A3B66"/>
                </a:solidFill>
              </a:rPr>
              <a:t>Transmission path:</a:t>
            </a:r>
            <a:endParaRPr lang="en-GB" b="1" dirty="0">
              <a:solidFill>
                <a:srgbClr val="0A3B66"/>
              </a:solidFill>
            </a:endParaRPr>
          </a:p>
          <a:p>
            <a:pPr>
              <a:buFont typeface="Wingdings" panose="05000000000000000000" pitchFamily="2" charset="2"/>
              <a:buChar char="Ø"/>
            </a:pPr>
            <a:r>
              <a:rPr lang="en-GB" dirty="0"/>
              <a:t>Divide data into </a:t>
            </a:r>
            <a:r>
              <a:rPr lang="en-GB" dirty="0" smtClean="0"/>
              <a:t>symbols.</a:t>
            </a:r>
            <a:endParaRPr lang="en-GB" dirty="0"/>
          </a:p>
          <a:p>
            <a:pPr>
              <a:buFont typeface="Wingdings" panose="05000000000000000000" pitchFamily="2" charset="2"/>
              <a:buChar char="Ø"/>
            </a:pPr>
            <a:r>
              <a:rPr lang="en-GB" dirty="0"/>
              <a:t>Convert symbols to I/Q </a:t>
            </a:r>
            <a:r>
              <a:rPr lang="en-GB" dirty="0" smtClean="0"/>
              <a:t>values.</a:t>
            </a:r>
            <a:endParaRPr lang="en-GB" dirty="0"/>
          </a:p>
          <a:p>
            <a:pPr>
              <a:buFont typeface="Wingdings" panose="05000000000000000000" pitchFamily="2" charset="2"/>
              <a:buChar char="Ø"/>
            </a:pPr>
            <a:r>
              <a:rPr lang="en-GB" dirty="0"/>
              <a:t>Pulse shaping via specialized </a:t>
            </a:r>
            <a:r>
              <a:rPr lang="en-GB" dirty="0" smtClean="0"/>
              <a:t>filters.</a:t>
            </a:r>
            <a:endParaRPr lang="en-GB" dirty="0"/>
          </a:p>
          <a:p>
            <a:pPr>
              <a:buFont typeface="Wingdings" panose="05000000000000000000" pitchFamily="2" charset="2"/>
              <a:buChar char="Ø"/>
            </a:pPr>
            <a:r>
              <a:rPr lang="en-GB" dirty="0"/>
              <a:t>Convert to radio frequency and combine the two </a:t>
            </a:r>
            <a:r>
              <a:rPr lang="en-GB" dirty="0" smtClean="0"/>
              <a:t>components.</a:t>
            </a:r>
            <a:endParaRPr lang="en-GB" dirty="0"/>
          </a:p>
        </p:txBody>
      </p:sp>
      <p:sp>
        <p:nvSpPr>
          <p:cNvPr id="5" name="Text Placeholder 4"/>
          <p:cNvSpPr>
            <a:spLocks noGrp="1"/>
          </p:cNvSpPr>
          <p:nvPr>
            <p:ph type="body" idx="2"/>
          </p:nvPr>
        </p:nvSpPr>
        <p:spPr>
          <a:xfrm>
            <a:off x="5971838" y="1046017"/>
            <a:ext cx="5753197" cy="4525963"/>
          </a:xfrm>
        </p:spPr>
        <p:txBody>
          <a:bodyPr/>
          <a:lstStyle/>
          <a:p>
            <a:pPr marL="50800" indent="0">
              <a:buNone/>
            </a:pPr>
            <a:r>
              <a:rPr lang="en-GB" b="1" dirty="0">
                <a:solidFill>
                  <a:srgbClr val="0A3B66"/>
                </a:solidFill>
              </a:rPr>
              <a:t>Receiving path</a:t>
            </a:r>
            <a:r>
              <a:rPr lang="en-GB" b="1" dirty="0" smtClean="0">
                <a:solidFill>
                  <a:srgbClr val="0A3B66"/>
                </a:solidFill>
              </a:rPr>
              <a:t>:</a:t>
            </a:r>
            <a:endParaRPr lang="en-GB" b="1" dirty="0" smtClean="0">
              <a:solidFill>
                <a:srgbClr val="0A3B66"/>
              </a:solidFill>
            </a:endParaRPr>
          </a:p>
          <a:p>
            <a:pPr>
              <a:buFont typeface="Wingdings" panose="05000000000000000000" pitchFamily="2" charset="2"/>
              <a:buChar char="Ø"/>
            </a:pPr>
            <a:r>
              <a:rPr lang="en-GB" dirty="0" smtClean="0"/>
              <a:t>Mix </a:t>
            </a:r>
            <a:r>
              <a:rPr lang="en-GB" dirty="0"/>
              <a:t>down to the fundamental </a:t>
            </a:r>
            <a:r>
              <a:rPr lang="en-GB" dirty="0" smtClean="0"/>
              <a:t>frequency.</a:t>
            </a:r>
            <a:endParaRPr lang="en-GB" dirty="0" smtClean="0"/>
          </a:p>
          <a:p>
            <a:pPr>
              <a:buFont typeface="Wingdings" panose="05000000000000000000" pitchFamily="2" charset="2"/>
              <a:buChar char="Ø"/>
            </a:pPr>
            <a:r>
              <a:rPr lang="en-GB" dirty="0" smtClean="0"/>
              <a:t>Separating </a:t>
            </a:r>
            <a:r>
              <a:rPr lang="en-GB" dirty="0"/>
              <a:t>and extracting the I/Q </a:t>
            </a:r>
            <a:r>
              <a:rPr lang="en-GB" dirty="0" smtClean="0"/>
              <a:t>components.</a:t>
            </a:r>
            <a:endParaRPr lang="en-GB" dirty="0" smtClean="0"/>
          </a:p>
          <a:p>
            <a:pPr>
              <a:buFont typeface="Wingdings" panose="05000000000000000000" pitchFamily="2" charset="2"/>
              <a:buChar char="Ø"/>
            </a:pPr>
            <a:r>
              <a:rPr lang="en-GB" dirty="0" smtClean="0"/>
              <a:t>Filter </a:t>
            </a:r>
            <a:r>
              <a:rPr lang="en-GB" dirty="0"/>
              <a:t>and </a:t>
            </a:r>
            <a:r>
              <a:rPr lang="en-GB" dirty="0" smtClean="0"/>
              <a:t>sample.</a:t>
            </a:r>
            <a:endParaRPr lang="en-GB" dirty="0" smtClean="0"/>
          </a:p>
          <a:p>
            <a:pPr>
              <a:buFont typeface="Wingdings" panose="05000000000000000000" pitchFamily="2" charset="2"/>
              <a:buChar char="Ø"/>
            </a:pPr>
            <a:r>
              <a:rPr lang="en-GB" dirty="0" smtClean="0"/>
              <a:t>Estimate </a:t>
            </a:r>
            <a:r>
              <a:rPr lang="en-GB" dirty="0"/>
              <a:t>the code and convert it to digital </a:t>
            </a:r>
            <a:r>
              <a:rPr lang="en-GB" dirty="0" smtClean="0"/>
              <a:t>data.</a:t>
            </a: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
                                            <p:txEl>
                                              <p:pRg st="0" end="0"/>
                                            </p:txEl>
                                          </p:spTgt>
                                        </p:tgtEl>
                                        <p:attrNameLst>
                                          <p:attrName>style.visibility</p:attrName>
                                        </p:attrNameLst>
                                      </p:cBhvr>
                                      <p:to>
                                        <p:strVal val="visible"/>
                                      </p:to>
                                    </p:set>
                                    <p:anim calcmode="lin" valueType="num">
                                      <p:cBhvr additive="base">
                                        <p:cTn id="3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
                                            <p:txEl>
                                              <p:pRg st="1" end="1"/>
                                            </p:txEl>
                                          </p:spTgt>
                                        </p:tgtEl>
                                        <p:attrNameLst>
                                          <p:attrName>style.visibility</p:attrName>
                                        </p:attrNameLst>
                                      </p:cBhvr>
                                      <p:to>
                                        <p:strVal val="visible"/>
                                      </p:to>
                                    </p:set>
                                    <p:anim calcmode="lin" valueType="num">
                                      <p:cBhvr additive="base">
                                        <p:cTn id="4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
                                            <p:txEl>
                                              <p:pRg st="2" end="2"/>
                                            </p:txEl>
                                          </p:spTgt>
                                        </p:tgtEl>
                                        <p:attrNameLst>
                                          <p:attrName>style.visibility</p:attrName>
                                        </p:attrNameLst>
                                      </p:cBhvr>
                                      <p:to>
                                        <p:strVal val="visible"/>
                                      </p:to>
                                    </p:set>
                                    <p:anim calcmode="lin" valueType="num">
                                      <p:cBhvr additive="base">
                                        <p:cTn id="4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
                                            <p:txEl>
                                              <p:pRg st="3" end="3"/>
                                            </p:txEl>
                                          </p:spTgt>
                                        </p:tgtEl>
                                        <p:attrNameLst>
                                          <p:attrName>style.visibility</p:attrName>
                                        </p:attrNameLst>
                                      </p:cBhvr>
                                      <p:to>
                                        <p:strVal val="visible"/>
                                      </p:to>
                                    </p:set>
                                    <p:anim calcmode="lin" valueType="num">
                                      <p:cBhvr additive="base">
                                        <p:cTn id="5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5">
                                            <p:txEl>
                                              <p:pRg st="4" end="4"/>
                                            </p:txEl>
                                          </p:spTgt>
                                        </p:tgtEl>
                                        <p:attrNameLst>
                                          <p:attrName>style.visibility</p:attrName>
                                        </p:attrNameLst>
                                      </p:cBhvr>
                                      <p:to>
                                        <p:strVal val="visible"/>
                                      </p:to>
                                    </p:set>
                                    <p:anim calcmode="lin" valueType="num">
                                      <p:cBhvr additive="base">
                                        <p:cTn id="6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529" y="-297"/>
            <a:ext cx="12193057" cy="6858594"/>
          </a:xfrm>
          <a:prstGeom prst="rect">
            <a:avLst/>
          </a:prstGeom>
        </p:spPr>
      </p:pic>
      <p:sp>
        <p:nvSpPr>
          <p:cNvPr id="2" name="Title 1"/>
          <p:cNvSpPr>
            <a:spLocks noGrp="1"/>
          </p:cNvSpPr>
          <p:nvPr>
            <p:ph type="title"/>
          </p:nvPr>
        </p:nvSpPr>
        <p:spPr>
          <a:xfrm>
            <a:off x="457200" y="274638"/>
            <a:ext cx="5343236" cy="1143000"/>
          </a:xfrm>
        </p:spPr>
        <p:txBody>
          <a:bodyPr>
            <a:noAutofit/>
          </a:bodyPr>
          <a:lstStyle/>
          <a:p>
            <a:r>
              <a:rPr lang="en-US" sz="3000" b="1" dirty="0" smtClean="0">
                <a:solidFill>
                  <a:srgbClr val="0A3B66"/>
                </a:solidFill>
                <a:latin typeface="Merriweather" charset="0"/>
                <a:ea typeface="Merriweather" charset="0"/>
              </a:rPr>
              <a:t> </a:t>
            </a:r>
            <a:r>
              <a:rPr lang="en-US" sz="3000" b="1" dirty="0">
                <a:solidFill>
                  <a:srgbClr val="0A3B66"/>
                </a:solidFill>
                <a:latin typeface="Merriweather" charset="0"/>
                <a:ea typeface="Merriweather" charset="0"/>
                <a:cs typeface="Merriweather" charset="0"/>
              </a:rPr>
              <a:t>8.2_Applications in satellite systems:</a:t>
            </a:r>
            <a:endParaRPr lang="en-GB" sz="3000" b="1" dirty="0">
              <a:solidFill>
                <a:srgbClr val="0A3B66"/>
              </a:solidFill>
              <a:latin typeface="Merriweather" charset="0"/>
              <a:ea typeface="Merriweather" charset="0"/>
              <a:cs typeface="Merriweather" charset="0"/>
            </a:endParaRPr>
          </a:p>
        </p:txBody>
      </p:sp>
      <p:sp>
        <p:nvSpPr>
          <p:cNvPr id="3" name="Text Placeholder 2"/>
          <p:cNvSpPr>
            <a:spLocks noGrp="1"/>
          </p:cNvSpPr>
          <p:nvPr>
            <p:ph type="body" idx="1"/>
          </p:nvPr>
        </p:nvSpPr>
        <p:spPr>
          <a:xfrm>
            <a:off x="457200" y="1600200"/>
            <a:ext cx="5343236" cy="4525963"/>
          </a:xfrm>
        </p:spPr>
        <p:txBody>
          <a:bodyPr>
            <a:normAutofit fontScale="92500"/>
          </a:bodyPr>
          <a:lstStyle/>
          <a:p>
            <a:pPr>
              <a:buFont typeface="Wingdings" panose="05000000000000000000" pitchFamily="2" charset="2"/>
              <a:buChar char="Ø"/>
            </a:pPr>
            <a:r>
              <a:rPr lang="en-GB" dirty="0"/>
              <a:t>Baseline Signal Processing</a:t>
            </a:r>
            <a:r>
              <a:rPr lang="en-GB" dirty="0" smtClean="0"/>
              <a:t>: </a:t>
            </a:r>
            <a:r>
              <a:rPr lang="en-GB" dirty="0"/>
              <a:t>In OBP (On-Board Processing) </a:t>
            </a:r>
            <a:r>
              <a:rPr lang="en-GB" dirty="0" smtClean="0"/>
              <a:t>modules.</a:t>
            </a:r>
            <a:endParaRPr lang="en-GB" dirty="0" smtClean="0"/>
          </a:p>
          <a:p>
            <a:pPr>
              <a:buFont typeface="Wingdings" panose="05000000000000000000" pitchFamily="2" charset="2"/>
              <a:buChar char="Ø"/>
            </a:pPr>
            <a:r>
              <a:rPr lang="en-GB" dirty="0" smtClean="0"/>
              <a:t>Digital </a:t>
            </a:r>
            <a:r>
              <a:rPr lang="en-GB" dirty="0"/>
              <a:t>broadcasting systems: such as </a:t>
            </a:r>
            <a:r>
              <a:rPr lang="en-GB" dirty="0" smtClean="0"/>
              <a:t>DVB-S2 .</a:t>
            </a:r>
            <a:endParaRPr lang="en-GB" dirty="0" smtClean="0"/>
          </a:p>
          <a:p>
            <a:pPr>
              <a:buFont typeface="Wingdings" panose="05000000000000000000" pitchFamily="2" charset="2"/>
              <a:buChar char="Ø"/>
            </a:pPr>
            <a:r>
              <a:rPr lang="en-GB" dirty="0" smtClean="0"/>
              <a:t>High-speed </a:t>
            </a:r>
            <a:r>
              <a:rPr lang="en-GB" dirty="0"/>
              <a:t>communications: satellite Internet, 5G satellite </a:t>
            </a:r>
            <a:r>
              <a:rPr lang="en-GB" dirty="0" smtClean="0"/>
              <a:t>communications .</a:t>
            </a:r>
            <a:endParaRPr lang="en-GB" dirty="0" smtClean="0"/>
          </a:p>
          <a:p>
            <a:pPr>
              <a:buFont typeface="Wingdings" panose="05000000000000000000" pitchFamily="2" charset="2"/>
              <a:buChar char="Ø"/>
            </a:pPr>
            <a:r>
              <a:rPr lang="en-GB" dirty="0" smtClean="0"/>
              <a:t>Adaptive </a:t>
            </a:r>
            <a:r>
              <a:rPr lang="en-GB" dirty="0"/>
              <a:t>Modulation: Change the modulation scheme depending on channel </a:t>
            </a:r>
            <a:r>
              <a:rPr lang="en-GB" dirty="0" smtClean="0"/>
              <a:t>conditions.</a:t>
            </a:r>
            <a:endParaRPr lang="en-GB" dirty="0"/>
          </a:p>
        </p:txBody>
      </p:sp>
      <p:sp>
        <p:nvSpPr>
          <p:cNvPr id="5" name="Text Placeholder 4"/>
          <p:cNvSpPr>
            <a:spLocks noGrp="1"/>
          </p:cNvSpPr>
          <p:nvPr>
            <p:ph type="body" idx="2"/>
          </p:nvPr>
        </p:nvSpPr>
        <p:spPr>
          <a:xfrm>
            <a:off x="6095999" y="1736428"/>
            <a:ext cx="5795818" cy="4525963"/>
          </a:xfrm>
        </p:spPr>
        <p:txBody>
          <a:bodyPr/>
          <a:lstStyle/>
          <a:p>
            <a:pPr>
              <a:buFont typeface="Wingdings" panose="05000000000000000000" pitchFamily="2" charset="2"/>
              <a:buChar char="Ø"/>
            </a:pPr>
            <a:r>
              <a:rPr lang="en-GB" dirty="0"/>
              <a:t>Intelligent on-board signal processing of the satellite</a:t>
            </a:r>
            <a:r>
              <a:rPr lang="en-GB" dirty="0" smtClean="0"/>
              <a:t>.</a:t>
            </a:r>
            <a:endParaRPr lang="en-GB" dirty="0" smtClean="0"/>
          </a:p>
          <a:p>
            <a:pPr>
              <a:buFont typeface="Wingdings" panose="05000000000000000000" pitchFamily="2" charset="2"/>
              <a:buChar char="Ø"/>
            </a:pPr>
            <a:r>
              <a:rPr lang="en-GB" dirty="0" smtClean="0"/>
              <a:t>Advanced </a:t>
            </a:r>
            <a:r>
              <a:rPr lang="en-GB" dirty="0"/>
              <a:t>error correction (FEC</a:t>
            </a:r>
            <a:r>
              <a:rPr lang="en-GB" dirty="0" smtClean="0"/>
              <a:t>).</a:t>
            </a:r>
            <a:endParaRPr lang="en-GB" dirty="0" smtClean="0"/>
          </a:p>
          <a:p>
            <a:pPr>
              <a:buFont typeface="Wingdings" panose="05000000000000000000" pitchFamily="2" charset="2"/>
              <a:buChar char="Ø"/>
            </a:pPr>
            <a:r>
              <a:rPr lang="en-GB" dirty="0" smtClean="0"/>
              <a:t>Dynamic </a:t>
            </a:r>
            <a:r>
              <a:rPr lang="en-GB" dirty="0"/>
              <a:t>switching between uplink and downlink</a:t>
            </a:r>
            <a:r>
              <a:rPr lang="en-GB" dirty="0" smtClean="0"/>
              <a:t>.</a:t>
            </a:r>
            <a:endParaRPr lang="en-GB" dirty="0" smtClean="0"/>
          </a:p>
          <a:p>
            <a:pPr>
              <a:buFont typeface="Wingdings" panose="05000000000000000000" pitchFamily="2" charset="2"/>
              <a:buChar char="Ø"/>
            </a:pPr>
            <a:r>
              <a:rPr lang="en-GB" dirty="0" smtClean="0"/>
              <a:t>Improving </a:t>
            </a:r>
            <a:r>
              <a:rPr lang="en-GB" dirty="0"/>
              <a:t>the spectral and energy efficiency of the system.</a:t>
            </a:r>
            <a:endParaRPr lang="en-GB" dirty="0"/>
          </a:p>
        </p:txBody>
      </p:sp>
      <p:sp>
        <p:nvSpPr>
          <p:cNvPr id="6" name="TextBox 5"/>
          <p:cNvSpPr txBox="1"/>
          <p:nvPr/>
        </p:nvSpPr>
        <p:spPr>
          <a:xfrm>
            <a:off x="5800436" y="360234"/>
            <a:ext cx="5781964" cy="1015663"/>
          </a:xfrm>
          <a:prstGeom prst="rect">
            <a:avLst/>
          </a:prstGeom>
          <a:noFill/>
        </p:spPr>
        <p:txBody>
          <a:bodyPr wrap="square" rtlCol="0">
            <a:spAutoFit/>
          </a:bodyPr>
          <a:lstStyle/>
          <a:p>
            <a:r>
              <a:rPr lang="en-US" sz="3000" b="1" dirty="0" smtClean="0">
                <a:solidFill>
                  <a:srgbClr val="0A3B66"/>
                </a:solidFill>
                <a:latin typeface="Merriweather" charset="0"/>
                <a:ea typeface="Merriweather" charset="0"/>
                <a:cs typeface="Merriweather" charset="0"/>
              </a:rPr>
              <a:t>8.3_</a:t>
            </a:r>
            <a:r>
              <a:rPr lang="en-GB" sz="3000" b="1" dirty="0">
                <a:solidFill>
                  <a:srgbClr val="0A3B66"/>
                </a:solidFill>
                <a:latin typeface="Merriweather" charset="0"/>
                <a:ea typeface="Merriweather" charset="0"/>
                <a:cs typeface="Merriweather" charset="0"/>
              </a:rPr>
              <a:t>Importance in the smart rebroadcast device </a:t>
            </a:r>
            <a:r>
              <a:rPr lang="en-GB" sz="3000" b="1" dirty="0" smtClean="0">
                <a:solidFill>
                  <a:srgbClr val="0A3B66"/>
                </a:solidFill>
                <a:latin typeface="Merriweather" charset="0"/>
                <a:ea typeface="Merriweather" charset="0"/>
                <a:cs typeface="Merriweather" charset="0"/>
              </a:rPr>
              <a:t>project:</a:t>
            </a:r>
            <a:endParaRPr lang="en-GB" sz="3000" b="1" dirty="0">
              <a:solidFill>
                <a:srgbClr val="0A3B66"/>
              </a:solidFill>
              <a:latin typeface="Merriweather" charset="0"/>
              <a:ea typeface="Merriweather" charset="0"/>
              <a:cs typeface="Merriweather"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 calcmode="lin" valueType="num">
                                      <p:cBhvr additive="base">
                                        <p:cTn id="37"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5">
                                            <p:txEl>
                                              <p:pRg st="0" end="0"/>
                                            </p:txEl>
                                          </p:spTgt>
                                        </p:tgtEl>
                                        <p:attrNameLst>
                                          <p:attrName>style.visibility</p:attrName>
                                        </p:attrNameLst>
                                      </p:cBhvr>
                                      <p:to>
                                        <p:strVal val="visible"/>
                                      </p:to>
                                    </p:set>
                                    <p:anim calcmode="lin" valueType="num">
                                      <p:cBhvr additive="base">
                                        <p:cTn id="43" dur="5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5">
                                            <p:txEl>
                                              <p:pRg st="1" end="1"/>
                                            </p:txEl>
                                          </p:spTgt>
                                        </p:tgtEl>
                                        <p:attrNameLst>
                                          <p:attrName>style.visibility</p:attrName>
                                        </p:attrNameLst>
                                      </p:cBhvr>
                                      <p:to>
                                        <p:strVal val="visible"/>
                                      </p:to>
                                    </p:set>
                                    <p:anim calcmode="lin" valueType="num">
                                      <p:cBhvr additive="base">
                                        <p:cTn id="49" dur="500" fill="hold"/>
                                        <p:tgtEl>
                                          <p:spTgt spid="5">
                                            <p:txEl>
                                              <p:pRg st="1" end="1"/>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5">
                                            <p:txEl>
                                              <p:pRg st="2" end="2"/>
                                            </p:txEl>
                                          </p:spTgt>
                                        </p:tgtEl>
                                        <p:attrNameLst>
                                          <p:attrName>style.visibility</p:attrName>
                                        </p:attrNameLst>
                                      </p:cBhvr>
                                      <p:to>
                                        <p:strVal val="visible"/>
                                      </p:to>
                                    </p:set>
                                    <p:anim calcmode="lin" valueType="num">
                                      <p:cBhvr additive="base">
                                        <p:cTn id="55" dur="500" fill="hold"/>
                                        <p:tgtEl>
                                          <p:spTgt spid="5">
                                            <p:txEl>
                                              <p:pRg st="2" end="2"/>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5">
                                            <p:txEl>
                                              <p:pRg st="3" end="3"/>
                                            </p:txEl>
                                          </p:spTgt>
                                        </p:tgtEl>
                                        <p:attrNameLst>
                                          <p:attrName>style.visibility</p:attrName>
                                        </p:attrNameLst>
                                      </p:cBhvr>
                                      <p:to>
                                        <p:strVal val="visible"/>
                                      </p:to>
                                    </p:set>
                                    <p:anim calcmode="lin" valueType="num">
                                      <p:cBhvr additive="base">
                                        <p:cTn id="61" dur="500" fill="hold"/>
                                        <p:tgtEl>
                                          <p:spTgt spid="5">
                                            <p:txEl>
                                              <p:pRg st="3" end="3"/>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build="p"/>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529" y="-297"/>
            <a:ext cx="12193057" cy="6858594"/>
          </a:xfrm>
          <a:prstGeom prst="rect">
            <a:avLst/>
          </a:prstGeom>
        </p:spPr>
      </p:pic>
      <p:pic>
        <p:nvPicPr>
          <p:cNvPr id="2" name="Picture 1"/>
          <p:cNvPicPr>
            <a:picLocks noChangeAspect="1"/>
          </p:cNvPicPr>
          <p:nvPr/>
        </p:nvPicPr>
        <p:blipFill>
          <a:blip r:embed="rId2"/>
          <a:stretch>
            <a:fillRect/>
          </a:stretch>
        </p:blipFill>
        <p:spPr>
          <a:xfrm>
            <a:off x="612140" y="658495"/>
            <a:ext cx="11198225" cy="565658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529" y="-297"/>
            <a:ext cx="12193057" cy="6858594"/>
          </a:xfrm>
          <a:prstGeom prst="rect">
            <a:avLst/>
          </a:prstGeom>
        </p:spPr>
      </p:pic>
      <p:pic>
        <p:nvPicPr>
          <p:cNvPr id="2" name="Picture 1"/>
          <p:cNvPicPr>
            <a:picLocks noChangeAspect="1"/>
          </p:cNvPicPr>
          <p:nvPr/>
        </p:nvPicPr>
        <p:blipFill>
          <a:blip r:embed="rId2"/>
          <a:stretch>
            <a:fillRect/>
          </a:stretch>
        </p:blipFill>
        <p:spPr>
          <a:xfrm>
            <a:off x="-46355" y="0"/>
            <a:ext cx="12238355" cy="6858635"/>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24"/>
        <p:cNvGrpSpPr/>
        <p:nvPr/>
      </p:nvGrpSpPr>
      <p:grpSpPr>
        <a:xfrm>
          <a:off x="0" y="0"/>
          <a:ext cx="0" cy="0"/>
          <a:chOff x="0" y="0"/>
          <a:chExt cx="0" cy="0"/>
        </a:xfrm>
      </p:grpSpPr>
      <p:pic>
        <p:nvPicPr>
          <p:cNvPr id="325" name="Google Shape;325;p2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326" name="Google Shape;326;p28"/>
          <p:cNvSpPr txBox="1"/>
          <p:nvPr/>
        </p:nvSpPr>
        <p:spPr>
          <a:xfrm>
            <a:off x="2190750" y="2101453"/>
            <a:ext cx="81915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333333"/>
                </a:solidFill>
                <a:latin typeface="DM Sans"/>
                <a:ea typeface="DM Sans"/>
                <a:cs typeface="DM Sans"/>
                <a:sym typeface="DM Sans"/>
              </a:rPr>
              <a:t>1-Satellite Communications Systems Engineering Louis J. </a:t>
            </a:r>
            <a:r>
              <a:rPr lang="en-US" sz="1800" b="0" i="0" u="none" strike="noStrike" cap="none" dirty="0" err="1">
                <a:solidFill>
                  <a:srgbClr val="333333"/>
                </a:solidFill>
                <a:latin typeface="DM Sans"/>
                <a:ea typeface="DM Sans"/>
                <a:cs typeface="DM Sans"/>
                <a:sym typeface="DM Sans"/>
              </a:rPr>
              <a:t>Ippolito</a:t>
            </a:r>
            <a:r>
              <a:rPr lang="en-US" sz="1800" b="0" i="0" u="none" strike="noStrike" cap="none" dirty="0">
                <a:solidFill>
                  <a:srgbClr val="333333"/>
                </a:solidFill>
                <a:latin typeface="DM Sans"/>
                <a:ea typeface="DM Sans"/>
                <a:cs typeface="DM Sans"/>
                <a:sym typeface="DM Sans"/>
              </a:rPr>
              <a:t>, Jr.</a:t>
            </a:r>
            <a:endParaRPr dirty="0"/>
          </a:p>
        </p:txBody>
      </p:sp>
      <p:sp>
        <p:nvSpPr>
          <p:cNvPr id="327" name="Google Shape;327;p28"/>
          <p:cNvSpPr txBox="1"/>
          <p:nvPr/>
        </p:nvSpPr>
        <p:spPr>
          <a:xfrm>
            <a:off x="2190750" y="2583815"/>
            <a:ext cx="8191500" cy="1085215"/>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None/>
            </a:pPr>
            <a:r>
              <a:rPr lang="en-US" sz="1800" b="0" i="0" u="none" strike="noStrike" cap="none">
                <a:solidFill>
                  <a:srgbClr val="333333"/>
                </a:solidFill>
                <a:latin typeface="DM Sans"/>
                <a:ea typeface="DM Sans"/>
                <a:cs typeface="DM Sans"/>
                <a:sym typeface="DM Sans"/>
              </a:rPr>
              <a:t>2-E.Imboldi</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and</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D.Hershberg,‘Courier</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Satellite</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Communications</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System ,’Advances</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in</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the</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Astronautical</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Sciences, Vol. 8, 1961.</a:t>
            </a:r>
            <a:endParaRPr lang="en-US" sz="1800" b="0" i="0" u="none" strike="noStrike" cap="none">
              <a:solidFill>
                <a:srgbClr val="333333"/>
              </a:solidFill>
              <a:latin typeface="DM Sans"/>
              <a:ea typeface="DM Sans"/>
              <a:cs typeface="DM Sans"/>
              <a:sym typeface="DM Sans"/>
            </a:endParaRPr>
          </a:p>
        </p:txBody>
      </p:sp>
      <p:sp>
        <p:nvSpPr>
          <p:cNvPr id="328" name="Google Shape;328;p28"/>
          <p:cNvSpPr txBox="1"/>
          <p:nvPr/>
        </p:nvSpPr>
        <p:spPr>
          <a:xfrm>
            <a:off x="2190750" y="3579465"/>
            <a:ext cx="8191500" cy="4425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333333"/>
                </a:solidFill>
                <a:latin typeface="DM Sans"/>
                <a:ea typeface="DM Sans"/>
                <a:cs typeface="DM Sans"/>
                <a:sym typeface="DM Sans"/>
              </a:rPr>
              <a:t>3-IEEE</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Transactions</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on</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Aerospace</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and</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Electronics</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Systems.</a:t>
            </a:r>
            <a:endParaRPr lang="en-US" sz="1800" b="0" i="0" u="none" strike="noStrike" cap="none">
              <a:solidFill>
                <a:srgbClr val="333333"/>
              </a:solidFill>
              <a:latin typeface="DM Sans"/>
              <a:ea typeface="DM Sans"/>
              <a:cs typeface="DM Sans"/>
              <a:sym typeface="DM Sans"/>
            </a:endParaRPr>
          </a:p>
        </p:txBody>
      </p:sp>
      <p:sp>
        <p:nvSpPr>
          <p:cNvPr id="329" name="Google Shape;329;p28"/>
          <p:cNvSpPr txBox="1"/>
          <p:nvPr/>
        </p:nvSpPr>
        <p:spPr>
          <a:xfrm>
            <a:off x="2190750" y="4135635"/>
            <a:ext cx="8191500" cy="88582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333333"/>
                </a:solidFill>
                <a:latin typeface="DM Sans"/>
                <a:ea typeface="DM Sans"/>
                <a:cs typeface="DM Sans"/>
                <a:sym typeface="DM Sans"/>
              </a:rPr>
              <a:t>4-D.Roddy,Satellite</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Communications,Third</a:t>
            </a:r>
            <a:r>
              <a:rPr lang="ar-SA" altLang="en-US" sz="1800" b="0" i="0" u="none" strike="noStrike" cap="none">
                <a:solidFill>
                  <a:srgbClr val="333333"/>
                </a:solidFill>
                <a:latin typeface="DM Sans"/>
                <a:ea typeface="DM Sans"/>
                <a:cs typeface="DM Sans"/>
                <a:sym typeface="DM Sans"/>
              </a:rPr>
              <a:t> </a:t>
            </a:r>
            <a:r>
              <a:rPr lang="en-US" sz="1800" b="0" i="0" u="none" strike="noStrike" cap="none">
                <a:solidFill>
                  <a:srgbClr val="333333"/>
                </a:solidFill>
                <a:latin typeface="DM Sans"/>
                <a:ea typeface="DM Sans"/>
                <a:cs typeface="DM Sans"/>
                <a:sym typeface="DM Sans"/>
              </a:rPr>
              <a:t>Edition,McGraw-Hill,NewYork,2001.</a:t>
            </a:r>
            <a:endParaRPr lang="en-US" sz="1800" b="0" i="0" u="none" strike="noStrike" cap="none">
              <a:solidFill>
                <a:srgbClr val="333333"/>
              </a:solidFill>
              <a:latin typeface="DM Sans"/>
              <a:ea typeface="DM Sans"/>
              <a:cs typeface="DM Sans"/>
              <a:sym typeface="DM Sans"/>
            </a:endParaRPr>
          </a:p>
        </p:txBody>
      </p:sp>
      <p:sp>
        <p:nvSpPr>
          <p:cNvPr id="330" name="Google Shape;330;p28"/>
          <p:cNvSpPr txBox="1"/>
          <p:nvPr/>
        </p:nvSpPr>
        <p:spPr>
          <a:xfrm>
            <a:off x="2190750" y="4968031"/>
            <a:ext cx="8191500"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dirty="0">
                <a:solidFill>
                  <a:srgbClr val="333333"/>
                </a:solidFill>
                <a:latin typeface="DM Sans"/>
                <a:ea typeface="DM Sans"/>
                <a:cs typeface="DM Sans"/>
                <a:sym typeface="DM Sans"/>
              </a:rPr>
              <a:t>5-T. Pratt, C.W. </a:t>
            </a:r>
            <a:r>
              <a:rPr lang="en-US" sz="1800" b="0" i="0" u="none" strike="noStrike" cap="none" dirty="0" err="1">
                <a:solidFill>
                  <a:srgbClr val="333333"/>
                </a:solidFill>
                <a:latin typeface="DM Sans"/>
                <a:ea typeface="DM Sans"/>
                <a:cs typeface="DM Sans"/>
                <a:sym typeface="DM Sans"/>
              </a:rPr>
              <a:t>Bostian</a:t>
            </a:r>
            <a:r>
              <a:rPr lang="en-US" sz="1800" b="0" i="0" u="none" strike="noStrike" cap="none" dirty="0">
                <a:solidFill>
                  <a:srgbClr val="333333"/>
                </a:solidFill>
                <a:latin typeface="DM Sans"/>
                <a:ea typeface="DM Sans"/>
                <a:cs typeface="DM Sans"/>
                <a:sym typeface="DM Sans"/>
              </a:rPr>
              <a:t> and J.E. </a:t>
            </a:r>
            <a:r>
              <a:rPr lang="en-US" sz="1800" b="0" i="0" u="none" strike="noStrike" cap="none" dirty="0" err="1">
                <a:solidFill>
                  <a:srgbClr val="333333"/>
                </a:solidFill>
                <a:latin typeface="DM Sans"/>
                <a:ea typeface="DM Sans"/>
                <a:cs typeface="DM Sans"/>
                <a:sym typeface="DM Sans"/>
              </a:rPr>
              <a:t>Allnutt</a:t>
            </a:r>
            <a:r>
              <a:rPr lang="en-US" sz="1800" b="0" i="0" u="none" strike="noStrike" cap="none" dirty="0">
                <a:solidFill>
                  <a:srgbClr val="333333"/>
                </a:solidFill>
                <a:latin typeface="DM Sans"/>
                <a:ea typeface="DM Sans"/>
                <a:cs typeface="DM Sans"/>
                <a:sym typeface="DM Sans"/>
              </a:rPr>
              <a:t>, Satellite Communications, Second Edition, John Wiley &amp; Son, Inc., </a:t>
            </a:r>
            <a:r>
              <a:rPr lang="en-US" sz="1800" b="0" i="0" u="none" strike="noStrike" cap="none" dirty="0" err="1">
                <a:solidFill>
                  <a:srgbClr val="333333"/>
                </a:solidFill>
                <a:latin typeface="DM Sans"/>
                <a:ea typeface="DM Sans"/>
                <a:cs typeface="DM Sans"/>
                <a:sym typeface="DM Sans"/>
              </a:rPr>
              <a:t>NewYork</a:t>
            </a:r>
            <a:r>
              <a:rPr lang="en-US" sz="1800" b="0" i="0" u="none" strike="noStrike" cap="none" dirty="0">
                <a:solidFill>
                  <a:srgbClr val="333333"/>
                </a:solidFill>
                <a:latin typeface="DM Sans"/>
                <a:ea typeface="DM Sans"/>
                <a:cs typeface="DM Sans"/>
                <a:sym typeface="DM Sans"/>
              </a:rPr>
              <a:t>, 2003.</a:t>
            </a:r>
            <a:endParaRPr dirty="0"/>
          </a:p>
        </p:txBody>
      </p:sp>
      <p:pic>
        <p:nvPicPr>
          <p:cNvPr id="331" name="Google Shape;331;p28" descr="image.png"/>
          <p:cNvPicPr preferRelativeResize="0"/>
          <p:nvPr/>
        </p:nvPicPr>
        <p:blipFill rotWithShape="1">
          <a:blip r:embed="rId2"/>
          <a:srcRect/>
          <a:stretch>
            <a:fillRect/>
          </a:stretch>
        </p:blipFill>
        <p:spPr>
          <a:xfrm>
            <a:off x="1809750" y="2149078"/>
            <a:ext cx="200025" cy="228600"/>
          </a:xfrm>
          <a:prstGeom prst="rect">
            <a:avLst/>
          </a:prstGeom>
          <a:noFill/>
          <a:ln>
            <a:noFill/>
          </a:ln>
        </p:spPr>
      </p:pic>
      <p:pic>
        <p:nvPicPr>
          <p:cNvPr id="332" name="Google Shape;332;p28" descr="image.png"/>
          <p:cNvPicPr preferRelativeResize="0"/>
          <p:nvPr/>
        </p:nvPicPr>
        <p:blipFill rotWithShape="1">
          <a:blip r:embed="rId3"/>
          <a:srcRect/>
          <a:stretch>
            <a:fillRect/>
          </a:stretch>
        </p:blipFill>
        <p:spPr>
          <a:xfrm>
            <a:off x="1809750" y="2705248"/>
            <a:ext cx="200025" cy="228600"/>
          </a:xfrm>
          <a:prstGeom prst="rect">
            <a:avLst/>
          </a:prstGeom>
          <a:noFill/>
          <a:ln>
            <a:noFill/>
          </a:ln>
        </p:spPr>
      </p:pic>
      <p:pic>
        <p:nvPicPr>
          <p:cNvPr id="333" name="Google Shape;333;p28" descr="image.png"/>
          <p:cNvPicPr preferRelativeResize="0"/>
          <p:nvPr/>
        </p:nvPicPr>
        <p:blipFill rotWithShape="1">
          <a:blip r:embed="rId2"/>
          <a:srcRect/>
          <a:stretch>
            <a:fillRect/>
          </a:stretch>
        </p:blipFill>
        <p:spPr>
          <a:xfrm>
            <a:off x="1809750" y="3627090"/>
            <a:ext cx="200025" cy="228600"/>
          </a:xfrm>
          <a:prstGeom prst="rect">
            <a:avLst/>
          </a:prstGeom>
          <a:noFill/>
          <a:ln>
            <a:noFill/>
          </a:ln>
        </p:spPr>
      </p:pic>
      <p:pic>
        <p:nvPicPr>
          <p:cNvPr id="334" name="Google Shape;334;p28" descr="image.png"/>
          <p:cNvPicPr preferRelativeResize="0"/>
          <p:nvPr/>
        </p:nvPicPr>
        <p:blipFill rotWithShape="1">
          <a:blip r:embed="rId3"/>
          <a:srcRect/>
          <a:stretch>
            <a:fillRect/>
          </a:stretch>
        </p:blipFill>
        <p:spPr>
          <a:xfrm>
            <a:off x="1809750" y="4183260"/>
            <a:ext cx="200025" cy="228600"/>
          </a:xfrm>
          <a:prstGeom prst="rect">
            <a:avLst/>
          </a:prstGeom>
          <a:noFill/>
          <a:ln>
            <a:noFill/>
          </a:ln>
        </p:spPr>
      </p:pic>
      <p:pic>
        <p:nvPicPr>
          <p:cNvPr id="335" name="Google Shape;335;p28" descr="image.png"/>
          <p:cNvPicPr preferRelativeResize="0"/>
          <p:nvPr/>
        </p:nvPicPr>
        <p:blipFill rotWithShape="1">
          <a:blip r:embed="rId2"/>
          <a:srcRect/>
          <a:stretch>
            <a:fillRect/>
          </a:stretch>
        </p:blipFill>
        <p:spPr>
          <a:xfrm>
            <a:off x="1809750" y="5105101"/>
            <a:ext cx="200025" cy="228600"/>
          </a:xfrm>
          <a:prstGeom prst="rect">
            <a:avLst/>
          </a:prstGeom>
          <a:noFill/>
          <a:ln>
            <a:noFill/>
          </a:ln>
        </p:spPr>
      </p:pic>
      <p:sp>
        <p:nvSpPr>
          <p:cNvPr id="336" name="Google Shape;336;p28"/>
          <p:cNvSpPr txBox="1"/>
          <p:nvPr/>
        </p:nvSpPr>
        <p:spPr>
          <a:xfrm>
            <a:off x="571500" y="571500"/>
            <a:ext cx="116014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dirty="0" smtClean="0">
                <a:solidFill>
                  <a:srgbClr val="0D3B66"/>
                </a:solidFill>
                <a:latin typeface="Merriweather"/>
                <a:ea typeface="Merriweather"/>
                <a:cs typeface="Merriweather"/>
                <a:sym typeface="Merriweather"/>
              </a:rPr>
              <a:t>9- </a:t>
            </a:r>
            <a:r>
              <a:rPr lang="en-US" sz="3000" b="1" i="0" u="none" strike="noStrike" cap="none" dirty="0">
                <a:solidFill>
                  <a:srgbClr val="0D3B66"/>
                </a:solidFill>
                <a:latin typeface="Merriweather"/>
                <a:ea typeface="Merriweather"/>
                <a:cs typeface="Merriweather"/>
                <a:sym typeface="Merriweather"/>
              </a:rPr>
              <a:t>References:</a:t>
            </a:r>
            <a:endParaRPr dirty="0"/>
          </a:p>
        </p:txBody>
      </p:sp>
    </p:spTree>
  </p:cSld>
  <p:clrMapOvr>
    <a:masterClrMapping/>
  </p:clrMapOvr>
  <mc:AlternateContent xmlns:mc="http://schemas.openxmlformats.org/markup-compatibility/2006">
    <mc:Choice xmlns:p14="http://schemas.microsoft.com/office/powerpoint/2010/main" Requires="p14">
      <p:transition spd="slow" p14:dur="1250" advTm="368">
        <p14:switch dir="r"/>
      </p:transition>
    </mc:Choice>
    <mc:Fallback>
      <p:transition spd="slow" advTm="368">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40"/>
        <p:cNvGrpSpPr/>
        <p:nvPr/>
      </p:nvGrpSpPr>
      <p:grpSpPr>
        <a:xfrm>
          <a:off x="0" y="0"/>
          <a:ext cx="0" cy="0"/>
          <a:chOff x="0" y="0"/>
          <a:chExt cx="0" cy="0"/>
        </a:xfrm>
      </p:grpSpPr>
      <p:pic>
        <p:nvPicPr>
          <p:cNvPr id="341" name="Google Shape;341;p29"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342" name="Google Shape;342;p29"/>
          <p:cNvSpPr txBox="1"/>
          <p:nvPr/>
        </p:nvSpPr>
        <p:spPr>
          <a:xfrm>
            <a:off x="295275" y="2467867"/>
            <a:ext cx="11601450" cy="962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0D3B66"/>
                </a:solidFill>
                <a:latin typeface="Merriweather"/>
                <a:ea typeface="Merriweather"/>
                <a:cs typeface="Merriweather"/>
                <a:sym typeface="Merriweather"/>
              </a:rPr>
              <a:t>Thank You</a:t>
            </a:r>
            <a:endParaRPr lang="en-US" sz="6000" b="1" i="0" u="none" strike="noStrike" cap="none">
              <a:solidFill>
                <a:srgbClr val="0D3B66"/>
              </a:solidFill>
              <a:latin typeface="Merriweather"/>
              <a:ea typeface="Merriweather"/>
              <a:cs typeface="Merriweather"/>
              <a:sym typeface="Merriweather"/>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50" advTm="6317">
        <p14:switch dir="r"/>
      </p:transition>
    </mc:Choice>
    <mc:Fallback>
      <p:transition spd="slow" advTm="631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42"/>
                                        </p:tgtEl>
                                        <p:attrNameLst>
                                          <p:attrName>style.visibility</p:attrName>
                                        </p:attrNameLst>
                                      </p:cBhvr>
                                      <p:to>
                                        <p:strVal val="visible"/>
                                      </p:to>
                                    </p:set>
                                    <p:anim calcmode="lin" valueType="num">
                                      <p:cBhvr>
                                        <p:cTn id="7" dur="1000" fill="hold"/>
                                        <p:tgtEl>
                                          <p:spTgt spid="342"/>
                                        </p:tgtEl>
                                        <p:attrNameLst>
                                          <p:attrName>ppt_w</p:attrName>
                                        </p:attrNameLst>
                                      </p:cBhvr>
                                      <p:tavLst>
                                        <p:tav tm="0">
                                          <p:val>
                                            <p:fltVal val="0"/>
                                          </p:val>
                                        </p:tav>
                                        <p:tav tm="100000">
                                          <p:val>
                                            <p:strVal val="#ppt_w"/>
                                          </p:val>
                                        </p:tav>
                                      </p:tavLst>
                                    </p:anim>
                                    <p:anim calcmode="lin" valueType="num">
                                      <p:cBhvr>
                                        <p:cTn id="8" dur="1000" fill="hold"/>
                                        <p:tgtEl>
                                          <p:spTgt spid="342"/>
                                        </p:tgtEl>
                                        <p:attrNameLst>
                                          <p:attrName>ppt_h</p:attrName>
                                        </p:attrNameLst>
                                      </p:cBhvr>
                                      <p:tavLst>
                                        <p:tav tm="0">
                                          <p:val>
                                            <p:fltVal val="0"/>
                                          </p:val>
                                        </p:tav>
                                        <p:tav tm="100000">
                                          <p:val>
                                            <p:strVal val="#ppt_h"/>
                                          </p:val>
                                        </p:tav>
                                      </p:tavLst>
                                    </p:anim>
                                    <p:anim calcmode="lin" valueType="num">
                                      <p:cBhvr>
                                        <p:cTn id="9" dur="1000" fill="hold"/>
                                        <p:tgtEl>
                                          <p:spTgt spid="342"/>
                                        </p:tgtEl>
                                        <p:attrNameLst>
                                          <p:attrName>style.rotation</p:attrName>
                                        </p:attrNameLst>
                                      </p:cBhvr>
                                      <p:tavLst>
                                        <p:tav tm="0">
                                          <p:val>
                                            <p:fltVal val="90"/>
                                          </p:val>
                                        </p:tav>
                                        <p:tav tm="100000">
                                          <p:val>
                                            <p:fltVal val="0"/>
                                          </p:val>
                                        </p:tav>
                                      </p:tavLst>
                                    </p:anim>
                                    <p:animEffect transition="in" filter="fade">
                                      <p:cBhvr>
                                        <p:cTn id="10" dur="1000"/>
                                        <p:tgtEl>
                                          <p:spTgt spid="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2" grpId="0"/>
    </p:bldLst>
  </p:timing>
</p:sld>
</file>

<file path=ppt/tags/tag1.xml><?xml version="1.0" encoding="utf-8"?>
<p:tagLst xmlns:p="http://schemas.openxmlformats.org/presentationml/2006/main">
  <p:tag name="TIMING" val="|0.2"/>
</p:tagLst>
</file>

<file path=ppt/tags/tag2.xml><?xml version="1.0" encoding="utf-8"?>
<p:tagLst xmlns:p="http://schemas.openxmlformats.org/presentationml/2006/main">
  <p:tag name="TIMING" val="|0.6|0.7"/>
</p:tagLst>
</file>

<file path=ppt/tags/tag3.xml><?xml version="1.0" encoding="utf-8"?>
<p:tagLst xmlns:p="http://schemas.openxmlformats.org/presentationml/2006/main">
  <p:tag name="TIMING" val="|0.8|0.6|0.8|0.9|0.6"/>
</p:tagLst>
</file>

<file path=ppt/tags/tag4.xml><?xml version="1.0" encoding="utf-8"?>
<p:tagLst xmlns:p="http://schemas.openxmlformats.org/presentationml/2006/main">
  <p:tag name="TIMING" val="|0.6|0.5|0.9|0.8|0.7|0.5|0.6"/>
</p:tagLst>
</file>

<file path=ppt/tags/tag5.xml><?xml version="1.0" encoding="utf-8"?>
<p:tagLst xmlns:p="http://schemas.openxmlformats.org/presentationml/2006/main">
  <p:tag name="TIMING" val="|0.8"/>
</p:tagLst>
</file>

<file path=ppt/tags/tag6.xml><?xml version="1.0" encoding="utf-8"?>
<p:tagLst xmlns:p="http://schemas.openxmlformats.org/presentationml/2006/main">
  <p:tag name="TIMING" val="|0.7|0.8|0.9"/>
</p:tagLst>
</file>

<file path=ppt/tags/tag7.xml><?xml version="1.0" encoding="utf-8"?>
<p:tagLst xmlns:p="http://schemas.openxmlformats.org/presentationml/2006/main">
  <p:tag name="TIMING" val="|0.2"/>
</p:tagLst>
</file>

<file path=ppt/tags/tag8.xml><?xml version="1.0" encoding="utf-8"?>
<p:tagLst xmlns:p="http://schemas.openxmlformats.org/presentationml/2006/main">
  <p:tag name="TIMING" val="|0.1"/>
</p:tagLst>
</file>

<file path=ppt/tags/tag9.xml><?xml version="1.0" encoding="utf-8"?>
<p:tagLst xmlns:p="http://schemas.openxmlformats.org/presentationml/2006/main">
  <p:tag name="TIMING" val="|0.5|0.5"/>
</p:tagLst>
</file>

<file path=ppt/tags/tag10.xml><?xml version="1.0" encoding="utf-8"?>
<p:tagLst xmlns:p="http://schemas.openxmlformats.org/presentationml/2006/main">
  <p:tag name="TIMING" val="|0"/>
</p:tagLst>
</file>

<file path=ppt/tags/tag11.xml><?xml version="1.0" encoding="utf-8"?>
<p:tagLst xmlns:p="http://schemas.openxmlformats.org/presentationml/2006/main">
  <p:tag name="TIMING" val="|0.6"/>
</p:tagLst>
</file>

<file path=ppt/tags/tag12.xml><?xml version="1.0" encoding="utf-8"?>
<p:tagLst xmlns:p="http://schemas.openxmlformats.org/presentationml/2006/main">
  <p:tag name="TIMING" val="|1.2"/>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5070</Words>
  <Application>WPS Presentation</Application>
  <PresentationFormat>Widescreen</PresentationFormat>
  <Paragraphs>230</Paragraphs>
  <Slides>23</Slides>
  <Notes>16</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23</vt:i4>
      </vt:variant>
    </vt:vector>
  </HeadingPairs>
  <TitlesOfParts>
    <vt:vector size="40" baseType="lpstr">
      <vt:lpstr>Arial</vt:lpstr>
      <vt:lpstr>SimSun</vt:lpstr>
      <vt:lpstr>Wingdings</vt:lpstr>
      <vt:lpstr>Arial</vt:lpstr>
      <vt:lpstr>Calibri</vt:lpstr>
      <vt:lpstr>Merriweather</vt:lpstr>
      <vt:lpstr>Cairo</vt:lpstr>
      <vt:lpstr>DM Sans</vt:lpstr>
      <vt:lpstr>Arabic Typesetting</vt:lpstr>
      <vt:lpstr>DM Sans</vt:lpstr>
      <vt:lpstr>Merriweather</vt:lpstr>
      <vt:lpstr>Arial Unicode MS</vt:lpstr>
      <vt:lpstr>Microsoft YaHei</vt:lpstr>
      <vt:lpstr>Calibri</vt:lpstr>
      <vt:lpstr>Segoe UI Emoji</vt:lpstr>
      <vt:lpstr>DecoType Thuluth</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8.2_Applications in satellite systems:</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ليث الدين</cp:lastModifiedBy>
  <cp:revision>31</cp:revision>
  <dcterms:created xsi:type="dcterms:W3CDTF">2025-12-19T21:48:00Z</dcterms:created>
  <dcterms:modified xsi:type="dcterms:W3CDTF">2025-12-20T20:56:33Z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585E3AF2F3F14128A61C9464E6BF738F_13</vt:lpwstr>
  </property>
  <property fmtid="{D5CDD505-2E9C-101B-9397-08002B2CF9AE}" pid="3" name="KSOProductBuildVer">
    <vt:lpwstr>1033-12.2.0.23155</vt:lpwstr>
  </property>
</Properties>
</file>